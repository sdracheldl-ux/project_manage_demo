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media/image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7" r:id="rId3"/>
    <p:sldId id="258" r:id="rId4"/>
    <p:sldId id="259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1" initials="a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浅色样式 1 - 强调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commentAuthors" Target="commentAuthors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74.xml"/><Relationship Id="rId8" Type="http://schemas.openxmlformats.org/officeDocument/2006/relationships/tags" Target="../tags/tag73.xml"/><Relationship Id="rId7" Type="http://schemas.openxmlformats.org/officeDocument/2006/relationships/tags" Target="../tags/tag72.xml"/><Relationship Id="rId6" Type="http://schemas.openxmlformats.org/officeDocument/2006/relationships/tags" Target="../tags/tag71.xml"/><Relationship Id="rId5" Type="http://schemas.openxmlformats.org/officeDocument/2006/relationships/tags" Target="../tags/tag70.xml"/><Relationship Id="rId4" Type="http://schemas.openxmlformats.org/officeDocument/2006/relationships/tags" Target="../tags/tag69.xml"/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5" Type="http://schemas.openxmlformats.org/officeDocument/2006/relationships/notesSlide" Target="../notesSlides/notesSlide4.x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78.xml"/><Relationship Id="rId12" Type="http://schemas.openxmlformats.org/officeDocument/2006/relationships/tags" Target="../tags/tag77.xml"/><Relationship Id="rId11" Type="http://schemas.openxmlformats.org/officeDocument/2006/relationships/tags" Target="../tags/tag76.xml"/><Relationship Id="rId10" Type="http://schemas.openxmlformats.org/officeDocument/2006/relationships/tags" Target="../tags/tag75.xml"/><Relationship Id="rId1" Type="http://schemas.openxmlformats.org/officeDocument/2006/relationships/tags" Target="../tags/tag68.xml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tags" Target="../tags/tag84.xml"/><Relationship Id="rId5" Type="http://schemas.openxmlformats.org/officeDocument/2006/relationships/tags" Target="../tags/tag83.xml"/><Relationship Id="rId4" Type="http://schemas.openxmlformats.org/officeDocument/2006/relationships/tags" Target="../tags/tag82.xml"/><Relationship Id="rId3" Type="http://schemas.openxmlformats.org/officeDocument/2006/relationships/tags" Target="../tags/tag81.xml"/><Relationship Id="rId2" Type="http://schemas.openxmlformats.org/officeDocument/2006/relationships/tags" Target="../tags/tag80.xml"/><Relationship Id="rId1" Type="http://schemas.openxmlformats.org/officeDocument/2006/relationships/tags" Target="../tags/tag79.xml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88.xml"/><Relationship Id="rId4" Type="http://schemas.openxmlformats.org/officeDocument/2006/relationships/tags" Target="../tags/tag87.xml"/><Relationship Id="rId3" Type="http://schemas.openxmlformats.org/officeDocument/2006/relationships/tags" Target="../tags/tag86.xml"/><Relationship Id="rId2" Type="http://schemas.openxmlformats.org/officeDocument/2006/relationships/image" Target="../media/image3.png"/><Relationship Id="rId1" Type="http://schemas.openxmlformats.org/officeDocument/2006/relationships/tags" Target="../tags/tag8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2236470"/>
            <a:ext cx="12193905" cy="1638935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8000"/>
                </a:schemeClr>
              </a:gs>
              <a:gs pos="45000">
                <a:schemeClr val="accent1">
                  <a:alpha val="91000"/>
                </a:schemeClr>
              </a:gs>
              <a:gs pos="100000">
                <a:schemeClr val="accent1">
                  <a:lumMod val="100000"/>
                </a:schemeClr>
              </a:gs>
            </a:gsLst>
            <a:lin ang="16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3" name="组合 32"/>
          <p:cNvGrpSpPr/>
          <p:nvPr/>
        </p:nvGrpSpPr>
        <p:grpSpPr>
          <a:xfrm>
            <a:off x="0" y="4002229"/>
            <a:ext cx="12193315" cy="2855771"/>
            <a:chOff x="0" y="3156183"/>
            <a:chExt cx="12193315" cy="3701817"/>
          </a:xfrm>
        </p:grpSpPr>
        <p:sp>
          <p:nvSpPr>
            <p:cNvPr id="34" name="任意多边形: 形状 78"/>
            <p:cNvSpPr/>
            <p:nvPr/>
          </p:nvSpPr>
          <p:spPr>
            <a:xfrm>
              <a:off x="162475" y="6296105"/>
              <a:ext cx="89962" cy="561895"/>
            </a:xfrm>
            <a:custGeom>
              <a:avLst/>
              <a:gdLst>
                <a:gd name="connsiteX0" fmla="*/ 0 w 89962"/>
                <a:gd name="connsiteY0" fmla="*/ 0 h 641473"/>
                <a:gd name="connsiteX1" fmla="*/ 89963 w 89962"/>
                <a:gd name="connsiteY1" fmla="*/ 0 h 641473"/>
                <a:gd name="connsiteX2" fmla="*/ 89963 w 89962"/>
                <a:gd name="connsiteY2" fmla="*/ 641473 h 641473"/>
                <a:gd name="connsiteX3" fmla="*/ 0 w 89962"/>
                <a:gd name="connsiteY3" fmla="*/ 641473 h 6414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962" h="641473">
                  <a:moveTo>
                    <a:pt x="0" y="0"/>
                  </a:moveTo>
                  <a:lnTo>
                    <a:pt x="89963" y="0"/>
                  </a:lnTo>
                  <a:lnTo>
                    <a:pt x="89963" y="641473"/>
                  </a:lnTo>
                  <a:lnTo>
                    <a:pt x="0" y="641473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alpha val="10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  <a:tileRect/>
            </a:gradFill>
            <a:ln w="2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5" name="任意多边形: 形状 79"/>
            <p:cNvSpPr/>
            <p:nvPr/>
          </p:nvSpPr>
          <p:spPr>
            <a:xfrm>
              <a:off x="0" y="6500029"/>
              <a:ext cx="89962" cy="357971"/>
            </a:xfrm>
            <a:custGeom>
              <a:avLst/>
              <a:gdLst>
                <a:gd name="connsiteX0" fmla="*/ 0 w 89962"/>
                <a:gd name="connsiteY0" fmla="*/ 0 h 408668"/>
                <a:gd name="connsiteX1" fmla="*/ 89963 w 89962"/>
                <a:gd name="connsiteY1" fmla="*/ 0 h 408668"/>
                <a:gd name="connsiteX2" fmla="*/ 89963 w 89962"/>
                <a:gd name="connsiteY2" fmla="*/ 408669 h 408668"/>
                <a:gd name="connsiteX3" fmla="*/ 0 w 89962"/>
                <a:gd name="connsiteY3" fmla="*/ 408669 h 408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962" h="408668">
                  <a:moveTo>
                    <a:pt x="0" y="0"/>
                  </a:moveTo>
                  <a:lnTo>
                    <a:pt x="89963" y="0"/>
                  </a:lnTo>
                  <a:lnTo>
                    <a:pt x="89963" y="408669"/>
                  </a:lnTo>
                  <a:lnTo>
                    <a:pt x="0" y="408669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alpha val="10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  <a:tileRect/>
            </a:gradFill>
            <a:ln w="2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6" name="任意多边形: 形状 80"/>
            <p:cNvSpPr/>
            <p:nvPr/>
          </p:nvSpPr>
          <p:spPr>
            <a:xfrm>
              <a:off x="331169" y="5925204"/>
              <a:ext cx="89962" cy="932796"/>
            </a:xfrm>
            <a:custGeom>
              <a:avLst/>
              <a:gdLst>
                <a:gd name="connsiteX0" fmla="*/ 0 w 89962"/>
                <a:gd name="connsiteY0" fmla="*/ 0 h 1064902"/>
                <a:gd name="connsiteX1" fmla="*/ 89963 w 89962"/>
                <a:gd name="connsiteY1" fmla="*/ 0 h 1064902"/>
                <a:gd name="connsiteX2" fmla="*/ 89963 w 89962"/>
                <a:gd name="connsiteY2" fmla="*/ 1064902 h 1064902"/>
                <a:gd name="connsiteX3" fmla="*/ 0 w 89962"/>
                <a:gd name="connsiteY3" fmla="*/ 1064902 h 10649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962" h="1064902">
                  <a:moveTo>
                    <a:pt x="0" y="0"/>
                  </a:moveTo>
                  <a:lnTo>
                    <a:pt x="89963" y="0"/>
                  </a:lnTo>
                  <a:lnTo>
                    <a:pt x="89963" y="1064902"/>
                  </a:lnTo>
                  <a:lnTo>
                    <a:pt x="0" y="1064902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alpha val="10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  <a:tileRect/>
            </a:gradFill>
            <a:ln w="2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7" name="任意多边形: 形状 81"/>
            <p:cNvSpPr/>
            <p:nvPr/>
          </p:nvSpPr>
          <p:spPr>
            <a:xfrm>
              <a:off x="499835" y="6059771"/>
              <a:ext cx="89962" cy="798204"/>
            </a:xfrm>
            <a:custGeom>
              <a:avLst/>
              <a:gdLst>
                <a:gd name="connsiteX0" fmla="*/ 0 w 89962"/>
                <a:gd name="connsiteY0" fmla="*/ 0 h 911249"/>
                <a:gd name="connsiteX1" fmla="*/ 89963 w 89962"/>
                <a:gd name="connsiteY1" fmla="*/ 0 h 911249"/>
                <a:gd name="connsiteX2" fmla="*/ 89963 w 89962"/>
                <a:gd name="connsiteY2" fmla="*/ 911249 h 911249"/>
                <a:gd name="connsiteX3" fmla="*/ 0 w 89962"/>
                <a:gd name="connsiteY3" fmla="*/ 911249 h 911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962" h="911249">
                  <a:moveTo>
                    <a:pt x="0" y="0"/>
                  </a:moveTo>
                  <a:lnTo>
                    <a:pt x="89963" y="0"/>
                  </a:lnTo>
                  <a:lnTo>
                    <a:pt x="89963" y="911249"/>
                  </a:lnTo>
                  <a:lnTo>
                    <a:pt x="0" y="911249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alpha val="10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  <a:tileRect/>
            </a:gradFill>
            <a:ln w="2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8" name="任意多边形: 形状 82"/>
            <p:cNvSpPr/>
            <p:nvPr/>
          </p:nvSpPr>
          <p:spPr>
            <a:xfrm>
              <a:off x="668501" y="6296105"/>
              <a:ext cx="89962" cy="561895"/>
            </a:xfrm>
            <a:custGeom>
              <a:avLst/>
              <a:gdLst>
                <a:gd name="connsiteX0" fmla="*/ 0 w 89962"/>
                <a:gd name="connsiteY0" fmla="*/ 0 h 641473"/>
                <a:gd name="connsiteX1" fmla="*/ 89963 w 89962"/>
                <a:gd name="connsiteY1" fmla="*/ 0 h 641473"/>
                <a:gd name="connsiteX2" fmla="*/ 89963 w 89962"/>
                <a:gd name="connsiteY2" fmla="*/ 641473 h 641473"/>
                <a:gd name="connsiteX3" fmla="*/ 0 w 89962"/>
                <a:gd name="connsiteY3" fmla="*/ 641473 h 6414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962" h="641473">
                  <a:moveTo>
                    <a:pt x="0" y="0"/>
                  </a:moveTo>
                  <a:lnTo>
                    <a:pt x="89963" y="0"/>
                  </a:lnTo>
                  <a:lnTo>
                    <a:pt x="89963" y="641473"/>
                  </a:lnTo>
                  <a:lnTo>
                    <a:pt x="0" y="641473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alpha val="10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  <a:tileRect/>
            </a:gradFill>
            <a:ln w="2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9" name="任意多边形: 形状 83"/>
            <p:cNvSpPr/>
            <p:nvPr/>
          </p:nvSpPr>
          <p:spPr>
            <a:xfrm>
              <a:off x="837167" y="6142058"/>
              <a:ext cx="89962" cy="715918"/>
            </a:xfrm>
            <a:custGeom>
              <a:avLst/>
              <a:gdLst>
                <a:gd name="connsiteX0" fmla="*/ 0 w 89962"/>
                <a:gd name="connsiteY0" fmla="*/ 0 h 817309"/>
                <a:gd name="connsiteX1" fmla="*/ 89963 w 89962"/>
                <a:gd name="connsiteY1" fmla="*/ 0 h 817309"/>
                <a:gd name="connsiteX2" fmla="*/ 89963 w 89962"/>
                <a:gd name="connsiteY2" fmla="*/ 817310 h 817309"/>
                <a:gd name="connsiteX3" fmla="*/ 0 w 89962"/>
                <a:gd name="connsiteY3" fmla="*/ 817310 h 817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962" h="817309">
                  <a:moveTo>
                    <a:pt x="0" y="0"/>
                  </a:moveTo>
                  <a:lnTo>
                    <a:pt x="89963" y="0"/>
                  </a:lnTo>
                  <a:lnTo>
                    <a:pt x="89963" y="817310"/>
                  </a:lnTo>
                  <a:lnTo>
                    <a:pt x="0" y="81731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alpha val="10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  <a:tileRect/>
            </a:gradFill>
            <a:ln w="2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0" name="任意多边形: 形状 84"/>
            <p:cNvSpPr/>
            <p:nvPr/>
          </p:nvSpPr>
          <p:spPr>
            <a:xfrm>
              <a:off x="1005861" y="6391590"/>
              <a:ext cx="89962" cy="466386"/>
            </a:xfrm>
            <a:custGeom>
              <a:avLst/>
              <a:gdLst>
                <a:gd name="connsiteX0" fmla="*/ 0 w 89962"/>
                <a:gd name="connsiteY0" fmla="*/ 0 h 532437"/>
                <a:gd name="connsiteX1" fmla="*/ 89963 w 89962"/>
                <a:gd name="connsiteY1" fmla="*/ 0 h 532437"/>
                <a:gd name="connsiteX2" fmla="*/ 89963 w 89962"/>
                <a:gd name="connsiteY2" fmla="*/ 532437 h 532437"/>
                <a:gd name="connsiteX3" fmla="*/ 0 w 89962"/>
                <a:gd name="connsiteY3" fmla="*/ 532437 h 532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962" h="532437">
                  <a:moveTo>
                    <a:pt x="0" y="0"/>
                  </a:moveTo>
                  <a:lnTo>
                    <a:pt x="89963" y="0"/>
                  </a:lnTo>
                  <a:lnTo>
                    <a:pt x="89963" y="532437"/>
                  </a:lnTo>
                  <a:lnTo>
                    <a:pt x="0" y="532437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alpha val="10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  <a:tileRect/>
            </a:gradFill>
            <a:ln w="2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1" name="任意多边形: 形状 85"/>
            <p:cNvSpPr/>
            <p:nvPr/>
          </p:nvSpPr>
          <p:spPr>
            <a:xfrm>
              <a:off x="1174526" y="6004792"/>
              <a:ext cx="89962" cy="853184"/>
            </a:xfrm>
            <a:custGeom>
              <a:avLst/>
              <a:gdLst>
                <a:gd name="connsiteX0" fmla="*/ 0 w 89962"/>
                <a:gd name="connsiteY0" fmla="*/ 0 h 974015"/>
                <a:gd name="connsiteX1" fmla="*/ 89963 w 89962"/>
                <a:gd name="connsiteY1" fmla="*/ 0 h 974015"/>
                <a:gd name="connsiteX2" fmla="*/ 89963 w 89962"/>
                <a:gd name="connsiteY2" fmla="*/ 974016 h 974015"/>
                <a:gd name="connsiteX3" fmla="*/ 0 w 89962"/>
                <a:gd name="connsiteY3" fmla="*/ 974016 h 974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962" h="974015">
                  <a:moveTo>
                    <a:pt x="0" y="0"/>
                  </a:moveTo>
                  <a:lnTo>
                    <a:pt x="89963" y="0"/>
                  </a:lnTo>
                  <a:lnTo>
                    <a:pt x="89963" y="974016"/>
                  </a:lnTo>
                  <a:lnTo>
                    <a:pt x="0" y="974016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alpha val="10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  <a:tileRect/>
            </a:gradFill>
            <a:ln w="2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2" name="任意多边形: 形状 86"/>
            <p:cNvSpPr/>
            <p:nvPr/>
          </p:nvSpPr>
          <p:spPr>
            <a:xfrm>
              <a:off x="1343192" y="6142058"/>
              <a:ext cx="89962" cy="715918"/>
            </a:xfrm>
            <a:custGeom>
              <a:avLst/>
              <a:gdLst>
                <a:gd name="connsiteX0" fmla="*/ 0 w 89962"/>
                <a:gd name="connsiteY0" fmla="*/ 0 h 817309"/>
                <a:gd name="connsiteX1" fmla="*/ 89963 w 89962"/>
                <a:gd name="connsiteY1" fmla="*/ 0 h 817309"/>
                <a:gd name="connsiteX2" fmla="*/ 89963 w 89962"/>
                <a:gd name="connsiteY2" fmla="*/ 817310 h 817309"/>
                <a:gd name="connsiteX3" fmla="*/ 0 w 89962"/>
                <a:gd name="connsiteY3" fmla="*/ 817310 h 817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962" h="817309">
                  <a:moveTo>
                    <a:pt x="0" y="0"/>
                  </a:moveTo>
                  <a:lnTo>
                    <a:pt x="89963" y="0"/>
                  </a:lnTo>
                  <a:lnTo>
                    <a:pt x="89963" y="817310"/>
                  </a:lnTo>
                  <a:lnTo>
                    <a:pt x="0" y="81731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alpha val="10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  <a:tileRect/>
            </a:gradFill>
            <a:ln w="2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3" name="任意多边形: 形状 87"/>
            <p:cNvSpPr/>
            <p:nvPr/>
          </p:nvSpPr>
          <p:spPr>
            <a:xfrm>
              <a:off x="1511886" y="5826309"/>
              <a:ext cx="89962" cy="1031666"/>
            </a:xfrm>
            <a:custGeom>
              <a:avLst/>
              <a:gdLst>
                <a:gd name="connsiteX0" fmla="*/ 0 w 89962"/>
                <a:gd name="connsiteY0" fmla="*/ 0 h 1177775"/>
                <a:gd name="connsiteX1" fmla="*/ 89963 w 89962"/>
                <a:gd name="connsiteY1" fmla="*/ 0 h 1177775"/>
                <a:gd name="connsiteX2" fmla="*/ 89963 w 89962"/>
                <a:gd name="connsiteY2" fmla="*/ 1177776 h 1177775"/>
                <a:gd name="connsiteX3" fmla="*/ 0 w 89962"/>
                <a:gd name="connsiteY3" fmla="*/ 1177776 h 117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962" h="1177775">
                  <a:moveTo>
                    <a:pt x="0" y="0"/>
                  </a:moveTo>
                  <a:lnTo>
                    <a:pt x="89963" y="0"/>
                  </a:lnTo>
                  <a:lnTo>
                    <a:pt x="89963" y="1177776"/>
                  </a:lnTo>
                  <a:lnTo>
                    <a:pt x="0" y="1177776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alpha val="10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  <a:tileRect/>
            </a:gradFill>
            <a:ln w="2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4" name="任意多边形: 形状 88"/>
            <p:cNvSpPr/>
            <p:nvPr/>
          </p:nvSpPr>
          <p:spPr>
            <a:xfrm>
              <a:off x="1680552" y="5767011"/>
              <a:ext cx="89962" cy="1090964"/>
            </a:xfrm>
            <a:custGeom>
              <a:avLst/>
              <a:gdLst>
                <a:gd name="connsiteX0" fmla="*/ 0 w 89962"/>
                <a:gd name="connsiteY0" fmla="*/ 0 h 1245471"/>
                <a:gd name="connsiteX1" fmla="*/ 89963 w 89962"/>
                <a:gd name="connsiteY1" fmla="*/ 0 h 1245471"/>
                <a:gd name="connsiteX2" fmla="*/ 89963 w 89962"/>
                <a:gd name="connsiteY2" fmla="*/ 1245472 h 1245471"/>
                <a:gd name="connsiteX3" fmla="*/ 0 w 89962"/>
                <a:gd name="connsiteY3" fmla="*/ 1245472 h 1245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962" h="1245471">
                  <a:moveTo>
                    <a:pt x="0" y="0"/>
                  </a:moveTo>
                  <a:lnTo>
                    <a:pt x="89963" y="0"/>
                  </a:lnTo>
                  <a:lnTo>
                    <a:pt x="89963" y="1245472"/>
                  </a:lnTo>
                  <a:lnTo>
                    <a:pt x="0" y="1245472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alpha val="10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  <a:tileRect/>
            </a:gradFill>
            <a:ln w="2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5" name="任意多边形: 形状 89"/>
            <p:cNvSpPr/>
            <p:nvPr/>
          </p:nvSpPr>
          <p:spPr>
            <a:xfrm>
              <a:off x="1849218" y="5925204"/>
              <a:ext cx="89962" cy="932796"/>
            </a:xfrm>
            <a:custGeom>
              <a:avLst/>
              <a:gdLst>
                <a:gd name="connsiteX0" fmla="*/ 0 w 89962"/>
                <a:gd name="connsiteY0" fmla="*/ 0 h 1064902"/>
                <a:gd name="connsiteX1" fmla="*/ 89963 w 89962"/>
                <a:gd name="connsiteY1" fmla="*/ 0 h 1064902"/>
                <a:gd name="connsiteX2" fmla="*/ 89963 w 89962"/>
                <a:gd name="connsiteY2" fmla="*/ 1064902 h 1064902"/>
                <a:gd name="connsiteX3" fmla="*/ 0 w 89962"/>
                <a:gd name="connsiteY3" fmla="*/ 1064902 h 10649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962" h="1064902">
                  <a:moveTo>
                    <a:pt x="0" y="0"/>
                  </a:moveTo>
                  <a:lnTo>
                    <a:pt x="89963" y="0"/>
                  </a:lnTo>
                  <a:lnTo>
                    <a:pt x="89963" y="1064902"/>
                  </a:lnTo>
                  <a:lnTo>
                    <a:pt x="0" y="1064902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alpha val="10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  <a:tileRect/>
            </a:gradFill>
            <a:ln w="2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6" name="任意多边形: 形状 90"/>
            <p:cNvSpPr/>
            <p:nvPr/>
          </p:nvSpPr>
          <p:spPr>
            <a:xfrm>
              <a:off x="2017883" y="5655530"/>
              <a:ext cx="89962" cy="1202470"/>
            </a:xfrm>
            <a:custGeom>
              <a:avLst/>
              <a:gdLst>
                <a:gd name="connsiteX0" fmla="*/ 0 w 89962"/>
                <a:gd name="connsiteY0" fmla="*/ 0 h 1372769"/>
                <a:gd name="connsiteX1" fmla="*/ 89963 w 89962"/>
                <a:gd name="connsiteY1" fmla="*/ 0 h 1372769"/>
                <a:gd name="connsiteX2" fmla="*/ 89963 w 89962"/>
                <a:gd name="connsiteY2" fmla="*/ 1372769 h 1372769"/>
                <a:gd name="connsiteX3" fmla="*/ 0 w 89962"/>
                <a:gd name="connsiteY3" fmla="*/ 1372769 h 13727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962" h="1372769">
                  <a:moveTo>
                    <a:pt x="0" y="0"/>
                  </a:moveTo>
                  <a:lnTo>
                    <a:pt x="89963" y="0"/>
                  </a:lnTo>
                  <a:lnTo>
                    <a:pt x="89963" y="1372769"/>
                  </a:lnTo>
                  <a:lnTo>
                    <a:pt x="0" y="1372769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alpha val="10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  <a:tileRect/>
            </a:gradFill>
            <a:ln w="2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7" name="任意多边形: 形状 91"/>
            <p:cNvSpPr/>
            <p:nvPr/>
          </p:nvSpPr>
          <p:spPr>
            <a:xfrm>
              <a:off x="2186577" y="5459898"/>
              <a:ext cx="89962" cy="1398078"/>
            </a:xfrm>
            <a:custGeom>
              <a:avLst/>
              <a:gdLst>
                <a:gd name="connsiteX0" fmla="*/ 0 w 89962"/>
                <a:gd name="connsiteY0" fmla="*/ 0 h 1596079"/>
                <a:gd name="connsiteX1" fmla="*/ 89963 w 89962"/>
                <a:gd name="connsiteY1" fmla="*/ 0 h 1596079"/>
                <a:gd name="connsiteX2" fmla="*/ 89963 w 89962"/>
                <a:gd name="connsiteY2" fmla="*/ 1596079 h 1596079"/>
                <a:gd name="connsiteX3" fmla="*/ 0 w 89962"/>
                <a:gd name="connsiteY3" fmla="*/ 1596079 h 1596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962" h="1596079">
                  <a:moveTo>
                    <a:pt x="0" y="0"/>
                  </a:moveTo>
                  <a:lnTo>
                    <a:pt x="89963" y="0"/>
                  </a:lnTo>
                  <a:lnTo>
                    <a:pt x="89963" y="1596079"/>
                  </a:lnTo>
                  <a:lnTo>
                    <a:pt x="0" y="1596079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alpha val="10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  <a:tileRect/>
            </a:gradFill>
            <a:ln w="2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8" name="任意多边形: 形状 92"/>
            <p:cNvSpPr/>
            <p:nvPr/>
          </p:nvSpPr>
          <p:spPr>
            <a:xfrm>
              <a:off x="2355243" y="5568828"/>
              <a:ext cx="89962" cy="1289148"/>
            </a:xfrm>
            <a:custGeom>
              <a:avLst/>
              <a:gdLst>
                <a:gd name="connsiteX0" fmla="*/ 0 w 89962"/>
                <a:gd name="connsiteY0" fmla="*/ 0 h 1471722"/>
                <a:gd name="connsiteX1" fmla="*/ 89962 w 89962"/>
                <a:gd name="connsiteY1" fmla="*/ 0 h 1471722"/>
                <a:gd name="connsiteX2" fmla="*/ 89962 w 89962"/>
                <a:gd name="connsiteY2" fmla="*/ 1471723 h 1471722"/>
                <a:gd name="connsiteX3" fmla="*/ 0 w 89962"/>
                <a:gd name="connsiteY3" fmla="*/ 1471723 h 147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962" h="1471722">
                  <a:moveTo>
                    <a:pt x="0" y="0"/>
                  </a:moveTo>
                  <a:lnTo>
                    <a:pt x="89962" y="0"/>
                  </a:lnTo>
                  <a:lnTo>
                    <a:pt x="89962" y="1471723"/>
                  </a:lnTo>
                  <a:lnTo>
                    <a:pt x="0" y="1471723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alpha val="10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  <a:tileRect/>
            </a:gradFill>
            <a:ln w="2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9" name="任意多边形: 形状 93"/>
            <p:cNvSpPr/>
            <p:nvPr/>
          </p:nvSpPr>
          <p:spPr>
            <a:xfrm>
              <a:off x="2523909" y="5716742"/>
              <a:ext cx="89962" cy="1141234"/>
            </a:xfrm>
            <a:custGeom>
              <a:avLst/>
              <a:gdLst>
                <a:gd name="connsiteX0" fmla="*/ 0 w 89962"/>
                <a:gd name="connsiteY0" fmla="*/ 0 h 1302860"/>
                <a:gd name="connsiteX1" fmla="*/ 89963 w 89962"/>
                <a:gd name="connsiteY1" fmla="*/ 0 h 1302860"/>
                <a:gd name="connsiteX2" fmla="*/ 89963 w 89962"/>
                <a:gd name="connsiteY2" fmla="*/ 1302861 h 1302860"/>
                <a:gd name="connsiteX3" fmla="*/ 0 w 89962"/>
                <a:gd name="connsiteY3" fmla="*/ 1302861 h 1302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962" h="1302860">
                  <a:moveTo>
                    <a:pt x="0" y="0"/>
                  </a:moveTo>
                  <a:lnTo>
                    <a:pt x="89963" y="0"/>
                  </a:lnTo>
                  <a:lnTo>
                    <a:pt x="89963" y="1302861"/>
                  </a:lnTo>
                  <a:lnTo>
                    <a:pt x="0" y="1302861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alpha val="10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  <a:tileRect/>
            </a:gradFill>
            <a:ln w="2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0" name="任意多边形: 形状 94"/>
            <p:cNvSpPr/>
            <p:nvPr/>
          </p:nvSpPr>
          <p:spPr>
            <a:xfrm>
              <a:off x="2692575" y="5459898"/>
              <a:ext cx="89962" cy="1398078"/>
            </a:xfrm>
            <a:custGeom>
              <a:avLst/>
              <a:gdLst>
                <a:gd name="connsiteX0" fmla="*/ 0 w 89962"/>
                <a:gd name="connsiteY0" fmla="*/ 0 h 1596079"/>
                <a:gd name="connsiteX1" fmla="*/ 89962 w 89962"/>
                <a:gd name="connsiteY1" fmla="*/ 0 h 1596079"/>
                <a:gd name="connsiteX2" fmla="*/ 89962 w 89962"/>
                <a:gd name="connsiteY2" fmla="*/ 1596079 h 1596079"/>
                <a:gd name="connsiteX3" fmla="*/ 0 w 89962"/>
                <a:gd name="connsiteY3" fmla="*/ 1596079 h 1596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962" h="1596079">
                  <a:moveTo>
                    <a:pt x="0" y="0"/>
                  </a:moveTo>
                  <a:lnTo>
                    <a:pt x="89962" y="0"/>
                  </a:lnTo>
                  <a:lnTo>
                    <a:pt x="89962" y="1596079"/>
                  </a:lnTo>
                  <a:lnTo>
                    <a:pt x="0" y="1596079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alpha val="10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  <a:tileRect/>
            </a:gradFill>
            <a:ln w="2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1" name="任意多边形: 形状 95"/>
            <p:cNvSpPr/>
            <p:nvPr/>
          </p:nvSpPr>
          <p:spPr>
            <a:xfrm>
              <a:off x="2861268" y="5261592"/>
              <a:ext cx="89962" cy="1596384"/>
            </a:xfrm>
            <a:custGeom>
              <a:avLst/>
              <a:gdLst>
                <a:gd name="connsiteX0" fmla="*/ 0 w 89962"/>
                <a:gd name="connsiteY0" fmla="*/ 0 h 1822470"/>
                <a:gd name="connsiteX1" fmla="*/ 89963 w 89962"/>
                <a:gd name="connsiteY1" fmla="*/ 0 h 1822470"/>
                <a:gd name="connsiteX2" fmla="*/ 89963 w 89962"/>
                <a:gd name="connsiteY2" fmla="*/ 1822470 h 1822470"/>
                <a:gd name="connsiteX3" fmla="*/ 0 w 89962"/>
                <a:gd name="connsiteY3" fmla="*/ 1822470 h 1822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962" h="1822470">
                  <a:moveTo>
                    <a:pt x="0" y="0"/>
                  </a:moveTo>
                  <a:lnTo>
                    <a:pt x="89963" y="0"/>
                  </a:lnTo>
                  <a:lnTo>
                    <a:pt x="89963" y="1822470"/>
                  </a:lnTo>
                  <a:lnTo>
                    <a:pt x="0" y="182247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alpha val="10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  <a:tileRect/>
            </a:gradFill>
            <a:ln w="2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2" name="任意多边形: 形状 96"/>
            <p:cNvSpPr/>
            <p:nvPr/>
          </p:nvSpPr>
          <p:spPr>
            <a:xfrm>
              <a:off x="3029934" y="5046530"/>
              <a:ext cx="89962" cy="1811446"/>
            </a:xfrm>
            <a:custGeom>
              <a:avLst/>
              <a:gdLst>
                <a:gd name="connsiteX0" fmla="*/ 0 w 89962"/>
                <a:gd name="connsiteY0" fmla="*/ 0 h 2067990"/>
                <a:gd name="connsiteX1" fmla="*/ 89963 w 89962"/>
                <a:gd name="connsiteY1" fmla="*/ 0 h 2067990"/>
                <a:gd name="connsiteX2" fmla="*/ 89963 w 89962"/>
                <a:gd name="connsiteY2" fmla="*/ 2067991 h 2067990"/>
                <a:gd name="connsiteX3" fmla="*/ 0 w 89962"/>
                <a:gd name="connsiteY3" fmla="*/ 2067991 h 2067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962" h="2067990">
                  <a:moveTo>
                    <a:pt x="0" y="0"/>
                  </a:moveTo>
                  <a:lnTo>
                    <a:pt x="89963" y="0"/>
                  </a:lnTo>
                  <a:lnTo>
                    <a:pt x="89963" y="2067991"/>
                  </a:lnTo>
                  <a:lnTo>
                    <a:pt x="0" y="2067991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alpha val="10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  <a:tileRect/>
            </a:gradFill>
            <a:ln w="2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3" name="任意多边形: 形状 97"/>
            <p:cNvSpPr/>
            <p:nvPr/>
          </p:nvSpPr>
          <p:spPr>
            <a:xfrm>
              <a:off x="3218290" y="5134900"/>
              <a:ext cx="89962" cy="1723075"/>
            </a:xfrm>
            <a:custGeom>
              <a:avLst/>
              <a:gdLst>
                <a:gd name="connsiteX0" fmla="*/ 0 w 89962"/>
                <a:gd name="connsiteY0" fmla="*/ 0 h 1967104"/>
                <a:gd name="connsiteX1" fmla="*/ 89963 w 89962"/>
                <a:gd name="connsiteY1" fmla="*/ 0 h 1967104"/>
                <a:gd name="connsiteX2" fmla="*/ 89963 w 89962"/>
                <a:gd name="connsiteY2" fmla="*/ 1967105 h 1967104"/>
                <a:gd name="connsiteX3" fmla="*/ 0 w 89962"/>
                <a:gd name="connsiteY3" fmla="*/ 1967105 h 19671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962" h="1967104">
                  <a:moveTo>
                    <a:pt x="0" y="0"/>
                  </a:moveTo>
                  <a:lnTo>
                    <a:pt x="89963" y="0"/>
                  </a:lnTo>
                  <a:lnTo>
                    <a:pt x="89963" y="1967105"/>
                  </a:lnTo>
                  <a:lnTo>
                    <a:pt x="0" y="1967105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alpha val="10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  <a:tileRect/>
            </a:gradFill>
            <a:ln w="2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4" name="任意多边形: 形状 98"/>
            <p:cNvSpPr/>
            <p:nvPr/>
          </p:nvSpPr>
          <p:spPr>
            <a:xfrm>
              <a:off x="3386956" y="5279256"/>
              <a:ext cx="89962" cy="1578719"/>
            </a:xfrm>
            <a:custGeom>
              <a:avLst/>
              <a:gdLst>
                <a:gd name="connsiteX0" fmla="*/ 0 w 89962"/>
                <a:gd name="connsiteY0" fmla="*/ 0 h 1802304"/>
                <a:gd name="connsiteX1" fmla="*/ 89963 w 89962"/>
                <a:gd name="connsiteY1" fmla="*/ 0 h 1802304"/>
                <a:gd name="connsiteX2" fmla="*/ 89963 w 89962"/>
                <a:gd name="connsiteY2" fmla="*/ 1802304 h 1802304"/>
                <a:gd name="connsiteX3" fmla="*/ 0 w 89962"/>
                <a:gd name="connsiteY3" fmla="*/ 1802304 h 1802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962" h="1802304">
                  <a:moveTo>
                    <a:pt x="0" y="0"/>
                  </a:moveTo>
                  <a:lnTo>
                    <a:pt x="89963" y="0"/>
                  </a:lnTo>
                  <a:lnTo>
                    <a:pt x="89963" y="1802304"/>
                  </a:lnTo>
                  <a:lnTo>
                    <a:pt x="0" y="1802304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alpha val="10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  <a:tileRect/>
            </a:gradFill>
            <a:ln w="2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5" name="任意多边形: 形状 99"/>
            <p:cNvSpPr/>
            <p:nvPr/>
          </p:nvSpPr>
          <p:spPr>
            <a:xfrm>
              <a:off x="3558478" y="5459898"/>
              <a:ext cx="89962" cy="1398078"/>
            </a:xfrm>
            <a:custGeom>
              <a:avLst/>
              <a:gdLst>
                <a:gd name="connsiteX0" fmla="*/ 0 w 89962"/>
                <a:gd name="connsiteY0" fmla="*/ 0 h 1596079"/>
                <a:gd name="connsiteX1" fmla="*/ 89963 w 89962"/>
                <a:gd name="connsiteY1" fmla="*/ 0 h 1596079"/>
                <a:gd name="connsiteX2" fmla="*/ 89963 w 89962"/>
                <a:gd name="connsiteY2" fmla="*/ 1596079 h 1596079"/>
                <a:gd name="connsiteX3" fmla="*/ 0 w 89962"/>
                <a:gd name="connsiteY3" fmla="*/ 1596079 h 1596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962" h="1596079">
                  <a:moveTo>
                    <a:pt x="0" y="0"/>
                  </a:moveTo>
                  <a:lnTo>
                    <a:pt x="89963" y="0"/>
                  </a:lnTo>
                  <a:lnTo>
                    <a:pt x="89963" y="1596079"/>
                  </a:lnTo>
                  <a:lnTo>
                    <a:pt x="0" y="1596079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alpha val="10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  <a:tileRect/>
            </a:gradFill>
            <a:ln w="2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6" name="任意多边形: 形状 100"/>
            <p:cNvSpPr/>
            <p:nvPr/>
          </p:nvSpPr>
          <p:spPr>
            <a:xfrm>
              <a:off x="3727172" y="5261592"/>
              <a:ext cx="89962" cy="1596384"/>
            </a:xfrm>
            <a:custGeom>
              <a:avLst/>
              <a:gdLst>
                <a:gd name="connsiteX0" fmla="*/ 0 w 89962"/>
                <a:gd name="connsiteY0" fmla="*/ 0 h 1822470"/>
                <a:gd name="connsiteX1" fmla="*/ 89963 w 89962"/>
                <a:gd name="connsiteY1" fmla="*/ 0 h 1822470"/>
                <a:gd name="connsiteX2" fmla="*/ 89963 w 89962"/>
                <a:gd name="connsiteY2" fmla="*/ 1822470 h 1822470"/>
                <a:gd name="connsiteX3" fmla="*/ 0 w 89962"/>
                <a:gd name="connsiteY3" fmla="*/ 1822470 h 1822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962" h="1822470">
                  <a:moveTo>
                    <a:pt x="0" y="0"/>
                  </a:moveTo>
                  <a:lnTo>
                    <a:pt x="89963" y="0"/>
                  </a:lnTo>
                  <a:lnTo>
                    <a:pt x="89963" y="1822470"/>
                  </a:lnTo>
                  <a:lnTo>
                    <a:pt x="0" y="182247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alpha val="10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  <a:tileRect/>
            </a:gradFill>
            <a:ln w="2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7" name="任意多边形: 形状 101"/>
            <p:cNvSpPr/>
            <p:nvPr/>
          </p:nvSpPr>
          <p:spPr>
            <a:xfrm>
              <a:off x="3895838" y="5351484"/>
              <a:ext cx="89962" cy="1506492"/>
            </a:xfrm>
            <a:custGeom>
              <a:avLst/>
              <a:gdLst>
                <a:gd name="connsiteX0" fmla="*/ 0 w 89962"/>
                <a:gd name="connsiteY0" fmla="*/ 0 h 1719847"/>
                <a:gd name="connsiteX1" fmla="*/ 89962 w 89962"/>
                <a:gd name="connsiteY1" fmla="*/ 0 h 1719847"/>
                <a:gd name="connsiteX2" fmla="*/ 89962 w 89962"/>
                <a:gd name="connsiteY2" fmla="*/ 1719848 h 1719847"/>
                <a:gd name="connsiteX3" fmla="*/ 0 w 89962"/>
                <a:gd name="connsiteY3" fmla="*/ 1719848 h 1719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962" h="1719847">
                  <a:moveTo>
                    <a:pt x="0" y="0"/>
                  </a:moveTo>
                  <a:lnTo>
                    <a:pt x="89962" y="0"/>
                  </a:lnTo>
                  <a:lnTo>
                    <a:pt x="89962" y="1719848"/>
                  </a:lnTo>
                  <a:lnTo>
                    <a:pt x="0" y="1719848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alpha val="10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  <a:tileRect/>
            </a:gradFill>
            <a:ln w="2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8" name="任意多边形: 形状 102"/>
            <p:cNvSpPr/>
            <p:nvPr/>
          </p:nvSpPr>
          <p:spPr>
            <a:xfrm>
              <a:off x="4084193" y="5544539"/>
              <a:ext cx="89962" cy="1313436"/>
            </a:xfrm>
            <a:custGeom>
              <a:avLst/>
              <a:gdLst>
                <a:gd name="connsiteX0" fmla="*/ 0 w 89962"/>
                <a:gd name="connsiteY0" fmla="*/ 0 h 1499450"/>
                <a:gd name="connsiteX1" fmla="*/ 89962 w 89962"/>
                <a:gd name="connsiteY1" fmla="*/ 0 h 1499450"/>
                <a:gd name="connsiteX2" fmla="*/ 89962 w 89962"/>
                <a:gd name="connsiteY2" fmla="*/ 1499451 h 1499450"/>
                <a:gd name="connsiteX3" fmla="*/ 0 w 89962"/>
                <a:gd name="connsiteY3" fmla="*/ 1499451 h 1499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962" h="1499450">
                  <a:moveTo>
                    <a:pt x="0" y="0"/>
                  </a:moveTo>
                  <a:lnTo>
                    <a:pt x="89962" y="0"/>
                  </a:lnTo>
                  <a:lnTo>
                    <a:pt x="89962" y="1499451"/>
                  </a:lnTo>
                  <a:lnTo>
                    <a:pt x="0" y="1499451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alpha val="10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  <a:tileRect/>
            </a:gradFill>
            <a:ln w="2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9" name="任意多边形: 形状 103"/>
            <p:cNvSpPr/>
            <p:nvPr/>
          </p:nvSpPr>
          <p:spPr>
            <a:xfrm>
              <a:off x="4243617" y="5963452"/>
              <a:ext cx="89962" cy="894548"/>
            </a:xfrm>
            <a:custGeom>
              <a:avLst/>
              <a:gdLst>
                <a:gd name="connsiteX0" fmla="*/ 0 w 89962"/>
                <a:gd name="connsiteY0" fmla="*/ 0 h 1021237"/>
                <a:gd name="connsiteX1" fmla="*/ 89963 w 89962"/>
                <a:gd name="connsiteY1" fmla="*/ 0 h 1021237"/>
                <a:gd name="connsiteX2" fmla="*/ 89963 w 89962"/>
                <a:gd name="connsiteY2" fmla="*/ 1021238 h 1021237"/>
                <a:gd name="connsiteX3" fmla="*/ 0 w 89962"/>
                <a:gd name="connsiteY3" fmla="*/ 1021238 h 1021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962" h="1021237">
                  <a:moveTo>
                    <a:pt x="0" y="0"/>
                  </a:moveTo>
                  <a:lnTo>
                    <a:pt x="89963" y="0"/>
                  </a:lnTo>
                  <a:lnTo>
                    <a:pt x="89963" y="1021238"/>
                  </a:lnTo>
                  <a:lnTo>
                    <a:pt x="0" y="1021238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alpha val="10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  <a:tileRect/>
            </a:gradFill>
            <a:ln w="2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0" name="任意多边形: 形状 104"/>
            <p:cNvSpPr/>
            <p:nvPr/>
          </p:nvSpPr>
          <p:spPr>
            <a:xfrm>
              <a:off x="4412282" y="5372951"/>
              <a:ext cx="89962" cy="1485025"/>
            </a:xfrm>
            <a:custGeom>
              <a:avLst/>
              <a:gdLst>
                <a:gd name="connsiteX0" fmla="*/ 0 w 89962"/>
                <a:gd name="connsiteY0" fmla="*/ 0 h 1695340"/>
                <a:gd name="connsiteX1" fmla="*/ 89962 w 89962"/>
                <a:gd name="connsiteY1" fmla="*/ 0 h 1695340"/>
                <a:gd name="connsiteX2" fmla="*/ 89962 w 89962"/>
                <a:gd name="connsiteY2" fmla="*/ 1695341 h 1695340"/>
                <a:gd name="connsiteX3" fmla="*/ 0 w 89962"/>
                <a:gd name="connsiteY3" fmla="*/ 1695341 h 1695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962" h="1695340">
                  <a:moveTo>
                    <a:pt x="0" y="0"/>
                  </a:moveTo>
                  <a:lnTo>
                    <a:pt x="89962" y="0"/>
                  </a:lnTo>
                  <a:lnTo>
                    <a:pt x="89962" y="1695341"/>
                  </a:lnTo>
                  <a:lnTo>
                    <a:pt x="0" y="1695341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alpha val="10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  <a:tileRect/>
            </a:gradFill>
            <a:ln w="2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1" name="任意多边形: 形状 105"/>
            <p:cNvSpPr/>
            <p:nvPr/>
          </p:nvSpPr>
          <p:spPr>
            <a:xfrm>
              <a:off x="4580976" y="5587228"/>
              <a:ext cx="89962" cy="1270748"/>
            </a:xfrm>
            <a:custGeom>
              <a:avLst/>
              <a:gdLst>
                <a:gd name="connsiteX0" fmla="*/ 0 w 89962"/>
                <a:gd name="connsiteY0" fmla="*/ 0 h 1450716"/>
                <a:gd name="connsiteX1" fmla="*/ 89962 w 89962"/>
                <a:gd name="connsiteY1" fmla="*/ 0 h 1450716"/>
                <a:gd name="connsiteX2" fmla="*/ 89962 w 89962"/>
                <a:gd name="connsiteY2" fmla="*/ 1450716 h 1450716"/>
                <a:gd name="connsiteX3" fmla="*/ 0 w 89962"/>
                <a:gd name="connsiteY3" fmla="*/ 1450716 h 1450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962" h="1450716">
                  <a:moveTo>
                    <a:pt x="0" y="0"/>
                  </a:moveTo>
                  <a:lnTo>
                    <a:pt x="89962" y="0"/>
                  </a:lnTo>
                  <a:lnTo>
                    <a:pt x="89962" y="1450716"/>
                  </a:lnTo>
                  <a:lnTo>
                    <a:pt x="0" y="1450716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alpha val="10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  <a:tileRect/>
            </a:gradFill>
            <a:ln w="2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2" name="任意多边形: 形状 106"/>
            <p:cNvSpPr/>
            <p:nvPr/>
          </p:nvSpPr>
          <p:spPr>
            <a:xfrm>
              <a:off x="4749642" y="5963452"/>
              <a:ext cx="89962" cy="894548"/>
            </a:xfrm>
            <a:custGeom>
              <a:avLst/>
              <a:gdLst>
                <a:gd name="connsiteX0" fmla="*/ 0 w 89962"/>
                <a:gd name="connsiteY0" fmla="*/ 0 h 1021237"/>
                <a:gd name="connsiteX1" fmla="*/ 89963 w 89962"/>
                <a:gd name="connsiteY1" fmla="*/ 0 h 1021237"/>
                <a:gd name="connsiteX2" fmla="*/ 89963 w 89962"/>
                <a:gd name="connsiteY2" fmla="*/ 1021238 h 1021237"/>
                <a:gd name="connsiteX3" fmla="*/ 0 w 89962"/>
                <a:gd name="connsiteY3" fmla="*/ 1021238 h 1021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962" h="1021237">
                  <a:moveTo>
                    <a:pt x="0" y="0"/>
                  </a:moveTo>
                  <a:lnTo>
                    <a:pt x="89963" y="0"/>
                  </a:lnTo>
                  <a:lnTo>
                    <a:pt x="89963" y="1021238"/>
                  </a:lnTo>
                  <a:lnTo>
                    <a:pt x="0" y="1021238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alpha val="10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  <a:tileRect/>
            </a:gradFill>
            <a:ln w="2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3" name="任意多边形: 形状 107"/>
            <p:cNvSpPr/>
            <p:nvPr/>
          </p:nvSpPr>
          <p:spPr>
            <a:xfrm>
              <a:off x="4918308" y="5718213"/>
              <a:ext cx="89962" cy="1139787"/>
            </a:xfrm>
            <a:custGeom>
              <a:avLst/>
              <a:gdLst>
                <a:gd name="connsiteX0" fmla="*/ 0 w 89962"/>
                <a:gd name="connsiteY0" fmla="*/ 0 h 1301208"/>
                <a:gd name="connsiteX1" fmla="*/ 89963 w 89962"/>
                <a:gd name="connsiteY1" fmla="*/ 0 h 1301208"/>
                <a:gd name="connsiteX2" fmla="*/ 89963 w 89962"/>
                <a:gd name="connsiteY2" fmla="*/ 1301208 h 1301208"/>
                <a:gd name="connsiteX3" fmla="*/ 0 w 89962"/>
                <a:gd name="connsiteY3" fmla="*/ 1301208 h 1301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962" h="1301208">
                  <a:moveTo>
                    <a:pt x="0" y="0"/>
                  </a:moveTo>
                  <a:lnTo>
                    <a:pt x="89963" y="0"/>
                  </a:lnTo>
                  <a:lnTo>
                    <a:pt x="89963" y="1301208"/>
                  </a:lnTo>
                  <a:lnTo>
                    <a:pt x="0" y="1301208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alpha val="10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  <a:tileRect/>
            </a:gradFill>
            <a:ln w="2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4" name="任意多边形: 形状 108"/>
            <p:cNvSpPr/>
            <p:nvPr/>
          </p:nvSpPr>
          <p:spPr>
            <a:xfrm>
              <a:off x="5087002" y="5438186"/>
              <a:ext cx="89962" cy="1419790"/>
            </a:xfrm>
            <a:custGeom>
              <a:avLst/>
              <a:gdLst>
                <a:gd name="connsiteX0" fmla="*/ 0 w 89962"/>
                <a:gd name="connsiteY0" fmla="*/ 0 h 1620866"/>
                <a:gd name="connsiteX1" fmla="*/ 89963 w 89962"/>
                <a:gd name="connsiteY1" fmla="*/ 0 h 1620866"/>
                <a:gd name="connsiteX2" fmla="*/ 89963 w 89962"/>
                <a:gd name="connsiteY2" fmla="*/ 1620867 h 1620866"/>
                <a:gd name="connsiteX3" fmla="*/ 0 w 89962"/>
                <a:gd name="connsiteY3" fmla="*/ 1620867 h 16208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962" h="1620866">
                  <a:moveTo>
                    <a:pt x="0" y="0"/>
                  </a:moveTo>
                  <a:lnTo>
                    <a:pt x="89963" y="0"/>
                  </a:lnTo>
                  <a:lnTo>
                    <a:pt x="89963" y="1620867"/>
                  </a:lnTo>
                  <a:lnTo>
                    <a:pt x="0" y="1620867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alpha val="10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  <a:tileRect/>
            </a:gradFill>
            <a:ln w="2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5" name="任意多边形: 形状 109"/>
            <p:cNvSpPr/>
            <p:nvPr/>
          </p:nvSpPr>
          <p:spPr>
            <a:xfrm>
              <a:off x="5255667" y="5499692"/>
              <a:ext cx="89962" cy="1358308"/>
            </a:xfrm>
            <a:custGeom>
              <a:avLst/>
              <a:gdLst>
                <a:gd name="connsiteX0" fmla="*/ 0 w 89962"/>
                <a:gd name="connsiteY0" fmla="*/ 0 h 1550677"/>
                <a:gd name="connsiteX1" fmla="*/ 89962 w 89962"/>
                <a:gd name="connsiteY1" fmla="*/ 0 h 1550677"/>
                <a:gd name="connsiteX2" fmla="*/ 89962 w 89962"/>
                <a:gd name="connsiteY2" fmla="*/ 1550678 h 1550677"/>
                <a:gd name="connsiteX3" fmla="*/ 0 w 89962"/>
                <a:gd name="connsiteY3" fmla="*/ 1550678 h 1550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962" h="1550677">
                  <a:moveTo>
                    <a:pt x="0" y="0"/>
                  </a:moveTo>
                  <a:lnTo>
                    <a:pt x="89962" y="0"/>
                  </a:lnTo>
                  <a:lnTo>
                    <a:pt x="89962" y="1550678"/>
                  </a:lnTo>
                  <a:lnTo>
                    <a:pt x="0" y="1550678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alpha val="10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  <a:tileRect/>
            </a:gradFill>
            <a:ln w="2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6" name="任意多边形: 形状 110"/>
            <p:cNvSpPr/>
            <p:nvPr/>
          </p:nvSpPr>
          <p:spPr>
            <a:xfrm>
              <a:off x="5424333" y="5718213"/>
              <a:ext cx="89962" cy="1139787"/>
            </a:xfrm>
            <a:custGeom>
              <a:avLst/>
              <a:gdLst>
                <a:gd name="connsiteX0" fmla="*/ 0 w 89962"/>
                <a:gd name="connsiteY0" fmla="*/ 0 h 1301208"/>
                <a:gd name="connsiteX1" fmla="*/ 89962 w 89962"/>
                <a:gd name="connsiteY1" fmla="*/ 0 h 1301208"/>
                <a:gd name="connsiteX2" fmla="*/ 89962 w 89962"/>
                <a:gd name="connsiteY2" fmla="*/ 1301208 h 1301208"/>
                <a:gd name="connsiteX3" fmla="*/ 0 w 89962"/>
                <a:gd name="connsiteY3" fmla="*/ 1301208 h 1301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962" h="1301208">
                  <a:moveTo>
                    <a:pt x="0" y="0"/>
                  </a:moveTo>
                  <a:lnTo>
                    <a:pt x="89962" y="0"/>
                  </a:lnTo>
                  <a:lnTo>
                    <a:pt x="89962" y="1301208"/>
                  </a:lnTo>
                  <a:lnTo>
                    <a:pt x="0" y="1301208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alpha val="10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  <a:tileRect/>
            </a:gradFill>
            <a:ln w="2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7" name="任意多边形: 形状 111"/>
            <p:cNvSpPr/>
            <p:nvPr/>
          </p:nvSpPr>
          <p:spPr>
            <a:xfrm>
              <a:off x="5592999" y="5826309"/>
              <a:ext cx="89962" cy="1031666"/>
            </a:xfrm>
            <a:custGeom>
              <a:avLst/>
              <a:gdLst>
                <a:gd name="connsiteX0" fmla="*/ 0 w 89962"/>
                <a:gd name="connsiteY0" fmla="*/ 0 h 1177775"/>
                <a:gd name="connsiteX1" fmla="*/ 89963 w 89962"/>
                <a:gd name="connsiteY1" fmla="*/ 0 h 1177775"/>
                <a:gd name="connsiteX2" fmla="*/ 89963 w 89962"/>
                <a:gd name="connsiteY2" fmla="*/ 1177776 h 1177775"/>
                <a:gd name="connsiteX3" fmla="*/ 0 w 89962"/>
                <a:gd name="connsiteY3" fmla="*/ 1177776 h 117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962" h="1177775">
                  <a:moveTo>
                    <a:pt x="0" y="0"/>
                  </a:moveTo>
                  <a:lnTo>
                    <a:pt x="89963" y="0"/>
                  </a:lnTo>
                  <a:lnTo>
                    <a:pt x="89963" y="1177776"/>
                  </a:lnTo>
                  <a:lnTo>
                    <a:pt x="0" y="1177776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alpha val="10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  <a:tileRect/>
            </a:gradFill>
            <a:ln w="2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8" name="任意多边形: 形状 112"/>
            <p:cNvSpPr/>
            <p:nvPr/>
          </p:nvSpPr>
          <p:spPr>
            <a:xfrm>
              <a:off x="5761693" y="5767011"/>
              <a:ext cx="89962" cy="1090964"/>
            </a:xfrm>
            <a:custGeom>
              <a:avLst/>
              <a:gdLst>
                <a:gd name="connsiteX0" fmla="*/ 0 w 89962"/>
                <a:gd name="connsiteY0" fmla="*/ 0 h 1245471"/>
                <a:gd name="connsiteX1" fmla="*/ 89963 w 89962"/>
                <a:gd name="connsiteY1" fmla="*/ 0 h 1245471"/>
                <a:gd name="connsiteX2" fmla="*/ 89963 w 89962"/>
                <a:gd name="connsiteY2" fmla="*/ 1245472 h 1245471"/>
                <a:gd name="connsiteX3" fmla="*/ 0 w 89962"/>
                <a:gd name="connsiteY3" fmla="*/ 1245472 h 1245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962" h="1245471">
                  <a:moveTo>
                    <a:pt x="0" y="0"/>
                  </a:moveTo>
                  <a:lnTo>
                    <a:pt x="89963" y="0"/>
                  </a:lnTo>
                  <a:lnTo>
                    <a:pt x="89963" y="1245472"/>
                  </a:lnTo>
                  <a:lnTo>
                    <a:pt x="0" y="1245472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alpha val="10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  <a:tileRect/>
            </a:gradFill>
            <a:ln w="2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9" name="任意多边形: 形状 113"/>
            <p:cNvSpPr/>
            <p:nvPr/>
          </p:nvSpPr>
          <p:spPr>
            <a:xfrm>
              <a:off x="5930359" y="5925204"/>
              <a:ext cx="89962" cy="932796"/>
            </a:xfrm>
            <a:custGeom>
              <a:avLst/>
              <a:gdLst>
                <a:gd name="connsiteX0" fmla="*/ 0 w 89962"/>
                <a:gd name="connsiteY0" fmla="*/ 0 h 1064902"/>
                <a:gd name="connsiteX1" fmla="*/ 89963 w 89962"/>
                <a:gd name="connsiteY1" fmla="*/ 0 h 1064902"/>
                <a:gd name="connsiteX2" fmla="*/ 89963 w 89962"/>
                <a:gd name="connsiteY2" fmla="*/ 1064902 h 1064902"/>
                <a:gd name="connsiteX3" fmla="*/ 0 w 89962"/>
                <a:gd name="connsiteY3" fmla="*/ 1064902 h 10649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962" h="1064902">
                  <a:moveTo>
                    <a:pt x="0" y="0"/>
                  </a:moveTo>
                  <a:lnTo>
                    <a:pt x="89963" y="0"/>
                  </a:lnTo>
                  <a:lnTo>
                    <a:pt x="89963" y="1064902"/>
                  </a:lnTo>
                  <a:lnTo>
                    <a:pt x="0" y="1064902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alpha val="10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  <a:tileRect/>
            </a:gradFill>
            <a:ln w="2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0" name="任意多边形: 形状 114"/>
            <p:cNvSpPr/>
            <p:nvPr/>
          </p:nvSpPr>
          <p:spPr>
            <a:xfrm>
              <a:off x="6099024" y="5655530"/>
              <a:ext cx="89962" cy="1202470"/>
            </a:xfrm>
            <a:custGeom>
              <a:avLst/>
              <a:gdLst>
                <a:gd name="connsiteX0" fmla="*/ 0 w 89962"/>
                <a:gd name="connsiteY0" fmla="*/ 0 h 1372769"/>
                <a:gd name="connsiteX1" fmla="*/ 89963 w 89962"/>
                <a:gd name="connsiteY1" fmla="*/ 0 h 1372769"/>
                <a:gd name="connsiteX2" fmla="*/ 89963 w 89962"/>
                <a:gd name="connsiteY2" fmla="*/ 1372769 h 1372769"/>
                <a:gd name="connsiteX3" fmla="*/ 0 w 89962"/>
                <a:gd name="connsiteY3" fmla="*/ 1372769 h 13727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962" h="1372769">
                  <a:moveTo>
                    <a:pt x="0" y="0"/>
                  </a:moveTo>
                  <a:lnTo>
                    <a:pt x="89963" y="0"/>
                  </a:lnTo>
                  <a:lnTo>
                    <a:pt x="89963" y="1372769"/>
                  </a:lnTo>
                  <a:lnTo>
                    <a:pt x="0" y="1372769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alpha val="10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  <a:tileRect/>
            </a:gradFill>
            <a:ln w="2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1" name="任意多边形: 形状 115"/>
            <p:cNvSpPr/>
            <p:nvPr/>
          </p:nvSpPr>
          <p:spPr>
            <a:xfrm>
              <a:off x="6267690" y="5459898"/>
              <a:ext cx="89962" cy="1398078"/>
            </a:xfrm>
            <a:custGeom>
              <a:avLst/>
              <a:gdLst>
                <a:gd name="connsiteX0" fmla="*/ 0 w 89962"/>
                <a:gd name="connsiteY0" fmla="*/ 0 h 1596079"/>
                <a:gd name="connsiteX1" fmla="*/ 89963 w 89962"/>
                <a:gd name="connsiteY1" fmla="*/ 0 h 1596079"/>
                <a:gd name="connsiteX2" fmla="*/ 89963 w 89962"/>
                <a:gd name="connsiteY2" fmla="*/ 1596079 h 1596079"/>
                <a:gd name="connsiteX3" fmla="*/ 0 w 89962"/>
                <a:gd name="connsiteY3" fmla="*/ 1596079 h 1596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962" h="1596079">
                  <a:moveTo>
                    <a:pt x="0" y="0"/>
                  </a:moveTo>
                  <a:lnTo>
                    <a:pt x="89963" y="0"/>
                  </a:lnTo>
                  <a:lnTo>
                    <a:pt x="89963" y="1596079"/>
                  </a:lnTo>
                  <a:lnTo>
                    <a:pt x="0" y="1596079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alpha val="10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  <a:tileRect/>
            </a:gradFill>
            <a:ln w="2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2" name="任意多边形: 形状 116"/>
            <p:cNvSpPr/>
            <p:nvPr/>
          </p:nvSpPr>
          <p:spPr>
            <a:xfrm>
              <a:off x="6436384" y="5568828"/>
              <a:ext cx="89962" cy="1289148"/>
            </a:xfrm>
            <a:custGeom>
              <a:avLst/>
              <a:gdLst>
                <a:gd name="connsiteX0" fmla="*/ 0 w 89962"/>
                <a:gd name="connsiteY0" fmla="*/ 0 h 1471722"/>
                <a:gd name="connsiteX1" fmla="*/ 89963 w 89962"/>
                <a:gd name="connsiteY1" fmla="*/ 0 h 1471722"/>
                <a:gd name="connsiteX2" fmla="*/ 89963 w 89962"/>
                <a:gd name="connsiteY2" fmla="*/ 1471723 h 1471722"/>
                <a:gd name="connsiteX3" fmla="*/ 0 w 89962"/>
                <a:gd name="connsiteY3" fmla="*/ 1471723 h 147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962" h="1471722">
                  <a:moveTo>
                    <a:pt x="0" y="0"/>
                  </a:moveTo>
                  <a:lnTo>
                    <a:pt x="89963" y="0"/>
                  </a:lnTo>
                  <a:lnTo>
                    <a:pt x="89963" y="1471723"/>
                  </a:lnTo>
                  <a:lnTo>
                    <a:pt x="0" y="1471723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alpha val="10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  <a:tileRect/>
            </a:gradFill>
            <a:ln w="2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3" name="任意多边形: 形状 117"/>
            <p:cNvSpPr/>
            <p:nvPr/>
          </p:nvSpPr>
          <p:spPr>
            <a:xfrm>
              <a:off x="6605050" y="5716742"/>
              <a:ext cx="89962" cy="1141234"/>
            </a:xfrm>
            <a:custGeom>
              <a:avLst/>
              <a:gdLst>
                <a:gd name="connsiteX0" fmla="*/ 0 w 89962"/>
                <a:gd name="connsiteY0" fmla="*/ 0 h 1302860"/>
                <a:gd name="connsiteX1" fmla="*/ 89963 w 89962"/>
                <a:gd name="connsiteY1" fmla="*/ 0 h 1302860"/>
                <a:gd name="connsiteX2" fmla="*/ 89963 w 89962"/>
                <a:gd name="connsiteY2" fmla="*/ 1302861 h 1302860"/>
                <a:gd name="connsiteX3" fmla="*/ 0 w 89962"/>
                <a:gd name="connsiteY3" fmla="*/ 1302861 h 1302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962" h="1302860">
                  <a:moveTo>
                    <a:pt x="0" y="0"/>
                  </a:moveTo>
                  <a:lnTo>
                    <a:pt x="89963" y="0"/>
                  </a:lnTo>
                  <a:lnTo>
                    <a:pt x="89963" y="1302861"/>
                  </a:lnTo>
                  <a:lnTo>
                    <a:pt x="0" y="1302861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alpha val="10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  <a:tileRect/>
            </a:gradFill>
            <a:ln w="2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4" name="任意多边形: 形状 118"/>
            <p:cNvSpPr/>
            <p:nvPr/>
          </p:nvSpPr>
          <p:spPr>
            <a:xfrm>
              <a:off x="6773716" y="5459898"/>
              <a:ext cx="89962" cy="1398078"/>
            </a:xfrm>
            <a:custGeom>
              <a:avLst/>
              <a:gdLst>
                <a:gd name="connsiteX0" fmla="*/ 0 w 89962"/>
                <a:gd name="connsiteY0" fmla="*/ 0 h 1596079"/>
                <a:gd name="connsiteX1" fmla="*/ 89963 w 89962"/>
                <a:gd name="connsiteY1" fmla="*/ 0 h 1596079"/>
                <a:gd name="connsiteX2" fmla="*/ 89963 w 89962"/>
                <a:gd name="connsiteY2" fmla="*/ 1596079 h 1596079"/>
                <a:gd name="connsiteX3" fmla="*/ 0 w 89962"/>
                <a:gd name="connsiteY3" fmla="*/ 1596079 h 1596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962" h="1596079">
                  <a:moveTo>
                    <a:pt x="0" y="0"/>
                  </a:moveTo>
                  <a:lnTo>
                    <a:pt x="89963" y="0"/>
                  </a:lnTo>
                  <a:lnTo>
                    <a:pt x="89963" y="1596079"/>
                  </a:lnTo>
                  <a:lnTo>
                    <a:pt x="0" y="1596079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alpha val="10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  <a:tileRect/>
            </a:gradFill>
            <a:ln w="2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5" name="任意多边形: 形状 119"/>
            <p:cNvSpPr/>
            <p:nvPr/>
          </p:nvSpPr>
          <p:spPr>
            <a:xfrm>
              <a:off x="6942381" y="5261592"/>
              <a:ext cx="89962" cy="1596384"/>
            </a:xfrm>
            <a:custGeom>
              <a:avLst/>
              <a:gdLst>
                <a:gd name="connsiteX0" fmla="*/ 0 w 89962"/>
                <a:gd name="connsiteY0" fmla="*/ 0 h 1822470"/>
                <a:gd name="connsiteX1" fmla="*/ 89963 w 89962"/>
                <a:gd name="connsiteY1" fmla="*/ 0 h 1822470"/>
                <a:gd name="connsiteX2" fmla="*/ 89963 w 89962"/>
                <a:gd name="connsiteY2" fmla="*/ 1822470 h 1822470"/>
                <a:gd name="connsiteX3" fmla="*/ 0 w 89962"/>
                <a:gd name="connsiteY3" fmla="*/ 1822470 h 1822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962" h="1822470">
                  <a:moveTo>
                    <a:pt x="0" y="0"/>
                  </a:moveTo>
                  <a:lnTo>
                    <a:pt x="89963" y="0"/>
                  </a:lnTo>
                  <a:lnTo>
                    <a:pt x="89963" y="1822470"/>
                  </a:lnTo>
                  <a:lnTo>
                    <a:pt x="0" y="182247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alpha val="10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  <a:tileRect/>
            </a:gradFill>
            <a:ln w="2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6" name="任意多边形: 形状 120"/>
            <p:cNvSpPr/>
            <p:nvPr/>
          </p:nvSpPr>
          <p:spPr>
            <a:xfrm>
              <a:off x="7111075" y="5173443"/>
              <a:ext cx="89962" cy="1684557"/>
            </a:xfrm>
            <a:custGeom>
              <a:avLst/>
              <a:gdLst>
                <a:gd name="connsiteX0" fmla="*/ 0 w 89962"/>
                <a:gd name="connsiteY0" fmla="*/ 0 h 1923131"/>
                <a:gd name="connsiteX1" fmla="*/ 89963 w 89962"/>
                <a:gd name="connsiteY1" fmla="*/ 0 h 1923131"/>
                <a:gd name="connsiteX2" fmla="*/ 89963 w 89962"/>
                <a:gd name="connsiteY2" fmla="*/ 1923132 h 1923131"/>
                <a:gd name="connsiteX3" fmla="*/ 0 w 89962"/>
                <a:gd name="connsiteY3" fmla="*/ 1923132 h 1923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962" h="1923131">
                  <a:moveTo>
                    <a:pt x="0" y="0"/>
                  </a:moveTo>
                  <a:lnTo>
                    <a:pt x="89963" y="0"/>
                  </a:lnTo>
                  <a:lnTo>
                    <a:pt x="89963" y="1923132"/>
                  </a:lnTo>
                  <a:lnTo>
                    <a:pt x="0" y="1923132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alpha val="10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  <a:tileRect/>
            </a:gradFill>
            <a:ln w="2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7" name="任意多边形: 形状 121"/>
            <p:cNvSpPr/>
            <p:nvPr/>
          </p:nvSpPr>
          <p:spPr>
            <a:xfrm>
              <a:off x="7299403" y="5255605"/>
              <a:ext cx="89962" cy="1602370"/>
            </a:xfrm>
            <a:custGeom>
              <a:avLst/>
              <a:gdLst>
                <a:gd name="connsiteX0" fmla="*/ 0 w 89962"/>
                <a:gd name="connsiteY0" fmla="*/ 0 h 1829304"/>
                <a:gd name="connsiteX1" fmla="*/ 89963 w 89962"/>
                <a:gd name="connsiteY1" fmla="*/ 0 h 1829304"/>
                <a:gd name="connsiteX2" fmla="*/ 89963 w 89962"/>
                <a:gd name="connsiteY2" fmla="*/ 1829304 h 1829304"/>
                <a:gd name="connsiteX3" fmla="*/ 0 w 89962"/>
                <a:gd name="connsiteY3" fmla="*/ 1829304 h 1829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962" h="1829304">
                  <a:moveTo>
                    <a:pt x="0" y="0"/>
                  </a:moveTo>
                  <a:lnTo>
                    <a:pt x="89963" y="0"/>
                  </a:lnTo>
                  <a:lnTo>
                    <a:pt x="89963" y="1829304"/>
                  </a:lnTo>
                  <a:lnTo>
                    <a:pt x="0" y="1829304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alpha val="10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  <a:tileRect/>
            </a:gradFill>
            <a:ln w="2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8" name="任意多边形: 形状 122"/>
            <p:cNvSpPr/>
            <p:nvPr/>
          </p:nvSpPr>
          <p:spPr>
            <a:xfrm>
              <a:off x="7468097" y="5043120"/>
              <a:ext cx="89962" cy="1814856"/>
            </a:xfrm>
            <a:custGeom>
              <a:avLst/>
              <a:gdLst>
                <a:gd name="connsiteX0" fmla="*/ 0 w 89962"/>
                <a:gd name="connsiteY0" fmla="*/ 0 h 2071883"/>
                <a:gd name="connsiteX1" fmla="*/ 89963 w 89962"/>
                <a:gd name="connsiteY1" fmla="*/ 0 h 2071883"/>
                <a:gd name="connsiteX2" fmla="*/ 89963 w 89962"/>
                <a:gd name="connsiteY2" fmla="*/ 2071884 h 2071883"/>
                <a:gd name="connsiteX3" fmla="*/ 0 w 89962"/>
                <a:gd name="connsiteY3" fmla="*/ 2071884 h 2071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962" h="2071883">
                  <a:moveTo>
                    <a:pt x="0" y="0"/>
                  </a:moveTo>
                  <a:lnTo>
                    <a:pt x="89963" y="0"/>
                  </a:lnTo>
                  <a:lnTo>
                    <a:pt x="89963" y="2071884"/>
                  </a:lnTo>
                  <a:lnTo>
                    <a:pt x="0" y="2071884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alpha val="10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  <a:tileRect/>
            </a:gradFill>
            <a:ln w="2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9" name="任意多边形: 形状 123"/>
            <p:cNvSpPr/>
            <p:nvPr/>
          </p:nvSpPr>
          <p:spPr>
            <a:xfrm>
              <a:off x="7639619" y="5557836"/>
              <a:ext cx="89962" cy="1300139"/>
            </a:xfrm>
            <a:custGeom>
              <a:avLst/>
              <a:gdLst>
                <a:gd name="connsiteX0" fmla="*/ 0 w 89962"/>
                <a:gd name="connsiteY0" fmla="*/ 0 h 1484270"/>
                <a:gd name="connsiteX1" fmla="*/ 89963 w 89962"/>
                <a:gd name="connsiteY1" fmla="*/ 0 h 1484270"/>
                <a:gd name="connsiteX2" fmla="*/ 89963 w 89962"/>
                <a:gd name="connsiteY2" fmla="*/ 1484270 h 1484270"/>
                <a:gd name="connsiteX3" fmla="*/ 0 w 89962"/>
                <a:gd name="connsiteY3" fmla="*/ 1484270 h 14842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962" h="1484270">
                  <a:moveTo>
                    <a:pt x="0" y="0"/>
                  </a:moveTo>
                  <a:lnTo>
                    <a:pt x="89963" y="0"/>
                  </a:lnTo>
                  <a:lnTo>
                    <a:pt x="89963" y="1484270"/>
                  </a:lnTo>
                  <a:lnTo>
                    <a:pt x="0" y="148427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alpha val="10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  <a:tileRect/>
            </a:gradFill>
            <a:ln w="2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0" name="任意多边形: 形状 124"/>
            <p:cNvSpPr/>
            <p:nvPr/>
          </p:nvSpPr>
          <p:spPr>
            <a:xfrm>
              <a:off x="7808285" y="5373417"/>
              <a:ext cx="89962" cy="1484559"/>
            </a:xfrm>
            <a:custGeom>
              <a:avLst/>
              <a:gdLst>
                <a:gd name="connsiteX0" fmla="*/ 0 w 89962"/>
                <a:gd name="connsiteY0" fmla="*/ 0 h 1694808"/>
                <a:gd name="connsiteX1" fmla="*/ 89963 w 89962"/>
                <a:gd name="connsiteY1" fmla="*/ 0 h 1694808"/>
                <a:gd name="connsiteX2" fmla="*/ 89963 w 89962"/>
                <a:gd name="connsiteY2" fmla="*/ 1694808 h 1694808"/>
                <a:gd name="connsiteX3" fmla="*/ 0 w 89962"/>
                <a:gd name="connsiteY3" fmla="*/ 1694808 h 16948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962" h="1694808">
                  <a:moveTo>
                    <a:pt x="0" y="0"/>
                  </a:moveTo>
                  <a:lnTo>
                    <a:pt x="89963" y="0"/>
                  </a:lnTo>
                  <a:lnTo>
                    <a:pt x="89963" y="1694808"/>
                  </a:lnTo>
                  <a:lnTo>
                    <a:pt x="0" y="1694808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alpha val="10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  <a:tileRect/>
            </a:gradFill>
            <a:ln w="2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1" name="任意多边形: 形状 125"/>
            <p:cNvSpPr/>
            <p:nvPr/>
          </p:nvSpPr>
          <p:spPr>
            <a:xfrm>
              <a:off x="7976979" y="5051019"/>
              <a:ext cx="89962" cy="1806981"/>
            </a:xfrm>
            <a:custGeom>
              <a:avLst/>
              <a:gdLst>
                <a:gd name="connsiteX0" fmla="*/ 0 w 89962"/>
                <a:gd name="connsiteY0" fmla="*/ 0 h 2062893"/>
                <a:gd name="connsiteX1" fmla="*/ 89963 w 89962"/>
                <a:gd name="connsiteY1" fmla="*/ 0 h 2062893"/>
                <a:gd name="connsiteX2" fmla="*/ 89963 w 89962"/>
                <a:gd name="connsiteY2" fmla="*/ 2062893 h 2062893"/>
                <a:gd name="connsiteX3" fmla="*/ 0 w 89962"/>
                <a:gd name="connsiteY3" fmla="*/ 2062893 h 2062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962" h="2062893">
                  <a:moveTo>
                    <a:pt x="0" y="0"/>
                  </a:moveTo>
                  <a:lnTo>
                    <a:pt x="89963" y="0"/>
                  </a:lnTo>
                  <a:lnTo>
                    <a:pt x="89963" y="2062893"/>
                  </a:lnTo>
                  <a:lnTo>
                    <a:pt x="0" y="2062893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alpha val="10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  <a:tileRect/>
            </a:gradFill>
            <a:ln w="2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2" name="任意多边形: 形状 126"/>
            <p:cNvSpPr/>
            <p:nvPr/>
          </p:nvSpPr>
          <p:spPr>
            <a:xfrm>
              <a:off x="8165307" y="4981589"/>
              <a:ext cx="89962" cy="1876387"/>
            </a:xfrm>
            <a:custGeom>
              <a:avLst/>
              <a:gdLst>
                <a:gd name="connsiteX0" fmla="*/ 0 w 89962"/>
                <a:gd name="connsiteY0" fmla="*/ 0 h 2142128"/>
                <a:gd name="connsiteX1" fmla="*/ 89963 w 89962"/>
                <a:gd name="connsiteY1" fmla="*/ 0 h 2142128"/>
                <a:gd name="connsiteX2" fmla="*/ 89963 w 89962"/>
                <a:gd name="connsiteY2" fmla="*/ 2142129 h 2142128"/>
                <a:gd name="connsiteX3" fmla="*/ 0 w 89962"/>
                <a:gd name="connsiteY3" fmla="*/ 2142129 h 2142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962" h="2142128">
                  <a:moveTo>
                    <a:pt x="0" y="0"/>
                  </a:moveTo>
                  <a:lnTo>
                    <a:pt x="89963" y="0"/>
                  </a:lnTo>
                  <a:lnTo>
                    <a:pt x="89963" y="2142129"/>
                  </a:lnTo>
                  <a:lnTo>
                    <a:pt x="0" y="2142129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alpha val="10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  <a:tileRect/>
            </a:gradFill>
            <a:ln w="2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3" name="任意多边形: 形状 127"/>
            <p:cNvSpPr/>
            <p:nvPr/>
          </p:nvSpPr>
          <p:spPr>
            <a:xfrm>
              <a:off x="8350329" y="4376171"/>
              <a:ext cx="89962" cy="2481829"/>
            </a:xfrm>
            <a:custGeom>
              <a:avLst/>
              <a:gdLst>
                <a:gd name="connsiteX0" fmla="*/ 0 w 89962"/>
                <a:gd name="connsiteY0" fmla="*/ 0 h 2833316"/>
                <a:gd name="connsiteX1" fmla="*/ 89963 w 89962"/>
                <a:gd name="connsiteY1" fmla="*/ 0 h 2833316"/>
                <a:gd name="connsiteX2" fmla="*/ 89963 w 89962"/>
                <a:gd name="connsiteY2" fmla="*/ 2833317 h 2833316"/>
                <a:gd name="connsiteX3" fmla="*/ 0 w 89962"/>
                <a:gd name="connsiteY3" fmla="*/ 2833317 h 2833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962" h="2833316">
                  <a:moveTo>
                    <a:pt x="0" y="0"/>
                  </a:moveTo>
                  <a:lnTo>
                    <a:pt x="89963" y="0"/>
                  </a:lnTo>
                  <a:lnTo>
                    <a:pt x="89963" y="2833317"/>
                  </a:lnTo>
                  <a:lnTo>
                    <a:pt x="0" y="2833317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alpha val="10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  <a:tileRect/>
            </a:gradFill>
            <a:ln w="2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4" name="任意多边形: 形状 128"/>
            <p:cNvSpPr/>
            <p:nvPr/>
          </p:nvSpPr>
          <p:spPr>
            <a:xfrm>
              <a:off x="8518995" y="4734264"/>
              <a:ext cx="89962" cy="2123735"/>
            </a:xfrm>
            <a:custGeom>
              <a:avLst/>
              <a:gdLst>
                <a:gd name="connsiteX0" fmla="*/ 0 w 89962"/>
                <a:gd name="connsiteY0" fmla="*/ 0 h 2424507"/>
                <a:gd name="connsiteX1" fmla="*/ 89963 w 89962"/>
                <a:gd name="connsiteY1" fmla="*/ 0 h 2424507"/>
                <a:gd name="connsiteX2" fmla="*/ 89963 w 89962"/>
                <a:gd name="connsiteY2" fmla="*/ 2424508 h 2424507"/>
                <a:gd name="connsiteX3" fmla="*/ 0 w 89962"/>
                <a:gd name="connsiteY3" fmla="*/ 2424508 h 2424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962" h="2424507">
                  <a:moveTo>
                    <a:pt x="0" y="0"/>
                  </a:moveTo>
                  <a:lnTo>
                    <a:pt x="89963" y="0"/>
                  </a:lnTo>
                  <a:lnTo>
                    <a:pt x="89963" y="2424508"/>
                  </a:lnTo>
                  <a:lnTo>
                    <a:pt x="0" y="2424508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alpha val="10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  <a:tileRect/>
            </a:gradFill>
            <a:ln w="2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5" name="任意多边形: 形状 129"/>
            <p:cNvSpPr/>
            <p:nvPr/>
          </p:nvSpPr>
          <p:spPr>
            <a:xfrm>
              <a:off x="8687661" y="5362989"/>
              <a:ext cx="89962" cy="1494985"/>
            </a:xfrm>
            <a:custGeom>
              <a:avLst/>
              <a:gdLst>
                <a:gd name="connsiteX0" fmla="*/ 0 w 89962"/>
                <a:gd name="connsiteY0" fmla="*/ 0 h 1706711"/>
                <a:gd name="connsiteX1" fmla="*/ 89963 w 89962"/>
                <a:gd name="connsiteY1" fmla="*/ 0 h 1706711"/>
                <a:gd name="connsiteX2" fmla="*/ 89963 w 89962"/>
                <a:gd name="connsiteY2" fmla="*/ 1706712 h 1706711"/>
                <a:gd name="connsiteX3" fmla="*/ 0 w 89962"/>
                <a:gd name="connsiteY3" fmla="*/ 1706712 h 1706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962" h="1706711">
                  <a:moveTo>
                    <a:pt x="0" y="0"/>
                  </a:moveTo>
                  <a:lnTo>
                    <a:pt x="89963" y="0"/>
                  </a:lnTo>
                  <a:lnTo>
                    <a:pt x="89963" y="1706712"/>
                  </a:lnTo>
                  <a:lnTo>
                    <a:pt x="0" y="1706712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alpha val="10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  <a:tileRect/>
            </a:gradFill>
            <a:ln w="2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6" name="任意多边形: 形状 130"/>
            <p:cNvSpPr/>
            <p:nvPr/>
          </p:nvSpPr>
          <p:spPr>
            <a:xfrm>
              <a:off x="8856327" y="4953154"/>
              <a:ext cx="89962" cy="1904846"/>
            </a:xfrm>
            <a:custGeom>
              <a:avLst/>
              <a:gdLst>
                <a:gd name="connsiteX0" fmla="*/ 0 w 89962"/>
                <a:gd name="connsiteY0" fmla="*/ 0 h 2174618"/>
                <a:gd name="connsiteX1" fmla="*/ 89963 w 89962"/>
                <a:gd name="connsiteY1" fmla="*/ 0 h 2174618"/>
                <a:gd name="connsiteX2" fmla="*/ 89963 w 89962"/>
                <a:gd name="connsiteY2" fmla="*/ 2174618 h 2174618"/>
                <a:gd name="connsiteX3" fmla="*/ 0 w 89962"/>
                <a:gd name="connsiteY3" fmla="*/ 2174618 h 21746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962" h="2174618">
                  <a:moveTo>
                    <a:pt x="0" y="0"/>
                  </a:moveTo>
                  <a:lnTo>
                    <a:pt x="89963" y="0"/>
                  </a:lnTo>
                  <a:lnTo>
                    <a:pt x="89963" y="2174618"/>
                  </a:lnTo>
                  <a:lnTo>
                    <a:pt x="0" y="2174618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alpha val="10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  <a:tileRect/>
            </a:gradFill>
            <a:ln w="2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7" name="任意多边形: 形状 131"/>
            <p:cNvSpPr/>
            <p:nvPr/>
          </p:nvSpPr>
          <p:spPr>
            <a:xfrm>
              <a:off x="9025020" y="4173276"/>
              <a:ext cx="89962" cy="2684724"/>
            </a:xfrm>
            <a:custGeom>
              <a:avLst/>
              <a:gdLst>
                <a:gd name="connsiteX0" fmla="*/ 0 w 89962"/>
                <a:gd name="connsiteY0" fmla="*/ 0 h 3064945"/>
                <a:gd name="connsiteX1" fmla="*/ 89963 w 89962"/>
                <a:gd name="connsiteY1" fmla="*/ 0 h 3064945"/>
                <a:gd name="connsiteX2" fmla="*/ 89963 w 89962"/>
                <a:gd name="connsiteY2" fmla="*/ 3064945 h 3064945"/>
                <a:gd name="connsiteX3" fmla="*/ 0 w 89962"/>
                <a:gd name="connsiteY3" fmla="*/ 3064945 h 3064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962" h="3064945">
                  <a:moveTo>
                    <a:pt x="0" y="0"/>
                  </a:moveTo>
                  <a:lnTo>
                    <a:pt x="89963" y="0"/>
                  </a:lnTo>
                  <a:lnTo>
                    <a:pt x="89963" y="3064945"/>
                  </a:lnTo>
                  <a:lnTo>
                    <a:pt x="0" y="3064945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alpha val="10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  <a:tileRect/>
            </a:gradFill>
            <a:ln w="2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8" name="任意多边形: 形状 132"/>
            <p:cNvSpPr/>
            <p:nvPr/>
          </p:nvSpPr>
          <p:spPr>
            <a:xfrm>
              <a:off x="9193686" y="4289542"/>
              <a:ext cx="89962" cy="2568433"/>
            </a:xfrm>
            <a:custGeom>
              <a:avLst/>
              <a:gdLst>
                <a:gd name="connsiteX0" fmla="*/ 0 w 89962"/>
                <a:gd name="connsiteY0" fmla="*/ 0 h 2932185"/>
                <a:gd name="connsiteX1" fmla="*/ 89963 w 89962"/>
                <a:gd name="connsiteY1" fmla="*/ 0 h 2932185"/>
                <a:gd name="connsiteX2" fmla="*/ 89963 w 89962"/>
                <a:gd name="connsiteY2" fmla="*/ 2932186 h 2932185"/>
                <a:gd name="connsiteX3" fmla="*/ 0 w 89962"/>
                <a:gd name="connsiteY3" fmla="*/ 2932186 h 2932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962" h="2932185">
                  <a:moveTo>
                    <a:pt x="0" y="0"/>
                  </a:moveTo>
                  <a:lnTo>
                    <a:pt x="89963" y="0"/>
                  </a:lnTo>
                  <a:lnTo>
                    <a:pt x="89963" y="2932186"/>
                  </a:lnTo>
                  <a:lnTo>
                    <a:pt x="0" y="2932186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alpha val="10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  <a:tileRect/>
            </a:gradFill>
            <a:ln w="2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9" name="任意多边形: 形状 133"/>
            <p:cNvSpPr/>
            <p:nvPr/>
          </p:nvSpPr>
          <p:spPr>
            <a:xfrm>
              <a:off x="9362352" y="4702739"/>
              <a:ext cx="89962" cy="2155237"/>
            </a:xfrm>
            <a:custGeom>
              <a:avLst/>
              <a:gdLst>
                <a:gd name="connsiteX0" fmla="*/ 0 w 89962"/>
                <a:gd name="connsiteY0" fmla="*/ 0 h 2460470"/>
                <a:gd name="connsiteX1" fmla="*/ 89963 w 89962"/>
                <a:gd name="connsiteY1" fmla="*/ 0 h 2460470"/>
                <a:gd name="connsiteX2" fmla="*/ 89963 w 89962"/>
                <a:gd name="connsiteY2" fmla="*/ 2460471 h 2460470"/>
                <a:gd name="connsiteX3" fmla="*/ 0 w 89962"/>
                <a:gd name="connsiteY3" fmla="*/ 2460471 h 2460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962" h="2460470">
                  <a:moveTo>
                    <a:pt x="0" y="0"/>
                  </a:moveTo>
                  <a:lnTo>
                    <a:pt x="89963" y="0"/>
                  </a:lnTo>
                  <a:lnTo>
                    <a:pt x="89963" y="2460471"/>
                  </a:lnTo>
                  <a:lnTo>
                    <a:pt x="0" y="2460471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alpha val="10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  <a:tileRect/>
            </a:gradFill>
            <a:ln w="2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0" name="任意多边形: 形状 134"/>
            <p:cNvSpPr/>
            <p:nvPr/>
          </p:nvSpPr>
          <p:spPr>
            <a:xfrm>
              <a:off x="9531018" y="4907154"/>
              <a:ext cx="89962" cy="1950822"/>
            </a:xfrm>
            <a:custGeom>
              <a:avLst/>
              <a:gdLst>
                <a:gd name="connsiteX0" fmla="*/ 0 w 89962"/>
                <a:gd name="connsiteY0" fmla="*/ 0 h 2227105"/>
                <a:gd name="connsiteX1" fmla="*/ 89963 w 89962"/>
                <a:gd name="connsiteY1" fmla="*/ 0 h 2227105"/>
                <a:gd name="connsiteX2" fmla="*/ 89963 w 89962"/>
                <a:gd name="connsiteY2" fmla="*/ 2227106 h 2227105"/>
                <a:gd name="connsiteX3" fmla="*/ 0 w 89962"/>
                <a:gd name="connsiteY3" fmla="*/ 2227106 h 22271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962" h="2227105">
                  <a:moveTo>
                    <a:pt x="0" y="0"/>
                  </a:moveTo>
                  <a:lnTo>
                    <a:pt x="89963" y="0"/>
                  </a:lnTo>
                  <a:lnTo>
                    <a:pt x="89963" y="2227106"/>
                  </a:lnTo>
                  <a:lnTo>
                    <a:pt x="0" y="2227106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alpha val="10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  <a:tileRect/>
            </a:gradFill>
            <a:ln w="2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1" name="任意多边形: 形状 135"/>
            <p:cNvSpPr/>
            <p:nvPr/>
          </p:nvSpPr>
          <p:spPr>
            <a:xfrm>
              <a:off x="9699712" y="4795034"/>
              <a:ext cx="89962" cy="2062941"/>
            </a:xfrm>
            <a:custGeom>
              <a:avLst/>
              <a:gdLst>
                <a:gd name="connsiteX0" fmla="*/ 0 w 89962"/>
                <a:gd name="connsiteY0" fmla="*/ 0 h 2355103"/>
                <a:gd name="connsiteX1" fmla="*/ 89963 w 89962"/>
                <a:gd name="connsiteY1" fmla="*/ 0 h 2355103"/>
                <a:gd name="connsiteX2" fmla="*/ 89963 w 89962"/>
                <a:gd name="connsiteY2" fmla="*/ 2355104 h 2355103"/>
                <a:gd name="connsiteX3" fmla="*/ 0 w 89962"/>
                <a:gd name="connsiteY3" fmla="*/ 2355104 h 2355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962" h="2355103">
                  <a:moveTo>
                    <a:pt x="0" y="0"/>
                  </a:moveTo>
                  <a:lnTo>
                    <a:pt x="89963" y="0"/>
                  </a:lnTo>
                  <a:lnTo>
                    <a:pt x="89963" y="2355104"/>
                  </a:lnTo>
                  <a:lnTo>
                    <a:pt x="0" y="2355104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alpha val="10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  <a:tileRect/>
            </a:gradFill>
            <a:ln w="2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2" name="任意多边形: 形状 136"/>
            <p:cNvSpPr/>
            <p:nvPr/>
          </p:nvSpPr>
          <p:spPr>
            <a:xfrm>
              <a:off x="9868377" y="5094150"/>
              <a:ext cx="89962" cy="1763826"/>
            </a:xfrm>
            <a:custGeom>
              <a:avLst/>
              <a:gdLst>
                <a:gd name="connsiteX0" fmla="*/ 0 w 89962"/>
                <a:gd name="connsiteY0" fmla="*/ 0 h 2013626"/>
                <a:gd name="connsiteX1" fmla="*/ 89963 w 89962"/>
                <a:gd name="connsiteY1" fmla="*/ 0 h 2013626"/>
                <a:gd name="connsiteX2" fmla="*/ 89963 w 89962"/>
                <a:gd name="connsiteY2" fmla="*/ 2013627 h 2013626"/>
                <a:gd name="connsiteX3" fmla="*/ 0 w 89962"/>
                <a:gd name="connsiteY3" fmla="*/ 2013627 h 2013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962" h="2013626">
                  <a:moveTo>
                    <a:pt x="0" y="0"/>
                  </a:moveTo>
                  <a:lnTo>
                    <a:pt x="89963" y="0"/>
                  </a:lnTo>
                  <a:lnTo>
                    <a:pt x="89963" y="2013627"/>
                  </a:lnTo>
                  <a:lnTo>
                    <a:pt x="0" y="2013627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alpha val="10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  <a:tileRect/>
            </a:gradFill>
            <a:ln w="2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3" name="任意多边形: 形状 137"/>
            <p:cNvSpPr/>
            <p:nvPr/>
          </p:nvSpPr>
          <p:spPr>
            <a:xfrm>
              <a:off x="10037043" y="4584216"/>
              <a:ext cx="89962" cy="2273759"/>
            </a:xfrm>
            <a:custGeom>
              <a:avLst/>
              <a:gdLst>
                <a:gd name="connsiteX0" fmla="*/ 0 w 89962"/>
                <a:gd name="connsiteY0" fmla="*/ 0 h 2595778"/>
                <a:gd name="connsiteX1" fmla="*/ 89963 w 89962"/>
                <a:gd name="connsiteY1" fmla="*/ 0 h 2595778"/>
                <a:gd name="connsiteX2" fmla="*/ 89963 w 89962"/>
                <a:gd name="connsiteY2" fmla="*/ 2595779 h 2595778"/>
                <a:gd name="connsiteX3" fmla="*/ 0 w 89962"/>
                <a:gd name="connsiteY3" fmla="*/ 2595779 h 25957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962" h="2595778">
                  <a:moveTo>
                    <a:pt x="0" y="0"/>
                  </a:moveTo>
                  <a:lnTo>
                    <a:pt x="89963" y="0"/>
                  </a:lnTo>
                  <a:lnTo>
                    <a:pt x="89963" y="2595779"/>
                  </a:lnTo>
                  <a:lnTo>
                    <a:pt x="0" y="2595779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alpha val="10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  <a:tileRect/>
            </a:gradFill>
            <a:ln w="2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4" name="任意多边形: 形状 138"/>
            <p:cNvSpPr/>
            <p:nvPr/>
          </p:nvSpPr>
          <p:spPr>
            <a:xfrm>
              <a:off x="10205709" y="4214297"/>
              <a:ext cx="89962" cy="2643679"/>
            </a:xfrm>
            <a:custGeom>
              <a:avLst/>
              <a:gdLst>
                <a:gd name="connsiteX0" fmla="*/ 0 w 89962"/>
                <a:gd name="connsiteY0" fmla="*/ 0 h 3018087"/>
                <a:gd name="connsiteX1" fmla="*/ 89963 w 89962"/>
                <a:gd name="connsiteY1" fmla="*/ 0 h 3018087"/>
                <a:gd name="connsiteX2" fmla="*/ 89963 w 89962"/>
                <a:gd name="connsiteY2" fmla="*/ 3018087 h 3018087"/>
                <a:gd name="connsiteX3" fmla="*/ 0 w 89962"/>
                <a:gd name="connsiteY3" fmla="*/ 3018087 h 3018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962" h="3018087">
                  <a:moveTo>
                    <a:pt x="0" y="0"/>
                  </a:moveTo>
                  <a:lnTo>
                    <a:pt x="89963" y="0"/>
                  </a:lnTo>
                  <a:lnTo>
                    <a:pt x="89963" y="3018087"/>
                  </a:lnTo>
                  <a:lnTo>
                    <a:pt x="0" y="3018087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alpha val="10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  <a:tileRect/>
            </a:gradFill>
            <a:ln w="2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5" name="任意多边形: 形状 139"/>
            <p:cNvSpPr/>
            <p:nvPr/>
          </p:nvSpPr>
          <p:spPr>
            <a:xfrm>
              <a:off x="10374403" y="4420307"/>
              <a:ext cx="89962" cy="2437693"/>
            </a:xfrm>
            <a:custGeom>
              <a:avLst/>
              <a:gdLst>
                <a:gd name="connsiteX0" fmla="*/ 0 w 89962"/>
                <a:gd name="connsiteY0" fmla="*/ 0 h 2782929"/>
                <a:gd name="connsiteX1" fmla="*/ 89963 w 89962"/>
                <a:gd name="connsiteY1" fmla="*/ 0 h 2782929"/>
                <a:gd name="connsiteX2" fmla="*/ 89963 w 89962"/>
                <a:gd name="connsiteY2" fmla="*/ 2782930 h 2782929"/>
                <a:gd name="connsiteX3" fmla="*/ 0 w 89962"/>
                <a:gd name="connsiteY3" fmla="*/ 2782930 h 27829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962" h="2782929">
                  <a:moveTo>
                    <a:pt x="0" y="0"/>
                  </a:moveTo>
                  <a:lnTo>
                    <a:pt x="89963" y="0"/>
                  </a:lnTo>
                  <a:lnTo>
                    <a:pt x="89963" y="2782930"/>
                  </a:lnTo>
                  <a:lnTo>
                    <a:pt x="0" y="278293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alpha val="10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  <a:tileRect/>
            </a:gradFill>
            <a:ln w="2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6" name="任意多边形: 形状 140"/>
            <p:cNvSpPr/>
            <p:nvPr/>
          </p:nvSpPr>
          <p:spPr>
            <a:xfrm>
              <a:off x="10543069" y="4699991"/>
              <a:ext cx="89962" cy="2157985"/>
            </a:xfrm>
            <a:custGeom>
              <a:avLst/>
              <a:gdLst>
                <a:gd name="connsiteX0" fmla="*/ 0 w 89962"/>
                <a:gd name="connsiteY0" fmla="*/ 0 h 2463607"/>
                <a:gd name="connsiteX1" fmla="*/ 89963 w 89962"/>
                <a:gd name="connsiteY1" fmla="*/ 0 h 2463607"/>
                <a:gd name="connsiteX2" fmla="*/ 89963 w 89962"/>
                <a:gd name="connsiteY2" fmla="*/ 2463608 h 2463607"/>
                <a:gd name="connsiteX3" fmla="*/ 0 w 89962"/>
                <a:gd name="connsiteY3" fmla="*/ 2463608 h 2463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962" h="2463607">
                  <a:moveTo>
                    <a:pt x="0" y="0"/>
                  </a:moveTo>
                  <a:lnTo>
                    <a:pt x="89963" y="0"/>
                  </a:lnTo>
                  <a:lnTo>
                    <a:pt x="89963" y="2463608"/>
                  </a:lnTo>
                  <a:lnTo>
                    <a:pt x="0" y="2463608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alpha val="10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  <a:tileRect/>
            </a:gradFill>
            <a:ln w="2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7" name="任意多边形: 形状 141"/>
            <p:cNvSpPr/>
            <p:nvPr/>
          </p:nvSpPr>
          <p:spPr>
            <a:xfrm>
              <a:off x="10711734" y="4214297"/>
              <a:ext cx="89962" cy="2643679"/>
            </a:xfrm>
            <a:custGeom>
              <a:avLst/>
              <a:gdLst>
                <a:gd name="connsiteX0" fmla="*/ 0 w 89962"/>
                <a:gd name="connsiteY0" fmla="*/ 0 h 3018087"/>
                <a:gd name="connsiteX1" fmla="*/ 89963 w 89962"/>
                <a:gd name="connsiteY1" fmla="*/ 0 h 3018087"/>
                <a:gd name="connsiteX2" fmla="*/ 89963 w 89962"/>
                <a:gd name="connsiteY2" fmla="*/ 3018087 h 3018087"/>
                <a:gd name="connsiteX3" fmla="*/ 0 w 89962"/>
                <a:gd name="connsiteY3" fmla="*/ 3018087 h 3018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962" h="3018087">
                  <a:moveTo>
                    <a:pt x="0" y="0"/>
                  </a:moveTo>
                  <a:lnTo>
                    <a:pt x="89963" y="0"/>
                  </a:lnTo>
                  <a:lnTo>
                    <a:pt x="89963" y="3018087"/>
                  </a:lnTo>
                  <a:lnTo>
                    <a:pt x="0" y="3018087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alpha val="10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  <a:tileRect/>
            </a:gradFill>
            <a:ln w="2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8" name="任意多边形: 形状 142"/>
            <p:cNvSpPr/>
            <p:nvPr/>
          </p:nvSpPr>
          <p:spPr>
            <a:xfrm>
              <a:off x="10880400" y="3839324"/>
              <a:ext cx="89962" cy="3018676"/>
            </a:xfrm>
            <a:custGeom>
              <a:avLst/>
              <a:gdLst>
                <a:gd name="connsiteX0" fmla="*/ 0 w 89962"/>
                <a:gd name="connsiteY0" fmla="*/ 0 h 3446193"/>
                <a:gd name="connsiteX1" fmla="*/ 89963 w 89962"/>
                <a:gd name="connsiteY1" fmla="*/ 0 h 3446193"/>
                <a:gd name="connsiteX2" fmla="*/ 89963 w 89962"/>
                <a:gd name="connsiteY2" fmla="*/ 3446194 h 3446193"/>
                <a:gd name="connsiteX3" fmla="*/ 0 w 89962"/>
                <a:gd name="connsiteY3" fmla="*/ 3446194 h 3446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962" h="3446193">
                  <a:moveTo>
                    <a:pt x="0" y="0"/>
                  </a:moveTo>
                  <a:lnTo>
                    <a:pt x="89963" y="0"/>
                  </a:lnTo>
                  <a:lnTo>
                    <a:pt x="89963" y="3446194"/>
                  </a:lnTo>
                  <a:lnTo>
                    <a:pt x="0" y="3446194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alpha val="10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  <a:tileRect/>
            </a:gradFill>
            <a:ln w="2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9" name="任意多边形: 形状 143"/>
            <p:cNvSpPr/>
            <p:nvPr/>
          </p:nvSpPr>
          <p:spPr>
            <a:xfrm>
              <a:off x="11049094" y="4042708"/>
              <a:ext cx="89962" cy="2815292"/>
            </a:xfrm>
            <a:custGeom>
              <a:avLst/>
              <a:gdLst>
                <a:gd name="connsiteX0" fmla="*/ 0 w 89962"/>
                <a:gd name="connsiteY0" fmla="*/ 0 h 3214005"/>
                <a:gd name="connsiteX1" fmla="*/ 89963 w 89962"/>
                <a:gd name="connsiteY1" fmla="*/ 0 h 3214005"/>
                <a:gd name="connsiteX2" fmla="*/ 89963 w 89962"/>
                <a:gd name="connsiteY2" fmla="*/ 3214005 h 3214005"/>
                <a:gd name="connsiteX3" fmla="*/ 0 w 89962"/>
                <a:gd name="connsiteY3" fmla="*/ 3214005 h 3214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962" h="3214005">
                  <a:moveTo>
                    <a:pt x="0" y="0"/>
                  </a:moveTo>
                  <a:lnTo>
                    <a:pt x="89963" y="0"/>
                  </a:lnTo>
                  <a:lnTo>
                    <a:pt x="89963" y="3214005"/>
                  </a:lnTo>
                  <a:lnTo>
                    <a:pt x="0" y="3214005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alpha val="10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  <a:tileRect/>
            </a:gradFill>
            <a:ln w="2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0" name="任意多边形: 形状 144"/>
            <p:cNvSpPr/>
            <p:nvPr/>
          </p:nvSpPr>
          <p:spPr>
            <a:xfrm>
              <a:off x="11237450" y="3696783"/>
              <a:ext cx="89962" cy="3161217"/>
            </a:xfrm>
            <a:custGeom>
              <a:avLst/>
              <a:gdLst>
                <a:gd name="connsiteX0" fmla="*/ 0 w 89962"/>
                <a:gd name="connsiteY0" fmla="*/ 0 h 3608921"/>
                <a:gd name="connsiteX1" fmla="*/ 89963 w 89962"/>
                <a:gd name="connsiteY1" fmla="*/ 0 h 3608921"/>
                <a:gd name="connsiteX2" fmla="*/ 89963 w 89962"/>
                <a:gd name="connsiteY2" fmla="*/ 3608922 h 3608921"/>
                <a:gd name="connsiteX3" fmla="*/ 0 w 89962"/>
                <a:gd name="connsiteY3" fmla="*/ 3608922 h 3608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962" h="3608921">
                  <a:moveTo>
                    <a:pt x="0" y="0"/>
                  </a:moveTo>
                  <a:lnTo>
                    <a:pt x="89963" y="0"/>
                  </a:lnTo>
                  <a:lnTo>
                    <a:pt x="89963" y="3608922"/>
                  </a:lnTo>
                  <a:lnTo>
                    <a:pt x="0" y="3608922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alpha val="10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  <a:tileRect/>
            </a:gradFill>
            <a:ln w="2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1" name="任意多边形: 形状 145"/>
            <p:cNvSpPr/>
            <p:nvPr/>
          </p:nvSpPr>
          <p:spPr>
            <a:xfrm>
              <a:off x="11406115" y="3434738"/>
              <a:ext cx="89962" cy="3423237"/>
            </a:xfrm>
            <a:custGeom>
              <a:avLst/>
              <a:gdLst>
                <a:gd name="connsiteX0" fmla="*/ 0 w 89962"/>
                <a:gd name="connsiteY0" fmla="*/ 0 h 3908049"/>
                <a:gd name="connsiteX1" fmla="*/ 89962 w 89962"/>
                <a:gd name="connsiteY1" fmla="*/ 0 h 3908049"/>
                <a:gd name="connsiteX2" fmla="*/ 89962 w 89962"/>
                <a:gd name="connsiteY2" fmla="*/ 3908050 h 3908049"/>
                <a:gd name="connsiteX3" fmla="*/ -1 w 89962"/>
                <a:gd name="connsiteY3" fmla="*/ 3908050 h 3908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962" h="3908049">
                  <a:moveTo>
                    <a:pt x="0" y="0"/>
                  </a:moveTo>
                  <a:lnTo>
                    <a:pt x="89962" y="0"/>
                  </a:lnTo>
                  <a:lnTo>
                    <a:pt x="89962" y="3908050"/>
                  </a:lnTo>
                  <a:lnTo>
                    <a:pt x="-1" y="390805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alpha val="10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  <a:tileRect/>
            </a:gradFill>
            <a:ln w="2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2" name="任意多边形: 形状 146"/>
            <p:cNvSpPr/>
            <p:nvPr/>
          </p:nvSpPr>
          <p:spPr>
            <a:xfrm>
              <a:off x="11577638" y="4293026"/>
              <a:ext cx="89962" cy="2564974"/>
            </a:xfrm>
            <a:custGeom>
              <a:avLst/>
              <a:gdLst>
                <a:gd name="connsiteX0" fmla="*/ 0 w 89962"/>
                <a:gd name="connsiteY0" fmla="*/ 0 h 2928236"/>
                <a:gd name="connsiteX1" fmla="*/ 89963 w 89962"/>
                <a:gd name="connsiteY1" fmla="*/ 0 h 2928236"/>
                <a:gd name="connsiteX2" fmla="*/ 89963 w 89962"/>
                <a:gd name="connsiteY2" fmla="*/ 2928237 h 2928236"/>
                <a:gd name="connsiteX3" fmla="*/ 0 w 89962"/>
                <a:gd name="connsiteY3" fmla="*/ 2928237 h 292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962" h="2928236">
                  <a:moveTo>
                    <a:pt x="0" y="0"/>
                  </a:moveTo>
                  <a:lnTo>
                    <a:pt x="89963" y="0"/>
                  </a:lnTo>
                  <a:lnTo>
                    <a:pt x="89963" y="2928237"/>
                  </a:lnTo>
                  <a:lnTo>
                    <a:pt x="0" y="2928237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alpha val="10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  <a:tileRect/>
            </a:gradFill>
            <a:ln w="2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3" name="任意多边形: 形状 147"/>
            <p:cNvSpPr/>
            <p:nvPr/>
          </p:nvSpPr>
          <p:spPr>
            <a:xfrm>
              <a:off x="11746304" y="3929191"/>
              <a:ext cx="89962" cy="2928785"/>
            </a:xfrm>
            <a:custGeom>
              <a:avLst/>
              <a:gdLst>
                <a:gd name="connsiteX0" fmla="*/ 0 w 89962"/>
                <a:gd name="connsiteY0" fmla="*/ 0 h 3343571"/>
                <a:gd name="connsiteX1" fmla="*/ 89963 w 89962"/>
                <a:gd name="connsiteY1" fmla="*/ 0 h 3343571"/>
                <a:gd name="connsiteX2" fmla="*/ 89963 w 89962"/>
                <a:gd name="connsiteY2" fmla="*/ 3343571 h 3343571"/>
                <a:gd name="connsiteX3" fmla="*/ 0 w 89962"/>
                <a:gd name="connsiteY3" fmla="*/ 3343571 h 3343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962" h="3343571">
                  <a:moveTo>
                    <a:pt x="0" y="0"/>
                  </a:moveTo>
                  <a:lnTo>
                    <a:pt x="89963" y="0"/>
                  </a:lnTo>
                  <a:lnTo>
                    <a:pt x="89963" y="3343571"/>
                  </a:lnTo>
                  <a:lnTo>
                    <a:pt x="0" y="3343571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alpha val="10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  <a:tileRect/>
            </a:gradFill>
            <a:ln w="2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4" name="任意多边形: 形状 148"/>
            <p:cNvSpPr/>
            <p:nvPr/>
          </p:nvSpPr>
          <p:spPr>
            <a:xfrm>
              <a:off x="11914998" y="3293130"/>
              <a:ext cx="89962" cy="3564845"/>
            </a:xfrm>
            <a:custGeom>
              <a:avLst/>
              <a:gdLst>
                <a:gd name="connsiteX0" fmla="*/ 0 w 89962"/>
                <a:gd name="connsiteY0" fmla="*/ 0 h 4069713"/>
                <a:gd name="connsiteX1" fmla="*/ 89963 w 89962"/>
                <a:gd name="connsiteY1" fmla="*/ 0 h 4069713"/>
                <a:gd name="connsiteX2" fmla="*/ 89963 w 89962"/>
                <a:gd name="connsiteY2" fmla="*/ 4069714 h 4069713"/>
                <a:gd name="connsiteX3" fmla="*/ 0 w 89962"/>
                <a:gd name="connsiteY3" fmla="*/ 4069714 h 4069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962" h="4069713">
                  <a:moveTo>
                    <a:pt x="0" y="0"/>
                  </a:moveTo>
                  <a:lnTo>
                    <a:pt x="89963" y="0"/>
                  </a:lnTo>
                  <a:lnTo>
                    <a:pt x="89963" y="4069714"/>
                  </a:lnTo>
                  <a:lnTo>
                    <a:pt x="0" y="4069714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alpha val="10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  <a:tileRect/>
            </a:gradFill>
            <a:ln w="2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5" name="任意多边形: 形状 149"/>
            <p:cNvSpPr/>
            <p:nvPr/>
          </p:nvSpPr>
          <p:spPr>
            <a:xfrm>
              <a:off x="12103353" y="3156183"/>
              <a:ext cx="89962" cy="3701792"/>
            </a:xfrm>
            <a:custGeom>
              <a:avLst/>
              <a:gdLst>
                <a:gd name="connsiteX0" fmla="*/ 0 w 89962"/>
                <a:gd name="connsiteY0" fmla="*/ 0 h 4226055"/>
                <a:gd name="connsiteX1" fmla="*/ 89963 w 89962"/>
                <a:gd name="connsiteY1" fmla="*/ 0 h 4226055"/>
                <a:gd name="connsiteX2" fmla="*/ 89963 w 89962"/>
                <a:gd name="connsiteY2" fmla="*/ 4226056 h 4226055"/>
                <a:gd name="connsiteX3" fmla="*/ 0 w 89962"/>
                <a:gd name="connsiteY3" fmla="*/ 4226056 h 4226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962" h="4226055">
                  <a:moveTo>
                    <a:pt x="0" y="0"/>
                  </a:moveTo>
                  <a:lnTo>
                    <a:pt x="89963" y="0"/>
                  </a:lnTo>
                  <a:lnTo>
                    <a:pt x="89963" y="4226056"/>
                  </a:lnTo>
                  <a:lnTo>
                    <a:pt x="0" y="4226056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alpha val="10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  <a:tileRect/>
            </a:gradFill>
            <a:ln w="2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2107565" y="2778760"/>
            <a:ext cx="7605395" cy="4337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500000000000000" charset="-122"/>
                <a:sym typeface="Noto Sans SC" panose="020B0500000000000000" charset="-122"/>
              </a:rPr>
              <a:t>线索挖掘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/>
          <p:cNvSpPr/>
          <p:nvPr/>
        </p:nvSpPr>
        <p:spPr>
          <a:xfrm>
            <a:off x="508000" y="431800"/>
            <a:ext cx="76200" cy="381000"/>
          </a:xfrm>
          <a:prstGeom prst="roundRect">
            <a:avLst>
              <a:gd name="adj" fmla="val 0"/>
            </a:avLst>
          </a:prstGeom>
          <a:solidFill>
            <a:srgbClr val="00308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3"/>
          <p:cNvSpPr/>
          <p:nvPr/>
        </p:nvSpPr>
        <p:spPr>
          <a:xfrm>
            <a:off x="711200" y="368300"/>
            <a:ext cx="10414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08000"/>
              </a:lnSpc>
              <a:defRPr/>
            </a:pPr>
            <a:r>
              <a:rPr lang="zh-CN" altLang="en-US" sz="21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环节一：线索挖掘（主力招商方式不同，线索挖掘的路径不同）</a:t>
            </a:r>
            <a:endParaRPr lang="zh-CN" altLang="en-US" sz="21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1" name="Connector 5"/>
          <p:cNvCxnSpPr/>
          <p:nvPr/>
        </p:nvCxnSpPr>
        <p:spPr>
          <a:xfrm rot="21596094">
            <a:off x="508000" y="965200"/>
            <a:ext cx="1117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" name="Rectangle: Rounded Corners 127"/>
          <p:cNvSpPr/>
          <p:nvPr/>
        </p:nvSpPr>
        <p:spPr bwMode="auto">
          <a:xfrm>
            <a:off x="760919" y="1356138"/>
            <a:ext cx="1914963" cy="501679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rgbClr val="003087">
                  <a:lumMod val="86000"/>
                  <a:lumOff val="14000"/>
                </a:srgbClr>
              </a:gs>
              <a:gs pos="51000">
                <a:srgbClr val="0070C0"/>
              </a:gs>
              <a:gs pos="0">
                <a:srgbClr val="003087">
                  <a:lumMod val="86000"/>
                  <a:lumOff val="14000"/>
                </a:srgbClr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>
            <a:outerShdw blurRad="203200" sx="102000" sy="102000" algn="ctr" rotWithShape="0">
              <a:prstClr val="black">
                <a:alpha val="25000"/>
              </a:prstClr>
            </a:outerShdw>
          </a:effectLst>
        </p:spPr>
        <p:txBody>
          <a:bodyPr vertOverflow="overflow" horzOverflow="overflow" vert="horz" wrap="square" lIns="45720" tIns="22860" rIns="45720" bIns="2286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挖掘规则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grpSp>
        <p:nvGrpSpPr>
          <p:cNvPr id="45" name="组合 44"/>
          <p:cNvGrpSpPr/>
          <p:nvPr/>
        </p:nvGrpSpPr>
        <p:grpSpPr>
          <a:xfrm>
            <a:off x="3765988" y="1291476"/>
            <a:ext cx="4951666" cy="449057"/>
            <a:chOff x="632962" y="1382784"/>
            <a:chExt cx="4098192" cy="460913"/>
          </a:xfrm>
        </p:grpSpPr>
        <p:sp>
          <p:nvSpPr>
            <p:cNvPr id="46" name="平行四边形 45"/>
            <p:cNvSpPr/>
            <p:nvPr/>
          </p:nvSpPr>
          <p:spPr>
            <a:xfrm>
              <a:off x="632962" y="1706616"/>
              <a:ext cx="3439513" cy="137081"/>
            </a:xfrm>
            <a:prstGeom prst="parallelogram">
              <a:avLst>
                <a:gd name="adj" fmla="val 38188"/>
              </a:avLst>
            </a:prstGeom>
            <a:gradFill>
              <a:gsLst>
                <a:gs pos="100000">
                  <a:srgbClr val="0563C1"/>
                </a:gs>
                <a:gs pos="24000">
                  <a:srgbClr val="B6DFF6">
                    <a:alpha val="0"/>
                  </a:srgbClr>
                </a:gs>
              </a:gsLst>
              <a:lin ang="10800000" scaled="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360000"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zh-CN" altLang="en-US">
                <a:solidFill>
                  <a:srgbClr val="000000"/>
                </a:solidFill>
                <a:latin typeface="Arial" panose="020B0604020202020204"/>
                <a:ea typeface="微软雅黑" panose="020B0503020204020204" charset="-122"/>
              </a:endParaRPr>
            </a:p>
          </p:txBody>
        </p:sp>
        <p:sp>
          <p:nvSpPr>
            <p:cNvPr id="47" name="圆角矩形 20"/>
            <p:cNvSpPr/>
            <p:nvPr/>
          </p:nvSpPr>
          <p:spPr>
            <a:xfrm>
              <a:off x="821879" y="1382784"/>
              <a:ext cx="3909275" cy="392371"/>
            </a:xfrm>
            <a:prstGeom prst="roundRect">
              <a:avLst>
                <a:gd name="adj" fmla="val 50000"/>
              </a:avLst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27000" dist="127000" dir="2700000" algn="tl" rotWithShape="0">
                <a:srgbClr val="2E95D4">
                  <a:alpha val="10000"/>
                </a:srgbClr>
              </a:outerShdw>
            </a:effectLst>
          </p:spPr>
          <p:txBody>
            <a:bodyPr vert="horz" wrap="square" lIns="360000" numCol="1" spcCol="0" rtlCol="0" fromWordArt="0" anchor="ctr" anchorCtr="0" forceAA="0" compatLnSpc="1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微软雅黑" panose="020B0503020204020204" charset="-122"/>
                  <a:cs typeface="+mn-cs"/>
                  <a:sym typeface="+mn-ea"/>
                </a:rPr>
                <a:t>核心逻辑</a:t>
              </a:r>
              <a:endPara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  <a:sym typeface="+mn-ea"/>
              </a:endParaRPr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760919" y="2019093"/>
            <a:ext cx="10811973" cy="764825"/>
            <a:chOff x="760919" y="2019093"/>
            <a:chExt cx="10811973" cy="764825"/>
          </a:xfrm>
        </p:grpSpPr>
        <p:sp>
          <p:nvSpPr>
            <p:cNvPr id="17" name="AutoShape 17"/>
            <p:cNvSpPr/>
            <p:nvPr/>
          </p:nvSpPr>
          <p:spPr>
            <a:xfrm flipH="1">
              <a:off x="760919" y="2059136"/>
              <a:ext cx="2840980" cy="684739"/>
            </a:xfrm>
            <a:prstGeom prst="roundRect">
              <a:avLst>
                <a:gd name="adj" fmla="val 5555"/>
              </a:avLst>
            </a:prstGeom>
            <a:gradFill>
              <a:gsLst>
                <a:gs pos="100000">
                  <a:srgbClr val="003087"/>
                </a:gs>
                <a:gs pos="14000">
                  <a:srgbClr val="F3F7F8">
                    <a:alpha val="33000"/>
                  </a:srgbClr>
                </a:gs>
              </a:gsLst>
              <a:lin ang="0" scaled="0"/>
            </a:gra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indent="457200">
                <a:defRPr/>
              </a:pPr>
              <a:r>
                <a:rPr lang="zh-CN" altLang="en-US" sz="1800" b="1" dirty="0">
                  <a:solidFill>
                    <a:srgbClr val="FFFFFF"/>
                  </a:solidFill>
                  <a:effectLst>
                    <a:glow rad="127000">
                      <a:schemeClr val="tx1"/>
                    </a:glow>
                  </a:effectLst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链主招商</a:t>
              </a:r>
              <a:endParaRPr lang="zh-CN" altLang="en-US" sz="1800" b="1" dirty="0">
                <a:solidFill>
                  <a:srgbClr val="FFFFFF"/>
                </a:solidFill>
                <a:effectLst>
                  <a:glow rad="127000">
                    <a:schemeClr val="tx1"/>
                  </a:glo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10" name="AutoShape 20"/>
            <p:cNvSpPr/>
            <p:nvPr/>
          </p:nvSpPr>
          <p:spPr>
            <a:xfrm>
              <a:off x="3642200" y="2019093"/>
              <a:ext cx="7930692" cy="764825"/>
            </a:xfrm>
            <a:prstGeom prst="roundRect">
              <a:avLst>
                <a:gd name="adj" fmla="val 5555"/>
              </a:avLst>
            </a:prstGeom>
            <a:gradFill>
              <a:gsLst>
                <a:gs pos="0">
                  <a:srgbClr val="F3F7F8"/>
                </a:gs>
                <a:gs pos="100000">
                  <a:srgbClr val="F3F7F8">
                    <a:alpha val="33000"/>
                  </a:srgbClr>
                </a:gs>
              </a:gsLst>
              <a:lin ang="0" scaled="0"/>
            </a:gradFill>
            <a:ln w="19050" cap="flat" cmpd="sng" algn="ctr">
              <a:solidFill>
                <a:sysClr val="window" lastClr="FFFFFF"/>
              </a:solidFill>
              <a:prstDash val="solid"/>
              <a:miter lim="800000"/>
            </a:ln>
            <a:effectLst>
              <a:outerShdw blurRad="355600" sx="102000" sy="102000" algn="ctr" rotWithShape="0">
                <a:srgbClr val="D3F3FE">
                  <a:alpha val="44000"/>
                </a:srgbClr>
              </a:outerShdw>
            </a:effectLst>
          </p:spPr>
          <p:txBody>
            <a:bodyPr lIns="144000" rIns="144000" rtlCol="0" anchor="ctr"/>
            <a:lstStyle/>
            <a:p>
              <a:pPr>
                <a:lnSpc>
                  <a:spcPct val="114000"/>
                </a:lnSpc>
              </a:pPr>
              <a:r>
                <a:rPr lang="zh-CN" altLang="en-US" sz="1200" kern="1200" dirty="0">
                  <a:solidFill>
                    <a:srgbClr val="5C6674"/>
                  </a:solidFill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依托产业链链主企业，挖掘其上下游配套、生态伙伴、外溢产能、新增投资诉求，以企引企，线索源头围绕链主企业上下游配套企业</a:t>
              </a:r>
              <a:endParaRPr lang="zh-CN" altLang="en-US" sz="1200" kern="1200" dirty="0">
                <a:solidFill>
                  <a:srgbClr val="5C6674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760919" y="2855735"/>
            <a:ext cx="10811973" cy="764825"/>
            <a:chOff x="760919" y="2855735"/>
            <a:chExt cx="10811973" cy="764825"/>
          </a:xfrm>
        </p:grpSpPr>
        <p:sp>
          <p:nvSpPr>
            <p:cNvPr id="31" name="AutoShape 31"/>
            <p:cNvSpPr/>
            <p:nvPr/>
          </p:nvSpPr>
          <p:spPr>
            <a:xfrm flipH="1">
              <a:off x="760919" y="2895778"/>
              <a:ext cx="2840980" cy="684739"/>
            </a:xfrm>
            <a:prstGeom prst="roundRect">
              <a:avLst>
                <a:gd name="adj" fmla="val 5555"/>
              </a:avLst>
            </a:prstGeom>
            <a:gradFill>
              <a:gsLst>
                <a:gs pos="100000">
                  <a:srgbClr val="003087"/>
                </a:gs>
                <a:gs pos="14000">
                  <a:srgbClr val="F3F7F8">
                    <a:alpha val="33000"/>
                  </a:srgbClr>
                </a:gs>
              </a:gsLst>
              <a:lin ang="0" scaled="0"/>
            </a:gra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>
              <a:noAutofit/>
            </a:bodyPr>
            <a:lstStyle/>
            <a:p>
              <a:pPr indent="457200">
                <a:defRPr/>
              </a:pPr>
              <a:r>
                <a:rPr lang="zh-CN" altLang="en-US" sz="1800" b="1" dirty="0">
                  <a:solidFill>
                    <a:srgbClr val="FFFFFF"/>
                  </a:solidFill>
                  <a:effectLst>
                    <a:glow rad="127000">
                      <a:schemeClr val="tx1"/>
                    </a:glow>
                  </a:effectLst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科技招商</a:t>
              </a:r>
              <a:endParaRPr lang="zh-CN" altLang="en-US" sz="1800" b="1" dirty="0">
                <a:solidFill>
                  <a:srgbClr val="FFFFFF"/>
                </a:solidFill>
                <a:effectLst>
                  <a:glow rad="127000">
                    <a:schemeClr val="tx1"/>
                  </a:glo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13" name="AutoShape 34"/>
            <p:cNvSpPr/>
            <p:nvPr/>
          </p:nvSpPr>
          <p:spPr>
            <a:xfrm>
              <a:off x="3642200" y="2855735"/>
              <a:ext cx="7930692" cy="764825"/>
            </a:xfrm>
            <a:prstGeom prst="roundRect">
              <a:avLst>
                <a:gd name="adj" fmla="val 5555"/>
              </a:avLst>
            </a:prstGeom>
            <a:gradFill>
              <a:gsLst>
                <a:gs pos="0">
                  <a:srgbClr val="F3F7F8"/>
                </a:gs>
                <a:gs pos="100000">
                  <a:srgbClr val="F3F7F8">
                    <a:alpha val="33000"/>
                  </a:srgbClr>
                </a:gs>
              </a:gsLst>
              <a:lin ang="0" scaled="0"/>
            </a:gradFill>
            <a:ln w="19050" cap="flat" cmpd="sng" algn="ctr">
              <a:solidFill>
                <a:sysClr val="window" lastClr="FFFFFF"/>
              </a:solidFill>
              <a:prstDash val="solid"/>
              <a:miter lim="800000"/>
            </a:ln>
            <a:effectLst>
              <a:outerShdw blurRad="355600" sx="102000" sy="102000" algn="ctr" rotWithShape="0">
                <a:srgbClr val="D3F3FE">
                  <a:alpha val="44000"/>
                </a:srgbClr>
              </a:outerShdw>
            </a:effectLst>
          </p:spPr>
          <p:txBody>
            <a:bodyPr lIns="144000" rIns="144000" rtlCol="0" anchor="ctr"/>
            <a:lstStyle/>
            <a:p>
              <a:pPr>
                <a:lnSpc>
                  <a:spcPct val="114000"/>
                </a:lnSpc>
              </a:pPr>
              <a:r>
                <a:rPr lang="zh-CN" altLang="en-US" sz="1200" kern="1200" dirty="0">
                  <a:solidFill>
                    <a:srgbClr val="5C6674"/>
                  </a:solidFill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以技术引项目、以人才引企业，聚焦技术成果转化、科研团队、科创企业、知识产权；可分为成熟科创企业</a:t>
              </a:r>
              <a:r>
                <a:rPr lang="en-US" altLang="zh-CN" sz="1200" kern="1200" dirty="0">
                  <a:solidFill>
                    <a:srgbClr val="5C6674"/>
                  </a:solidFill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/</a:t>
              </a:r>
              <a:r>
                <a:rPr lang="zh-CN" altLang="en-US" sz="1200" kern="1200" dirty="0">
                  <a:solidFill>
                    <a:srgbClr val="5C6674"/>
                  </a:solidFill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人才线索；高校院所源头创新项目等</a:t>
              </a:r>
              <a:endParaRPr lang="zh-CN" altLang="en-US" sz="1200" kern="1200" dirty="0">
                <a:solidFill>
                  <a:srgbClr val="5C6674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</p:grpSp>
      <p:grpSp>
        <p:nvGrpSpPr>
          <p:cNvPr id="40" name="组合 39"/>
          <p:cNvGrpSpPr/>
          <p:nvPr/>
        </p:nvGrpSpPr>
        <p:grpSpPr>
          <a:xfrm>
            <a:off x="760919" y="3761158"/>
            <a:ext cx="10824673" cy="723734"/>
            <a:chOff x="760919" y="3761158"/>
            <a:chExt cx="10824673" cy="723734"/>
          </a:xfrm>
        </p:grpSpPr>
        <p:sp>
          <p:nvSpPr>
            <p:cNvPr id="44" name="AutoShape 44"/>
            <p:cNvSpPr/>
            <p:nvPr/>
          </p:nvSpPr>
          <p:spPr>
            <a:xfrm flipH="1">
              <a:off x="760919" y="3780656"/>
              <a:ext cx="2840980" cy="684739"/>
            </a:xfrm>
            <a:prstGeom prst="roundRect">
              <a:avLst>
                <a:gd name="adj" fmla="val 5555"/>
              </a:avLst>
            </a:prstGeom>
            <a:gradFill>
              <a:gsLst>
                <a:gs pos="100000">
                  <a:srgbClr val="003087"/>
                </a:gs>
                <a:gs pos="14000">
                  <a:srgbClr val="F3F7F8">
                    <a:alpha val="33000"/>
                  </a:srgbClr>
                </a:gs>
              </a:gsLst>
              <a:lin ang="0" scaled="0"/>
            </a:gra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>
              <a:noAutofit/>
            </a:bodyPr>
            <a:lstStyle/>
            <a:p>
              <a:pPr indent="457200">
                <a:defRPr/>
              </a:pPr>
              <a:r>
                <a:rPr lang="zh-CN" altLang="en-US" sz="1800" b="1" dirty="0">
                  <a:solidFill>
                    <a:srgbClr val="FFFFFF"/>
                  </a:solidFill>
                  <a:effectLst>
                    <a:glow rad="127000">
                      <a:schemeClr val="tx1"/>
                    </a:glow>
                  </a:effectLst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资本招商</a:t>
              </a:r>
              <a:endParaRPr lang="zh-CN" altLang="en-US" sz="1800" b="1" dirty="0">
                <a:solidFill>
                  <a:srgbClr val="FFFFFF"/>
                </a:solidFill>
                <a:effectLst>
                  <a:glow rad="127000">
                    <a:schemeClr val="tx1"/>
                  </a:glo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15" name="AutoShape 60"/>
            <p:cNvSpPr/>
            <p:nvPr/>
          </p:nvSpPr>
          <p:spPr>
            <a:xfrm>
              <a:off x="3655535" y="3761158"/>
              <a:ext cx="7930057" cy="723734"/>
            </a:xfrm>
            <a:prstGeom prst="roundRect">
              <a:avLst>
                <a:gd name="adj" fmla="val 5555"/>
              </a:avLst>
            </a:prstGeom>
            <a:gradFill>
              <a:gsLst>
                <a:gs pos="0">
                  <a:srgbClr val="F3F7F8"/>
                </a:gs>
                <a:gs pos="100000">
                  <a:srgbClr val="F3F7F8">
                    <a:alpha val="33000"/>
                  </a:srgbClr>
                </a:gs>
              </a:gsLst>
              <a:lin ang="0" scaled="0"/>
            </a:gradFill>
            <a:ln w="19050" cap="flat" cmpd="sng" algn="ctr">
              <a:solidFill>
                <a:sysClr val="window" lastClr="FFFFFF"/>
              </a:solidFill>
              <a:prstDash val="solid"/>
              <a:miter lim="800000"/>
            </a:ln>
            <a:effectLst>
              <a:outerShdw blurRad="355600" sx="102000" sy="102000" algn="ctr" rotWithShape="0">
                <a:srgbClr val="D3F3FE">
                  <a:alpha val="44000"/>
                </a:srgbClr>
              </a:outerShdw>
            </a:effectLst>
          </p:spPr>
          <p:txBody>
            <a:bodyPr lIns="144000" rIns="144000" rtlCol="0" anchor="ctr"/>
            <a:lstStyle/>
            <a:p>
              <a:pPr>
                <a:lnSpc>
                  <a:spcPct val="114000"/>
                </a:lnSpc>
              </a:pPr>
              <a:r>
                <a:rPr lang="zh-CN" altLang="en-US" sz="1200" kern="1200" dirty="0">
                  <a:solidFill>
                    <a:srgbClr val="5C6674"/>
                  </a:solidFill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以产业基金为纽带，以投带引、投招联动，优先挖掘符合基金赛道、满足返投认定、具备股权融资需求、存在异地扩产</a:t>
              </a:r>
              <a:r>
                <a:rPr lang="en-US" altLang="zh-CN" sz="1200" kern="1200" dirty="0">
                  <a:solidFill>
                    <a:srgbClr val="5C6674"/>
                  </a:solidFill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/</a:t>
              </a:r>
              <a:r>
                <a:rPr lang="zh-CN" altLang="en-US" sz="1200" kern="1200" dirty="0">
                  <a:solidFill>
                    <a:srgbClr val="5C6674"/>
                  </a:solidFill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分拆</a:t>
              </a:r>
              <a:r>
                <a:rPr lang="en-US" altLang="zh-CN" sz="1200" kern="1200" dirty="0">
                  <a:solidFill>
                    <a:srgbClr val="5C6674"/>
                  </a:solidFill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/</a:t>
              </a:r>
              <a:r>
                <a:rPr lang="zh-CN" altLang="en-US" sz="1200" kern="1200" dirty="0">
                  <a:solidFill>
                    <a:srgbClr val="5C6674"/>
                  </a:solidFill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并购重组的项目。可分为成熟产业企业、</a:t>
              </a:r>
              <a:r>
                <a:rPr lang="en-US" altLang="zh-CN" sz="1200" kern="1200" dirty="0">
                  <a:solidFill>
                    <a:srgbClr val="5C6674"/>
                  </a:solidFill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GP/LP</a:t>
              </a:r>
              <a:r>
                <a:rPr lang="zh-CN" altLang="en-US" sz="1200" kern="1200" dirty="0">
                  <a:solidFill>
                    <a:srgbClr val="5C6674"/>
                  </a:solidFill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储备在谈项目、投后裂变项目等类别</a:t>
              </a:r>
              <a:endParaRPr lang="zh-CN" altLang="en-US" sz="1200" kern="1200" dirty="0">
                <a:solidFill>
                  <a:srgbClr val="5C6674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: 圆角 27"/>
          <p:cNvSpPr/>
          <p:nvPr>
            <p:custDataLst>
              <p:tags r:id="rId1"/>
            </p:custDataLst>
          </p:nvPr>
        </p:nvSpPr>
        <p:spPr>
          <a:xfrm>
            <a:off x="0" y="5638800"/>
            <a:ext cx="12192000" cy="1187951"/>
          </a:xfrm>
          <a:prstGeom prst="roundRect">
            <a:avLst>
              <a:gd name="adj" fmla="val 2682"/>
            </a:avLst>
          </a:prstGeom>
          <a:gradFill>
            <a:gsLst>
              <a:gs pos="43000">
                <a:srgbClr val="FFFFFF"/>
              </a:gs>
              <a:gs pos="100000">
                <a:srgbClr val="FFFFFF">
                  <a:alpha val="0"/>
                </a:srgbClr>
              </a:gs>
            </a:gsLst>
            <a:lin ang="5400000" scaled="1"/>
          </a:gradFill>
          <a:ln w="6350" cap="flat" cmpd="sng" algn="ctr">
            <a:noFill/>
            <a:prstDash val="solid"/>
            <a:miter lim="800000"/>
          </a:ln>
          <a:effectLst>
            <a:outerShdw blurRad="457200" dist="38100" dir="5400000" algn="t" rotWithShape="0">
              <a:srgbClr val="4472C4">
                <a:alpha val="20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graphicFrame>
        <p:nvGraphicFramePr>
          <p:cNvPr id="50" name="表格 49"/>
          <p:cNvGraphicFramePr/>
          <p:nvPr>
            <p:custDataLst>
              <p:tags r:id="rId2"/>
            </p:custDataLst>
          </p:nvPr>
        </p:nvGraphicFramePr>
        <p:xfrm>
          <a:off x="584199" y="2373442"/>
          <a:ext cx="11126381" cy="2852104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2343151"/>
                <a:gridCol w="6346162"/>
                <a:gridCol w="2437068"/>
              </a:tblGrid>
              <a:tr h="465428"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zh-CN" altLang="en-US" b="1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线索来源</a:t>
                      </a:r>
                      <a:endParaRPr lang="zh-CN" altLang="en-US" b="1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zh-CN" altLang="en-US" b="1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细分线索</a:t>
                      </a:r>
                      <a:endParaRPr lang="zh-CN" altLang="en-US" b="1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zh-CN" altLang="en-US" b="1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数据入口</a:t>
                      </a:r>
                      <a:endParaRPr lang="zh-CN" altLang="en-US" b="1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</a:tr>
              <a:tr h="1193338">
                <a:tc>
                  <a:txBody>
                    <a:bodyPr/>
                    <a:lstStyle/>
                    <a:p>
                      <a:pPr marL="0" indent="0" eaLnBrk="1" fontAlgn="auto" latinLnBrk="0" hangingPunct="1">
                        <a:lnSpc>
                          <a:spcPct val="130000"/>
                        </a:lnSpc>
                        <a:buNone/>
                      </a:pPr>
                      <a:r>
                        <a:rPr lang="zh-CN" altLang="en-US" sz="1400" b="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链主企业内源线索</a:t>
                      </a:r>
                      <a:endParaRPr lang="en-US" altLang="zh-CN" sz="1400" b="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0" indent="0" eaLnBrk="1" fontAlgn="auto" latinLnBrk="0" hangingPunct="1">
                        <a:lnSpc>
                          <a:spcPct val="130000"/>
                        </a:lnSpc>
                        <a:buNone/>
                      </a:pPr>
                      <a:r>
                        <a:rPr lang="zh-CN" altLang="en-US" sz="1400" b="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（最高优先级）</a:t>
                      </a:r>
                      <a:endParaRPr lang="zh-CN" altLang="en-US" sz="1400" b="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 eaLnBrk="1" fontAlgn="auto" latinLnBrk="0" hangingPunct="1">
                        <a:lnSpc>
                          <a:spcPct val="130000"/>
                        </a:lnSpc>
                        <a:buNone/>
                      </a:pPr>
                      <a:r>
                        <a:rPr lang="zh-CN" altLang="en-US" sz="14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1.链主企业扩产、新建分厂、新项目落地计划等</a:t>
                      </a:r>
                      <a:endParaRPr lang="zh-CN" altLang="en-US" sz="14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0" indent="0" algn="l" eaLnBrk="1" fontAlgn="auto" latinLnBrk="0" hangingPunct="1">
                        <a:lnSpc>
                          <a:spcPct val="130000"/>
                        </a:lnSpc>
                        <a:buNone/>
                      </a:pPr>
                      <a:r>
                        <a:rPr lang="zh-CN" altLang="en-US" sz="14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2.链主供应链痛点：现有供应商供货不稳定，链主主动提出需要引进配套企业清单</a:t>
                      </a:r>
                      <a:endParaRPr lang="zh-CN" altLang="en-US" sz="14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0" indent="0" algn="l" eaLnBrk="1" fontAlgn="auto" latinLnBrk="0" hangingPunct="1">
                        <a:lnSpc>
                          <a:spcPct val="130000"/>
                        </a:lnSpc>
                        <a:buSzTx/>
                        <a:buNone/>
                      </a:pPr>
                      <a:r>
                        <a:rPr lang="en-US" altLang="zh-CN" sz="14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3.</a:t>
                      </a:r>
                      <a:r>
                        <a:rPr lang="zh-CN" altLang="en-US" sz="1400" b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链主公开供应商、分包商、设备商、服务商等供应链企业名录及招投标信息</a:t>
                      </a:r>
                      <a:endParaRPr lang="zh-CN" altLang="en-US" sz="1400" b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eaLnBrk="1" fontAlgn="auto" latinLnBrk="0" hangingPunct="1">
                        <a:lnSpc>
                          <a:spcPct val="130000"/>
                        </a:lnSpc>
                        <a:buNone/>
                      </a:pPr>
                      <a:r>
                        <a:rPr lang="zh-CN" altLang="en-US" sz="14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企业官网、相关新闻专访、现场调研纪要、企业年报等</a:t>
                      </a:r>
                      <a:endParaRPr lang="zh-CN" altLang="en-US" sz="14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</a:tr>
              <a:tr h="1193338">
                <a:tc>
                  <a:txBody>
                    <a:bodyPr/>
                    <a:lstStyle/>
                    <a:p>
                      <a:pPr marL="0" algn="l" eaLnBrk="1" fontAlgn="auto" latinLnBrk="0" hangingPunct="1">
                        <a:lnSpc>
                          <a:spcPct val="130000"/>
                        </a:lnSpc>
                        <a:buSzTx/>
                        <a:buNone/>
                      </a:pPr>
                      <a:r>
                        <a:rPr lang="zh-CN" altLang="en-US" sz="14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链主向外辐射的外源线索</a:t>
                      </a:r>
                      <a:endParaRPr lang="zh-CN" altLang="en-US" sz="14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 eaLnBrk="1" fontAlgn="auto" latinLnBrk="0" hangingPunct="1">
                        <a:lnSpc>
                          <a:spcPct val="130000"/>
                        </a:lnSpc>
                        <a:buSzTx/>
                        <a:buNone/>
                      </a:pPr>
                      <a:r>
                        <a:rPr lang="en-US" altLang="zh-CN" sz="1400" b="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r>
                        <a:rPr lang="zh-CN" altLang="en-US" sz="1400" b="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.链主牵头成立的产业联盟会员单位</a:t>
                      </a:r>
                      <a:endParaRPr lang="zh-CN" altLang="en-US" sz="1400" b="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0" indent="0" algn="l" eaLnBrk="1" fontAlgn="auto" latinLnBrk="0" hangingPunct="1">
                        <a:lnSpc>
                          <a:spcPct val="130000"/>
                        </a:lnSpc>
                        <a:buSzTx/>
                        <a:buNone/>
                      </a:pPr>
                      <a:r>
                        <a:rPr lang="en-US" altLang="zh-CN" sz="1400" b="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2.</a:t>
                      </a:r>
                      <a:r>
                        <a:rPr lang="zh-CN" altLang="en-US" sz="1400" b="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.券商研报、产业白皮书等提到的相关配套企业</a:t>
                      </a:r>
                      <a:endParaRPr lang="zh-CN" altLang="en-US" sz="1400" b="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eaLnBrk="1" fontAlgn="auto" latinLnBrk="0" hangingPunct="1">
                        <a:lnSpc>
                          <a:spcPct val="130000"/>
                        </a:lnSpc>
                        <a:buNone/>
                      </a:pPr>
                      <a:r>
                        <a:rPr lang="zh-CN" altLang="en-US" sz="1400" b="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企业官网、招投标网站、供应商大会、产业组织官网等</a:t>
                      </a:r>
                      <a:endParaRPr lang="zh-CN" altLang="en-US" sz="1400" b="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0" indent="0" eaLnBrk="1" fontAlgn="auto" latinLnBrk="0" hangingPunct="1">
                        <a:lnSpc>
                          <a:spcPct val="130000"/>
                        </a:lnSpc>
                        <a:buNone/>
                      </a:pPr>
                      <a:endParaRPr lang="zh-CN" altLang="en-US" sz="1400" b="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53" name="文本框 52"/>
          <p:cNvSpPr txBox="1"/>
          <p:nvPr/>
        </p:nvSpPr>
        <p:spPr>
          <a:xfrm>
            <a:off x="3097120" y="5386474"/>
            <a:ext cx="6096000" cy="44185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1" dirty="0" err="1">
                <a:solidFill>
                  <a:srgbClr val="0030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500000000000000" charset="-122"/>
              </a:rPr>
              <a:t>线索识别特征</a:t>
            </a:r>
            <a:r>
              <a:rPr lang="en-US" sz="2000" b="1" dirty="0">
                <a:solidFill>
                  <a:srgbClr val="0030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500000000000000" charset="-122"/>
              </a:rPr>
              <a:t>　·　</a:t>
            </a:r>
            <a:r>
              <a:rPr lang="en-US" sz="2000" b="1" dirty="0" err="1">
                <a:solidFill>
                  <a:srgbClr val="0030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500000000000000" charset="-122"/>
              </a:rPr>
              <a:t>智能体</a:t>
            </a:r>
            <a:r>
              <a:rPr lang="zh-CN" altLang="en-US" sz="2000" b="1" dirty="0">
                <a:solidFill>
                  <a:srgbClr val="0030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500000000000000" charset="-122"/>
              </a:rPr>
              <a:t>采集重点</a:t>
            </a:r>
            <a:endParaRPr lang="zh-CN" altLang="en-US" sz="2000" b="1" dirty="0">
              <a:solidFill>
                <a:srgbClr val="0030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500000000000000" charset="-122"/>
            </a:endParaRPr>
          </a:p>
        </p:txBody>
      </p:sp>
      <p:sp>
        <p:nvSpPr>
          <p:cNvPr id="8" name="AutoShape 5"/>
          <p:cNvSpPr txBox="1"/>
          <p:nvPr>
            <p:custDataLst>
              <p:tags r:id="rId3"/>
            </p:custDataLst>
          </p:nvPr>
        </p:nvSpPr>
        <p:spPr>
          <a:xfrm>
            <a:off x="534580" y="1086485"/>
            <a:ext cx="11176000" cy="103630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eaLnBrk="1" fontAlgn="auto" latinLnBrk="0" hangingPunct="1">
              <a:lnSpc>
                <a:spcPts val="2800"/>
              </a:lnSpc>
            </a:pPr>
            <a:r>
              <a:rPr lang="zh-CN" altLang="en-US" sz="1600" b="1" u="sng" dirty="0">
                <a:solidFill>
                  <a:srgbClr val="003087"/>
                </a:solidFill>
                <a:latin typeface="微软雅黑" panose="020B0503020204020204" charset="-122"/>
                <a:ea typeface="微软雅黑" panose="020B0503020204020204" charset="-122"/>
              </a:rPr>
              <a:t>核心逻辑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</a:rPr>
              <a:t>：依托产业链链主企业，挖掘其上下游配套、生态伙伴、外溢产能、新增投资诉求，以商招商，线索源头围绕链主企业上下游配套企业</a:t>
            </a:r>
            <a:endParaRPr lang="zh-CN" altLang="en-US" sz="16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indent="0" eaLnBrk="1" fontAlgn="auto" latinLnBrk="0" hangingPunct="1">
              <a:lnSpc>
                <a:spcPts val="2800"/>
              </a:lnSpc>
            </a:pPr>
            <a:r>
              <a:rPr lang="zh-CN" altLang="en-US" sz="1600" b="1" u="sng" dirty="0">
                <a:solidFill>
                  <a:srgbClr val="003087"/>
                </a:solidFill>
                <a:latin typeface="微软雅黑" panose="020B0503020204020204" charset="-122"/>
                <a:ea typeface="微软雅黑" panose="020B0503020204020204" charset="-122"/>
              </a:rPr>
              <a:t>底层支撑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</a:rPr>
              <a:t>：产业链图谱、链主企业供应链图谱、区域要素资源（土地、厂房、能耗、人才、载体等）等相关台账</a:t>
            </a:r>
            <a:endParaRPr lang="zh-CN" altLang="en-US" sz="16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AutoShape 2"/>
          <p:cNvSpPr/>
          <p:nvPr/>
        </p:nvSpPr>
        <p:spPr>
          <a:xfrm>
            <a:off x="508000" y="431800"/>
            <a:ext cx="76200" cy="381000"/>
          </a:xfrm>
          <a:prstGeom prst="roundRect">
            <a:avLst>
              <a:gd name="adj" fmla="val 0"/>
            </a:avLst>
          </a:prstGeom>
          <a:solidFill>
            <a:srgbClr val="00308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3"/>
          <p:cNvSpPr/>
          <p:nvPr/>
        </p:nvSpPr>
        <p:spPr>
          <a:xfrm>
            <a:off x="711200" y="368300"/>
            <a:ext cx="10414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08000"/>
              </a:lnSpc>
              <a:defRPr/>
            </a:pPr>
            <a:r>
              <a:rPr lang="zh-CN" altLang="en-US" sz="21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线索挖掘</a:t>
            </a:r>
            <a:r>
              <a:rPr lang="en-US" altLang="zh-CN" sz="21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</a:t>
            </a:r>
            <a:r>
              <a:rPr lang="zh-CN" altLang="en-US" sz="21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链主招商</a:t>
            </a:r>
            <a:endParaRPr lang="zh-CN" altLang="en-US" sz="21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1" name="Connector 5"/>
          <p:cNvCxnSpPr/>
          <p:nvPr/>
        </p:nvCxnSpPr>
        <p:spPr>
          <a:xfrm rot="21596094">
            <a:off x="508000" y="965200"/>
            <a:ext cx="1117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9" name="组合 28"/>
          <p:cNvGrpSpPr/>
          <p:nvPr/>
        </p:nvGrpSpPr>
        <p:grpSpPr>
          <a:xfrm>
            <a:off x="507996" y="6066064"/>
            <a:ext cx="11023604" cy="360000"/>
            <a:chOff x="507996" y="6124120"/>
            <a:chExt cx="10689775" cy="360000"/>
          </a:xfrm>
        </p:grpSpPr>
        <p:sp>
          <p:nvSpPr>
            <p:cNvPr id="13" name="TextBox 46"/>
            <p:cNvSpPr txBox="1"/>
            <p:nvPr/>
          </p:nvSpPr>
          <p:spPr>
            <a:xfrm>
              <a:off x="507996" y="6124120"/>
              <a:ext cx="1618714" cy="36000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2700" cap="flat" cmpd="sng" algn="ctr">
              <a:gradFill flip="none" rotWithShape="1">
                <a:gsLst>
                  <a:gs pos="0">
                    <a:srgbClr val="0070C0"/>
                  </a:gs>
                  <a:gs pos="52400">
                    <a:sysClr val="window" lastClr="FFFFFF"/>
                  </a:gs>
                  <a:gs pos="100000">
                    <a:srgbClr val="0070C0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en-US"/>
              </a:defPPr>
              <a:lvl1pPr marR="0" lvl="0" indent="0" algn="ctr" defTabSz="9144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200" b="1" i="0" u="none" strike="noStrike" kern="0" cap="none" spc="0" normalizeH="0" baseline="0">
                  <a:ln>
                    <a:noFill/>
                  </a:ln>
                  <a:solidFill>
                    <a:srgbClr val="03549D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defRPr>
              </a:lvl1pPr>
            </a:lstStyle>
            <a:p>
              <a:r>
                <a:rPr lang="zh-CN" altLang="en-US" sz="1600" dirty="0"/>
                <a:t>供应链配套</a:t>
              </a:r>
              <a:endParaRPr sz="1600" dirty="0"/>
            </a:p>
          </p:txBody>
        </p:sp>
        <p:sp>
          <p:nvSpPr>
            <p:cNvPr id="15" name="TextBox 48"/>
            <p:cNvSpPr txBox="1"/>
            <p:nvPr/>
          </p:nvSpPr>
          <p:spPr>
            <a:xfrm>
              <a:off x="2231285" y="6124120"/>
              <a:ext cx="1618714" cy="36000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2700" cap="flat" cmpd="sng" algn="ctr">
              <a:gradFill flip="none" rotWithShape="1">
                <a:gsLst>
                  <a:gs pos="0">
                    <a:srgbClr val="0070C0"/>
                  </a:gs>
                  <a:gs pos="52400">
                    <a:sysClr val="window" lastClr="FFFFFF"/>
                  </a:gs>
                  <a:gs pos="100000">
                    <a:srgbClr val="0070C0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en-US"/>
              </a:defPPr>
              <a:lvl1pPr marR="0" lvl="0" indent="0" algn="ctr" defTabSz="9144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200" b="1" i="0" u="none" strike="noStrike" kern="0" cap="none" spc="0" normalizeH="0" baseline="0">
                  <a:ln>
                    <a:noFill/>
                  </a:ln>
                  <a:solidFill>
                    <a:srgbClr val="03549D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defRPr>
              </a:lvl1pPr>
            </a:lstStyle>
            <a:p>
              <a:r>
                <a:rPr lang="zh-CN" altLang="en-US" sz="1600" dirty="0"/>
                <a:t>本地化采购</a:t>
              </a:r>
              <a:endParaRPr sz="1600" dirty="0"/>
            </a:p>
          </p:txBody>
        </p:sp>
        <p:sp>
          <p:nvSpPr>
            <p:cNvPr id="17" name="TextBox 50"/>
            <p:cNvSpPr txBox="1"/>
            <p:nvPr/>
          </p:nvSpPr>
          <p:spPr>
            <a:xfrm>
              <a:off x="3954574" y="6124120"/>
              <a:ext cx="1364151" cy="36000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2700" cap="flat" cmpd="sng" algn="ctr">
              <a:gradFill flip="none" rotWithShape="1">
                <a:gsLst>
                  <a:gs pos="0">
                    <a:srgbClr val="0070C0"/>
                  </a:gs>
                  <a:gs pos="52400">
                    <a:sysClr val="window" lastClr="FFFFFF"/>
                  </a:gs>
                  <a:gs pos="100000">
                    <a:srgbClr val="0070C0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en-US"/>
              </a:defPPr>
              <a:lvl1pPr marR="0" lvl="0" indent="0" algn="ctr" defTabSz="9144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200" b="1" i="0" u="none" strike="noStrike" kern="0" cap="none" spc="0" normalizeH="0" baseline="0">
                  <a:ln>
                    <a:noFill/>
                  </a:ln>
                  <a:solidFill>
                    <a:srgbClr val="03549D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defRPr>
              </a:lvl1pPr>
            </a:lstStyle>
            <a:p>
              <a:r>
                <a:rPr lang="zh-CN" altLang="en-US" sz="1600" dirty="0"/>
                <a:t>产能外迁</a:t>
              </a:r>
              <a:endParaRPr sz="1600" dirty="0"/>
            </a:p>
          </p:txBody>
        </p:sp>
        <p:sp>
          <p:nvSpPr>
            <p:cNvPr id="19" name="TextBox 52"/>
            <p:cNvSpPr txBox="1"/>
            <p:nvPr/>
          </p:nvSpPr>
          <p:spPr>
            <a:xfrm>
              <a:off x="5423300" y="6124120"/>
              <a:ext cx="1113732" cy="36000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2700" cap="flat" cmpd="sng" algn="ctr">
              <a:gradFill flip="none" rotWithShape="1">
                <a:gsLst>
                  <a:gs pos="0">
                    <a:srgbClr val="0070C0"/>
                  </a:gs>
                  <a:gs pos="52400">
                    <a:sysClr val="window" lastClr="FFFFFF"/>
                  </a:gs>
                  <a:gs pos="100000">
                    <a:srgbClr val="0070C0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en-US"/>
              </a:defPPr>
              <a:lvl1pPr marR="0" lvl="0" indent="0" algn="ctr" defTabSz="9144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200" b="1" i="0" u="none" strike="noStrike" kern="0" cap="none" spc="0" normalizeH="0" baseline="0">
                  <a:ln>
                    <a:noFill/>
                  </a:ln>
                  <a:solidFill>
                    <a:srgbClr val="03549D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defRPr>
              </a:lvl1pPr>
            </a:lstStyle>
            <a:p>
              <a:r>
                <a:rPr lang="zh-CN" altLang="en-US" sz="1600" dirty="0"/>
                <a:t>扩产</a:t>
              </a:r>
              <a:endParaRPr sz="1600" dirty="0"/>
            </a:p>
          </p:txBody>
        </p:sp>
        <p:sp>
          <p:nvSpPr>
            <p:cNvPr id="21" name="TextBox 54"/>
            <p:cNvSpPr txBox="1"/>
            <p:nvPr/>
          </p:nvSpPr>
          <p:spPr>
            <a:xfrm>
              <a:off x="6641607" y="6124120"/>
              <a:ext cx="1618714" cy="36000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2700" cap="flat" cmpd="sng" algn="ctr">
              <a:gradFill flip="none" rotWithShape="1">
                <a:gsLst>
                  <a:gs pos="0">
                    <a:srgbClr val="0070C0"/>
                  </a:gs>
                  <a:gs pos="52400">
                    <a:sysClr val="window" lastClr="FFFFFF"/>
                  </a:gs>
                  <a:gs pos="100000">
                    <a:srgbClr val="0070C0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en-US"/>
              </a:defPPr>
              <a:lvl1pPr marR="0" lvl="0" indent="0" algn="ctr" defTabSz="9144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200" b="1" i="0" u="none" strike="noStrike" kern="0" cap="none" spc="0" normalizeH="0" baseline="0">
                  <a:ln>
                    <a:noFill/>
                  </a:ln>
                  <a:solidFill>
                    <a:srgbClr val="03549D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defRPr>
              </a:lvl1pPr>
            </a:lstStyle>
            <a:p>
              <a:r>
                <a:rPr lang="zh-CN" altLang="en-US" sz="1600" dirty="0"/>
                <a:t>供应商搬迁</a:t>
              </a:r>
              <a:endParaRPr sz="1600" dirty="0"/>
            </a:p>
          </p:txBody>
        </p:sp>
        <p:sp>
          <p:nvSpPr>
            <p:cNvPr id="23" name="TextBox 56"/>
            <p:cNvSpPr txBox="1"/>
            <p:nvPr/>
          </p:nvSpPr>
          <p:spPr>
            <a:xfrm>
              <a:off x="8364896" y="6124120"/>
              <a:ext cx="1364151" cy="36000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2700" cap="flat" cmpd="sng" algn="ctr">
              <a:gradFill flip="none" rotWithShape="1">
                <a:gsLst>
                  <a:gs pos="0">
                    <a:srgbClr val="0070C0"/>
                  </a:gs>
                  <a:gs pos="52400">
                    <a:sysClr val="window" lastClr="FFFFFF"/>
                  </a:gs>
                  <a:gs pos="100000">
                    <a:srgbClr val="0070C0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en-US"/>
              </a:defPPr>
              <a:lvl1pPr marR="0" lvl="0" indent="0" algn="ctr" defTabSz="9144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200" b="1" i="0" u="none" strike="noStrike" kern="0" cap="none" spc="0" normalizeH="0" baseline="0">
                  <a:ln>
                    <a:noFill/>
                  </a:ln>
                  <a:solidFill>
                    <a:srgbClr val="03549D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defRPr>
              </a:lvl1pPr>
            </a:lstStyle>
            <a:p>
              <a:r>
                <a:rPr lang="zh-CN" altLang="en-US" sz="1600" dirty="0"/>
                <a:t>链主配套</a:t>
              </a:r>
              <a:endParaRPr sz="1600" dirty="0"/>
            </a:p>
          </p:txBody>
        </p:sp>
        <p:sp>
          <p:nvSpPr>
            <p:cNvPr id="25" name="TextBox 58"/>
            <p:cNvSpPr txBox="1"/>
            <p:nvPr/>
          </p:nvSpPr>
          <p:spPr>
            <a:xfrm>
              <a:off x="9833620" y="6124120"/>
              <a:ext cx="1364151" cy="36000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2700" cap="flat" cmpd="sng" algn="ctr">
              <a:gradFill flip="none" rotWithShape="1">
                <a:gsLst>
                  <a:gs pos="0">
                    <a:srgbClr val="0070C0"/>
                  </a:gs>
                  <a:gs pos="52400">
                    <a:sysClr val="window" lastClr="FFFFFF"/>
                  </a:gs>
                  <a:gs pos="100000">
                    <a:srgbClr val="0070C0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en-US"/>
              </a:defPPr>
              <a:lvl1pPr marR="0" lvl="0" indent="0" algn="ctr" defTabSz="9144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200" b="1" i="0" u="none" strike="noStrike" kern="0" cap="none" spc="0" normalizeH="0" baseline="0">
                  <a:ln>
                    <a:noFill/>
                  </a:ln>
                  <a:solidFill>
                    <a:srgbClr val="03549D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defRPr>
              </a:lvl1pPr>
            </a:lstStyle>
            <a:p>
              <a:r>
                <a:rPr lang="en-US" altLang="zh-CN" sz="1600" dirty="0" err="1">
                  <a:sym typeface="Noto Sans SC" panose="020B0500000000000000" charset="-122"/>
                </a:rPr>
                <a:t>产业生态</a:t>
              </a:r>
              <a:endParaRPr sz="1600" dirty="0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6"/>
          <p:cNvGraphicFramePr/>
          <p:nvPr>
            <p:custDataLst>
              <p:tags r:id="rId1"/>
            </p:custDataLst>
          </p:nvPr>
        </p:nvGraphicFramePr>
        <p:xfrm>
          <a:off x="464454" y="2327411"/>
          <a:ext cx="11306632" cy="4110911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1132117"/>
                <a:gridCol w="3323772"/>
                <a:gridCol w="3981245"/>
                <a:gridCol w="2869498"/>
              </a:tblGrid>
              <a:tr h="2972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5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企业</a:t>
                      </a:r>
                      <a:r>
                        <a:rPr lang="en-US" altLang="zh-CN" sz="105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/</a:t>
                      </a:r>
                      <a:r>
                        <a:rPr lang="zh-CN" altLang="en-US" sz="105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项目类型</a:t>
                      </a:r>
                      <a:endParaRPr lang="zh-CN" altLang="en-US" sz="105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6800" marR="46800" marT="46800" marB="46800" anchor="ctr" anchorCtr="1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50">
                          <a:latin typeface="微软雅黑" panose="020B0503020204020204" charset="-122"/>
                          <a:ea typeface="微软雅黑" panose="020B0503020204020204" charset="-122"/>
                        </a:rPr>
                        <a:t>线索来源</a:t>
                      </a:r>
                      <a:endParaRPr lang="zh-CN" altLang="en-US" sz="105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6800" marR="46800" marT="46800" marB="46800" anchor="ctr" anchorCtr="1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50">
                          <a:latin typeface="微软雅黑" panose="020B0503020204020204" charset="-122"/>
                          <a:ea typeface="微软雅黑" panose="020B0503020204020204" charset="-122"/>
                        </a:rPr>
                        <a:t>数据入口</a:t>
                      </a:r>
                      <a:endParaRPr lang="zh-CN" altLang="en-US" sz="105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6800" marR="46800" marT="46800" marB="46800" anchor="ctr" anchorCtr="1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50">
                          <a:latin typeface="微软雅黑" panose="020B0503020204020204" charset="-122"/>
                          <a:ea typeface="微软雅黑" panose="020B0503020204020204" charset="-122"/>
                        </a:rPr>
                        <a:t>采集重点</a:t>
                      </a:r>
                      <a:endParaRPr lang="zh-CN" altLang="en-US" sz="105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6800" marR="46800" marT="46800" marB="46800" anchor="ctr" anchorCtr="1"/>
                </a:tc>
              </a:tr>
              <a:tr h="251045">
                <a:tc rowSpan="4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05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成熟科创企业</a:t>
                      </a:r>
                      <a:r>
                        <a:rPr lang="en-US" altLang="zh-CN" sz="105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/</a:t>
                      </a:r>
                      <a:r>
                        <a:rPr lang="zh-CN" altLang="en-US" sz="105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人才项目</a:t>
                      </a:r>
                      <a:endParaRPr lang="zh-CN" altLang="en-US" sz="105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6800" marR="46800" marT="46800" marB="46800" anchor="ctr" anchorCtr="1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05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科创赛事：创新创业大赛、硬科技大赛路演项目</a:t>
                      </a:r>
                      <a:endParaRPr lang="zh-CN" altLang="en-US" sz="105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6800" marR="46800" marT="46800" marB="468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05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国家、省市级创新创业大赛官网等</a:t>
                      </a:r>
                      <a:endParaRPr lang="zh-CN" altLang="en-US" sz="105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6800" marR="46800" marT="46800" marB="46800" anchor="ctr"/>
                </a:tc>
                <a:tc>
                  <a:txBody>
                    <a:bodyPr/>
                    <a:lstStyle/>
                    <a:p>
                      <a:pPr marL="0" algn="l">
                        <a:buSzTx/>
                        <a:buNone/>
                      </a:pPr>
                      <a:r>
                        <a:rPr lang="zh-CN" altLang="en-US" sz="105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企业名称、技术领域、融资需求、落地意向等</a:t>
                      </a:r>
                      <a:endParaRPr lang="zh-CN" altLang="en-US" sz="105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6800" marR="46800" marT="46800" marB="46800" anchor="ctr"/>
                </a:tc>
              </a:tr>
              <a:tr h="424285">
                <a:tc vMerge="1">
                  <a:tcPr anchor="ctr" anchorCtr="1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05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投融资市场：天使/VC/PE投资项目、专精特新、高新技术企业、北交所/科创板储备企业</a:t>
                      </a:r>
                      <a:endParaRPr lang="zh-CN" altLang="en-US" sz="105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6800" marR="46800" marT="46800" marB="468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050">
                          <a:latin typeface="微软雅黑" panose="020B0503020204020204" charset="-122"/>
                          <a:ea typeface="微软雅黑" panose="020B0503020204020204" charset="-122"/>
                        </a:rPr>
                        <a:t>企查查、天眼查等</a:t>
                      </a:r>
                      <a:endParaRPr lang="zh-CN" altLang="en-US" sz="105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6800" marR="46800" marT="46800" marB="46800" anchor="ctr"/>
                </a:tc>
                <a:tc>
                  <a:txBody>
                    <a:bodyPr/>
                    <a:lstStyle/>
                    <a:p>
                      <a:pPr marL="0" algn="l">
                        <a:buSzTx/>
                        <a:buNone/>
                      </a:pPr>
                      <a:r>
                        <a:rPr lang="zh-CN" altLang="en-US" sz="105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融资事件、股权变更、拟上市进度等</a:t>
                      </a:r>
                      <a:endParaRPr lang="zh-CN" altLang="en-US" sz="105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6800" marR="46800" marT="46800" marB="46800" anchor="ctr"/>
                </a:tc>
              </a:tr>
              <a:tr h="296027">
                <a:tc vMerge="1">
                  <a:tcPr anchor="ctr" anchorCtr="1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050">
                          <a:latin typeface="微软雅黑" panose="020B0503020204020204" charset="-122"/>
                          <a:ea typeface="微软雅黑" panose="020B0503020204020204" charset="-122"/>
                        </a:rPr>
                        <a:t>孵化器、加速器、众创空间等在孵企业及项目</a:t>
                      </a:r>
                      <a:endParaRPr lang="zh-CN" altLang="en-US" sz="105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6800" marR="46800" marT="46800" marB="468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050">
                          <a:latin typeface="微软雅黑" panose="020B0503020204020204" charset="-122"/>
                          <a:ea typeface="微软雅黑" panose="020B0503020204020204" charset="-122"/>
                        </a:rPr>
                        <a:t>主导产业领域国家级、省级孵化器官网/企业服务平台等</a:t>
                      </a:r>
                      <a:endParaRPr lang="zh-CN" altLang="en-US" sz="105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6800" marR="46800" marT="46800" marB="46800" anchor="ctr"/>
                </a:tc>
                <a:tc>
                  <a:txBody>
                    <a:bodyPr/>
                    <a:lstStyle/>
                    <a:p>
                      <a:pPr marL="0" algn="l">
                        <a:buSzTx/>
                        <a:buNone/>
                      </a:pPr>
                      <a:r>
                        <a:rPr lang="zh-CN" altLang="en-US" sz="1050">
                          <a:latin typeface="微软雅黑" panose="020B0503020204020204" charset="-122"/>
                          <a:ea typeface="微软雅黑" panose="020B0503020204020204" charset="-122"/>
                        </a:rPr>
                        <a:t>在孵企业、毕业状态、融资情况、空间需求等</a:t>
                      </a:r>
                      <a:endParaRPr lang="zh-CN" altLang="en-US" sz="105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6800" marR="46800" marT="46800" marB="46800" anchor="ctr"/>
                </a:tc>
              </a:tr>
              <a:tr h="381371">
                <a:tc vMerge="1">
                  <a:tcPr anchor="ctr" anchorCtr="1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050">
                          <a:latin typeface="微软雅黑" panose="020B0503020204020204" charset="-122"/>
                          <a:ea typeface="微软雅黑" panose="020B0503020204020204" charset="-122"/>
                        </a:rPr>
                        <a:t>行业认可度高及政府官方发布的高科技、高成长企业榜单</a:t>
                      </a:r>
                      <a:endParaRPr lang="zh-CN" altLang="en-US" sz="105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6800" marR="46800" marT="46800" marB="468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05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胡润等独角兽企业榜单、德勤 高科技高成长中国 50 强榜单、省市瞪羚独角兽企业榜单等</a:t>
                      </a:r>
                      <a:endParaRPr lang="zh-CN" altLang="en-US" sz="105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6800" marR="46800" marT="46800" marB="46800" anchor="ctr"/>
                </a:tc>
                <a:tc>
                  <a:txBody>
                    <a:bodyPr/>
                    <a:lstStyle/>
                    <a:p>
                      <a:pPr marL="0" algn="l">
                        <a:buSzTx/>
                        <a:buNone/>
                      </a:pPr>
                      <a:r>
                        <a:rPr lang="en-US" altLang="zh-CN" sz="1050" dirty="0" err="1">
                          <a:latin typeface="微软雅黑" panose="020B0503020204020204" charset="-122"/>
                          <a:ea typeface="微软雅黑" panose="020B0503020204020204" charset="-122"/>
                        </a:rPr>
                        <a:t>企业名称、赛道领域、估值、融资轮次、核心技术</a:t>
                      </a:r>
                      <a:r>
                        <a:rPr lang="zh-CN" altLang="en-US" sz="105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产品等</a:t>
                      </a:r>
                      <a:endParaRPr lang="zh-CN" altLang="en-US" sz="105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6800" marR="46800" marT="46800" marB="46800" anchor="ctr"/>
                </a:tc>
              </a:tr>
              <a:tr h="408481">
                <a:tc rowSpan="5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05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高校院所源头创新项目</a:t>
                      </a:r>
                      <a:endParaRPr lang="zh-CN" altLang="en-US" sz="105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endParaRPr>
                    </a:p>
                  </a:txBody>
                  <a:tcPr marL="46800" marR="46800" marT="46800" marB="46800" anchor="ctr" anchorCtr="1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05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高校院所内设技术转移中心、成果转化中心以及大学科技园对外发布项目清单</a:t>
                      </a:r>
                      <a:endParaRPr lang="zh-CN" altLang="en-US" sz="105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6800" marR="46800" marT="46800" marB="468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05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高校院所官网、当地科技大市场</a:t>
                      </a:r>
                      <a:endParaRPr lang="zh-CN" altLang="en-US" sz="105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6800" marR="46800" marT="46800" marB="46800" anchor="ctr"/>
                </a:tc>
                <a:tc>
                  <a:txBody>
                    <a:bodyPr/>
                    <a:lstStyle/>
                    <a:p>
                      <a:pPr marL="0" algn="l">
                        <a:buSzTx/>
                        <a:buNone/>
                      </a:pPr>
                      <a:r>
                        <a:rPr lang="zh-CN" altLang="en-US" sz="105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成果名称、团队、专利、成熟度、转化需求</a:t>
                      </a:r>
                      <a:endParaRPr lang="zh-CN" altLang="en-US" sz="105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6800" marR="46800" marT="46800" marB="46800" anchor="ctr"/>
                </a:tc>
              </a:tr>
              <a:tr h="408481">
                <a:tc vMerge="1">
                  <a:tcPr anchor="ctr" anchorCtr="1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050">
                          <a:latin typeface="微软雅黑" panose="020B0503020204020204" charset="-122"/>
                          <a:ea typeface="微软雅黑" panose="020B0503020204020204" charset="-122"/>
                        </a:rPr>
                        <a:t>重点实验室、工程研究中心、前沿科学中心、课题组等对外发布技术攻关及课题清单</a:t>
                      </a:r>
                      <a:endParaRPr lang="zh-CN" altLang="en-US" sz="105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6800" marR="46800" marT="46800" marB="468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05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重点实验室、课题组等官网、各级科技计划项目公示名单等</a:t>
                      </a:r>
                      <a:endParaRPr lang="zh-CN" altLang="en-US" sz="105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6800" marR="46800" marT="46800" marB="468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050">
                          <a:latin typeface="微软雅黑" panose="020B0503020204020204" charset="-122"/>
                          <a:ea typeface="微软雅黑" panose="020B0503020204020204" charset="-122"/>
                        </a:rPr>
                        <a:t>团队信息、项目信息、样机进展、产业化展望等</a:t>
                      </a:r>
                      <a:endParaRPr lang="zh-CN" altLang="en-US" sz="105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6800" marR="46800" marT="46800" marB="46800" anchor="ctr"/>
                </a:tc>
              </a:tr>
              <a:tr h="879571">
                <a:tc vMerge="1">
                  <a:tcPr anchor="ctr" anchorCtr="1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05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公开情报数据库，如专利库、成果登记平台等公示成果</a:t>
                      </a:r>
                      <a:endParaRPr lang="zh-CN" altLang="en-US" sz="105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6800" marR="46800" marT="46800" marB="468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05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政府公共免费库（国家知识产权局专利检索及分析系统、WIPO全球专利数据库等）；商业专业专利库（incoPat合享智慧专利数据库、智慧芽Patsnap、专利之星CPRS等）；各省科技厅成果登记系统、国家/省级科研项目立项、结题公示；知识产权交易所、科易网、科技大市场等</a:t>
                      </a:r>
                      <a:endParaRPr lang="zh-CN" altLang="en-US" sz="105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6800" marR="46800" marT="46800" marB="468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05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成果名称、完成单位、成熟度、转化方式等</a:t>
                      </a:r>
                      <a:endParaRPr lang="zh-CN" altLang="en-US" sz="105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6800" marR="46800" marT="46800" marB="46800" anchor="ctr"/>
                </a:tc>
              </a:tr>
              <a:tr h="407873">
                <a:tc vMerge="1">
                  <a:tcPr anchor="ctr" anchorCtr="1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05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学术会议、行业技术论坛等</a:t>
                      </a:r>
                      <a:endParaRPr lang="zh-CN" altLang="en-US" sz="105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6800" marR="46800" marT="46800" marB="468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05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中国学术会议在线、知网学术会议平台、智慧科协（中国科协）等</a:t>
                      </a:r>
                      <a:endParaRPr lang="zh-CN" altLang="en-US" sz="105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6800" marR="46800" marT="46800" marB="468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05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作者、单位、研究方向、样机、产业化应用等</a:t>
                      </a:r>
                      <a:endParaRPr lang="zh-CN" altLang="en-US" sz="105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6800" marR="46800" marT="46800" marB="46800" anchor="ctr"/>
                </a:tc>
              </a:tr>
              <a:tr h="297243">
                <a:tc vMerge="1">
                  <a:tcPr anchor="ctr" anchorCtr="1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05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技术经理人、知识产权代理机构、成果转化公司</a:t>
                      </a:r>
                      <a:endParaRPr lang="zh-CN" altLang="en-US" sz="105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6800" marR="46800" marT="46800" marB="468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05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技术经理人协会、代理机构、咨询公司</a:t>
                      </a:r>
                      <a:endParaRPr lang="zh-CN" altLang="en-US" sz="105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6800" marR="46800" marT="46800" marB="468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05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项目名称、完成单位、成熟度、产业化应用等</a:t>
                      </a:r>
                      <a:endParaRPr lang="zh-CN" altLang="en-US" sz="105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6800" marR="46800" marT="46800" marB="46800" anchor="ctr"/>
                </a:tc>
              </a:tr>
            </a:tbl>
          </a:graphicData>
        </a:graphic>
      </p:graphicFrame>
      <p:sp>
        <p:nvSpPr>
          <p:cNvPr id="8" name="AutoShape 5"/>
          <p:cNvSpPr txBox="1"/>
          <p:nvPr>
            <p:custDataLst>
              <p:tags r:id="rId2"/>
            </p:custDataLst>
          </p:nvPr>
        </p:nvSpPr>
        <p:spPr>
          <a:xfrm>
            <a:off x="534580" y="1086485"/>
            <a:ext cx="11176000" cy="103630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eaLnBrk="1" fontAlgn="auto" latinLnBrk="0" hangingPunct="1">
              <a:lnSpc>
                <a:spcPts val="2800"/>
              </a:lnSpc>
            </a:pPr>
            <a:r>
              <a:rPr lang="zh-CN" altLang="en-US" sz="1600" b="1" u="sng" dirty="0">
                <a:solidFill>
                  <a:srgbClr val="003087"/>
                </a:solidFill>
                <a:latin typeface="微软雅黑" panose="020B0503020204020204" charset="-122"/>
                <a:ea typeface="微软雅黑" panose="020B0503020204020204" charset="-122"/>
              </a:rPr>
              <a:t>核心逻辑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：以技术引项目、以人才引企业，聚焦技术成果转化、科研团队、科创企业、知识产权。分为两大子类：①成熟科创企业线索；②高校院所源头创新项目（实验室/小试/中试阶段，未注册产业化公司）</a:t>
            </a:r>
            <a:endParaRPr lang="zh-CN" alt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eaLnBrk="1" fontAlgn="auto" latinLnBrk="0" hangingPunct="1">
              <a:lnSpc>
                <a:spcPts val="2800"/>
              </a:lnSpc>
            </a:pPr>
            <a:r>
              <a:rPr lang="zh-CN" altLang="en-US" sz="1600" b="1" u="sng" dirty="0">
                <a:solidFill>
                  <a:srgbClr val="003087"/>
                </a:solidFill>
                <a:latin typeface="微软雅黑" panose="020B0503020204020204" charset="-122"/>
                <a:ea typeface="微软雅黑" panose="020B0503020204020204" charset="-122"/>
              </a:rPr>
              <a:t>底层支撑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：重点产业技术成熟度图谱、头部科创企业及高校院所科创生态图谱等</a:t>
            </a:r>
            <a:endParaRPr lang="zh-CN" alt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AutoShape 2"/>
          <p:cNvSpPr/>
          <p:nvPr/>
        </p:nvSpPr>
        <p:spPr>
          <a:xfrm>
            <a:off x="508000" y="431800"/>
            <a:ext cx="76200" cy="381000"/>
          </a:xfrm>
          <a:prstGeom prst="roundRect">
            <a:avLst>
              <a:gd name="adj" fmla="val 0"/>
            </a:avLst>
          </a:prstGeom>
          <a:solidFill>
            <a:srgbClr val="00308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3"/>
          <p:cNvSpPr/>
          <p:nvPr/>
        </p:nvSpPr>
        <p:spPr>
          <a:xfrm>
            <a:off x="711200" y="368300"/>
            <a:ext cx="10414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08000"/>
              </a:lnSpc>
              <a:defRPr/>
            </a:pPr>
            <a:r>
              <a:rPr lang="zh-CN" altLang="en-US" sz="21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线索挖掘</a:t>
            </a:r>
            <a:r>
              <a:rPr lang="en-US" altLang="zh-CN" sz="21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</a:t>
            </a:r>
            <a:r>
              <a:rPr lang="zh-CN" altLang="en-US" sz="21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科技招商</a:t>
            </a:r>
            <a:endParaRPr lang="zh-CN" altLang="en-US" sz="21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1" name="Connector 5"/>
          <p:cNvCxnSpPr/>
          <p:nvPr/>
        </p:nvCxnSpPr>
        <p:spPr>
          <a:xfrm rot="21596094">
            <a:off x="508000" y="965200"/>
            <a:ext cx="1117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318770" y="1211580"/>
            <a:ext cx="11409045" cy="450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eaLnBrk="1" fontAlgn="auto" latinLnBrk="0" hangingPunct="1">
              <a:lnSpc>
                <a:spcPts val="2800"/>
              </a:lnSpc>
            </a:pP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AutoShape 2"/>
          <p:cNvSpPr/>
          <p:nvPr/>
        </p:nvSpPr>
        <p:spPr>
          <a:xfrm>
            <a:off x="508000" y="431800"/>
            <a:ext cx="76200" cy="381000"/>
          </a:xfrm>
          <a:prstGeom prst="roundRect">
            <a:avLst>
              <a:gd name="adj" fmla="val 0"/>
            </a:avLst>
          </a:prstGeom>
          <a:solidFill>
            <a:srgbClr val="00308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3"/>
          <p:cNvSpPr/>
          <p:nvPr/>
        </p:nvSpPr>
        <p:spPr>
          <a:xfrm>
            <a:off x="711200" y="368300"/>
            <a:ext cx="10414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08000"/>
              </a:lnSpc>
              <a:defRPr/>
            </a:pPr>
            <a:r>
              <a:rPr lang="zh-CN" altLang="en-US" sz="21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线索挖掘</a:t>
            </a:r>
            <a:r>
              <a:rPr lang="en-US" altLang="zh-CN" sz="21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</a:t>
            </a:r>
            <a:r>
              <a:rPr lang="zh-CN" altLang="en-US" sz="21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资本招商</a:t>
            </a:r>
            <a:endParaRPr lang="zh-CN" altLang="en-US" sz="21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9" name="Connector 5"/>
          <p:cNvCxnSpPr/>
          <p:nvPr/>
        </p:nvCxnSpPr>
        <p:spPr>
          <a:xfrm rot="21596094">
            <a:off x="508000" y="965200"/>
            <a:ext cx="1117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5"/>
          <p:cNvSpPr txBox="1"/>
          <p:nvPr>
            <p:custDataLst>
              <p:tags r:id="rId1"/>
            </p:custDataLst>
          </p:nvPr>
        </p:nvSpPr>
        <p:spPr>
          <a:xfrm>
            <a:off x="534580" y="1086485"/>
            <a:ext cx="11176000" cy="67723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eaLnBrk="1" fontAlgn="auto" latinLnBrk="0" hangingPunct="1">
              <a:lnSpc>
                <a:spcPts val="2800"/>
              </a:lnSpc>
            </a:pPr>
            <a:r>
              <a:rPr lang="zh-CN" altLang="en-US" sz="1600" b="1" u="sng" dirty="0">
                <a:solidFill>
                  <a:srgbClr val="0030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核心逻辑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：以产业基金为纽带，以投带引、投招联动，优先挖掘符合基金赛道、满足返投认定、存在异地扩产/分拆/并购重组等的项目</a:t>
            </a:r>
            <a:endParaRPr lang="zh-CN" alt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8" name="图片 128" descr="校园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0379"/>
          <a:stretch>
            <a:fillRect/>
          </a:stretch>
        </p:blipFill>
        <p:spPr>
          <a:xfrm>
            <a:off x="4180114" y="4364693"/>
            <a:ext cx="1319195" cy="2003191"/>
          </a:xfrm>
          <a:prstGeom prst="rect">
            <a:avLst/>
          </a:prstGeom>
        </p:spPr>
      </p:pic>
      <p:sp>
        <p:nvSpPr>
          <p:cNvPr id="49" name="矩形: 圆角 48"/>
          <p:cNvSpPr/>
          <p:nvPr>
            <p:custDataLst>
              <p:tags r:id="rId4"/>
            </p:custDataLst>
          </p:nvPr>
        </p:nvSpPr>
        <p:spPr>
          <a:xfrm>
            <a:off x="534580" y="2096998"/>
            <a:ext cx="4970634" cy="4270886"/>
          </a:xfrm>
          <a:prstGeom prst="roundRect">
            <a:avLst>
              <a:gd name="adj" fmla="val 2682"/>
            </a:avLst>
          </a:prstGeom>
          <a:gradFill>
            <a:gsLst>
              <a:gs pos="43000">
                <a:srgbClr val="FFFFFF"/>
              </a:gs>
              <a:gs pos="100000">
                <a:srgbClr val="FFFFFF">
                  <a:alpha val="0"/>
                </a:srgbClr>
              </a:gs>
            </a:gsLst>
            <a:lin ang="5400000" scaled="1"/>
          </a:gradFill>
          <a:ln w="6350" cap="flat" cmpd="sng" algn="ctr">
            <a:noFill/>
            <a:prstDash val="solid"/>
            <a:miter lim="800000"/>
          </a:ln>
          <a:effectLst>
            <a:outerShdw blurRad="457200" dist="38100" dir="5400000" algn="t" rotWithShape="0">
              <a:srgbClr val="4472C4">
                <a:alpha val="20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52" name="圆角矩形 17"/>
          <p:cNvSpPr/>
          <p:nvPr>
            <p:custDataLst>
              <p:tags r:id="rId5"/>
            </p:custDataLst>
          </p:nvPr>
        </p:nvSpPr>
        <p:spPr>
          <a:xfrm>
            <a:off x="805671" y="2079257"/>
            <a:ext cx="4428451" cy="57072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4472C4">
                  <a:lumMod val="60000"/>
                  <a:lumOff val="40000"/>
                </a:srgbClr>
              </a:gs>
              <a:gs pos="100000">
                <a:srgbClr val="4472C4"/>
              </a:gs>
            </a:gsLst>
            <a:lin ang="10800000" scaled="0"/>
          </a:gradFill>
          <a:ln w="12700" cap="flat" cmpd="sng" algn="ctr">
            <a:noFill/>
            <a:prstDash val="solid"/>
            <a:miter lim="800000"/>
          </a:ln>
          <a:effectLst>
            <a:outerShdw blurRad="114300" dist="12700" dir="5400000" algn="t" rotWithShape="0">
              <a:srgbClr val="4472C4">
                <a:lumMod val="75000"/>
                <a:alpha val="20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53" name="MH_SubTitle_2"/>
          <p:cNvSpPr>
            <a:spLocks noChangeArrowheads="1"/>
          </p:cNvSpPr>
          <p:nvPr>
            <p:custDataLst>
              <p:tags r:id="rId6"/>
            </p:custDataLst>
          </p:nvPr>
        </p:nvSpPr>
        <p:spPr bwMode="gray">
          <a:xfrm>
            <a:off x="1581308" y="1916866"/>
            <a:ext cx="2877177" cy="422738"/>
          </a:xfrm>
          <a:prstGeom prst="roundRect">
            <a:avLst>
              <a:gd name="adj" fmla="val 50000"/>
            </a:avLst>
          </a:prstGeom>
          <a:solidFill>
            <a:srgbClr val="03549D"/>
          </a:solidFill>
          <a:ln>
            <a:noFill/>
          </a:ln>
        </p:spPr>
        <p:txBody>
          <a:bodyPr lIns="0" tIns="0" rIns="0" bIns="0" anchor="ctr" anchorCtr="1"/>
          <a:lstStyle/>
          <a:p>
            <a:pPr algn="ctr">
              <a:lnSpc>
                <a:spcPct val="100000"/>
              </a:lnSpc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线索来源</a:t>
            </a:r>
            <a:endParaRPr lang="zh-CN" altLang="en-US" sz="18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圆角矩形 10"/>
          <p:cNvSpPr/>
          <p:nvPr>
            <p:custDataLst>
              <p:tags r:id="rId7"/>
            </p:custDataLst>
          </p:nvPr>
        </p:nvSpPr>
        <p:spPr>
          <a:xfrm>
            <a:off x="809891" y="2452764"/>
            <a:ext cx="4424231" cy="644835"/>
          </a:xfrm>
          <a:prstGeom prst="roundRect">
            <a:avLst>
              <a:gd name="adj" fmla="val 8507"/>
            </a:avLst>
          </a:prstGeom>
          <a:solidFill>
            <a:srgbClr val="7EC6F2">
              <a:alpha val="10980"/>
            </a:srgbClr>
          </a:solidFill>
          <a:ln w="6350" cmpd="sng">
            <a:noFill/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180000" tIns="90000" rIns="180000" bIns="90000" rtlCol="0" anchor="ctr"/>
          <a:lstStyle/>
          <a:p>
            <a:pPr>
              <a:lnSpc>
                <a:spcPct val="130000"/>
              </a:lnSpc>
            </a:pPr>
            <a:r>
              <a:rPr lang="zh-CN" altLang="en-US" b="1" dirty="0">
                <a:solidFill>
                  <a:srgbClr val="2E54A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本地注册的基金公司对外投资的符合主导产业赛道的企业</a:t>
            </a:r>
            <a:endParaRPr lang="zh-CN" altLang="en-US" b="1" dirty="0">
              <a:solidFill>
                <a:srgbClr val="2E54A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9" name="圆角矩形 10"/>
          <p:cNvSpPr/>
          <p:nvPr>
            <p:custDataLst>
              <p:tags r:id="rId8"/>
            </p:custDataLst>
          </p:nvPr>
        </p:nvSpPr>
        <p:spPr>
          <a:xfrm>
            <a:off x="809891" y="3163573"/>
            <a:ext cx="4424231" cy="644835"/>
          </a:xfrm>
          <a:prstGeom prst="roundRect">
            <a:avLst>
              <a:gd name="adj" fmla="val 8507"/>
            </a:avLst>
          </a:prstGeom>
          <a:solidFill>
            <a:srgbClr val="7EC6F2">
              <a:alpha val="10980"/>
            </a:srgbClr>
          </a:solidFill>
          <a:ln w="6350" cmpd="sng">
            <a:noFill/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180000" tIns="90000" rIns="180000" bIns="90000" rtlCol="0" anchor="ctr"/>
          <a:lstStyle/>
          <a:p>
            <a:pPr>
              <a:lnSpc>
                <a:spcPct val="130000"/>
              </a:lnSpc>
            </a:pPr>
            <a:r>
              <a:rPr lang="zh-CN" altLang="en-US" b="1" dirty="0">
                <a:solidFill>
                  <a:srgbClr val="2E54A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政府产业基金在谈、拟对接、储备项目</a:t>
            </a:r>
            <a:endParaRPr lang="zh-CN" altLang="en-US" b="1" dirty="0">
              <a:solidFill>
                <a:srgbClr val="2E54A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60" name="圆角矩形 10"/>
          <p:cNvSpPr/>
          <p:nvPr>
            <p:custDataLst>
              <p:tags r:id="rId9"/>
            </p:custDataLst>
          </p:nvPr>
        </p:nvSpPr>
        <p:spPr>
          <a:xfrm>
            <a:off x="809891" y="3874382"/>
            <a:ext cx="4424231" cy="644835"/>
          </a:xfrm>
          <a:prstGeom prst="roundRect">
            <a:avLst>
              <a:gd name="adj" fmla="val 8507"/>
            </a:avLst>
          </a:prstGeom>
          <a:solidFill>
            <a:srgbClr val="7EC6F2">
              <a:alpha val="10980"/>
            </a:srgbClr>
          </a:solidFill>
          <a:ln w="6350" cmpd="sng">
            <a:noFill/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180000" tIns="90000" rIns="180000" bIns="90000" rtlCol="0" anchor="ctr"/>
          <a:lstStyle/>
          <a:p>
            <a:pPr>
              <a:lnSpc>
                <a:spcPct val="130000"/>
              </a:lnSpc>
            </a:pPr>
            <a:r>
              <a:rPr lang="zh-CN" altLang="en-US" b="1" dirty="0">
                <a:solidFill>
                  <a:srgbClr val="2E54A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本地合作的子基金管理人、</a:t>
            </a:r>
            <a:r>
              <a:rPr lang="en-US" altLang="zh-CN" b="1" dirty="0">
                <a:solidFill>
                  <a:srgbClr val="2E54A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VC/PE</a:t>
            </a:r>
            <a:r>
              <a:rPr lang="zh-CN" altLang="en-US" b="1" dirty="0">
                <a:solidFill>
                  <a:srgbClr val="2E54A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机构等项目推荐</a:t>
            </a:r>
            <a:endParaRPr lang="zh-CN" altLang="en-US" b="1" dirty="0">
              <a:solidFill>
                <a:srgbClr val="2E54A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62" name="圆角矩形 10"/>
          <p:cNvSpPr/>
          <p:nvPr>
            <p:custDataLst>
              <p:tags r:id="rId10"/>
            </p:custDataLst>
          </p:nvPr>
        </p:nvSpPr>
        <p:spPr>
          <a:xfrm>
            <a:off x="809891" y="4616709"/>
            <a:ext cx="4424231" cy="644835"/>
          </a:xfrm>
          <a:prstGeom prst="roundRect">
            <a:avLst>
              <a:gd name="adj" fmla="val 8507"/>
            </a:avLst>
          </a:prstGeom>
          <a:solidFill>
            <a:schemeClr val="bg1">
              <a:lumMod val="75000"/>
              <a:alpha val="10980"/>
            </a:schemeClr>
          </a:solidFill>
          <a:ln w="6350" cmpd="sng">
            <a:noFill/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180000" tIns="90000" rIns="180000" bIns="90000" rtlCol="0" anchor="ctr"/>
          <a:lstStyle/>
          <a:p>
            <a:pPr>
              <a:lnSpc>
                <a:spcPct val="130000"/>
              </a:lnSpc>
            </a:pP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一级市场正融资项目（轮次、额度、进度等）</a:t>
            </a:r>
            <a:endParaRPr lang="zh-CN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63" name="圆角矩形 10"/>
          <p:cNvSpPr/>
          <p:nvPr>
            <p:custDataLst>
              <p:tags r:id="rId11"/>
            </p:custDataLst>
          </p:nvPr>
        </p:nvSpPr>
        <p:spPr>
          <a:xfrm>
            <a:off x="809891" y="5327518"/>
            <a:ext cx="4424231" cy="644835"/>
          </a:xfrm>
          <a:prstGeom prst="roundRect">
            <a:avLst>
              <a:gd name="adj" fmla="val 8507"/>
            </a:avLst>
          </a:prstGeom>
          <a:solidFill>
            <a:schemeClr val="bg1">
              <a:lumMod val="75000"/>
              <a:alpha val="10980"/>
            </a:schemeClr>
          </a:solidFill>
          <a:ln w="6350" cmpd="sng">
            <a:noFill/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180000" tIns="90000" rIns="180000" bIns="90000" rtlCol="0" anchor="ctr"/>
          <a:lstStyle/>
          <a:p>
            <a:pPr>
              <a:lnSpc>
                <a:spcPct val="130000"/>
              </a:lnSpc>
            </a:pP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全国范围内投融资对接会</a:t>
            </a:r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</a:t>
            </a: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路演活动等</a:t>
            </a:r>
            <a:endParaRPr lang="zh-CN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cxnSp>
        <p:nvCxnSpPr>
          <p:cNvPr id="69" name="直接连接符 68"/>
          <p:cNvCxnSpPr/>
          <p:nvPr>
            <p:custDataLst>
              <p:tags r:id="rId12"/>
            </p:custDataLst>
          </p:nvPr>
        </p:nvCxnSpPr>
        <p:spPr>
          <a:xfrm>
            <a:off x="5848640" y="2631365"/>
            <a:ext cx="0" cy="3254178"/>
          </a:xfrm>
          <a:prstGeom prst="line">
            <a:avLst/>
          </a:prstGeom>
          <a:noFill/>
          <a:ln w="12700" cap="flat" cmpd="sng" algn="ctr">
            <a:gradFill>
              <a:gsLst>
                <a:gs pos="68000">
                  <a:srgbClr val="387FAC">
                    <a:alpha val="50000"/>
                  </a:srgbClr>
                </a:gs>
                <a:gs pos="16000">
                  <a:srgbClr val="387FAC">
                    <a:alpha val="0"/>
                  </a:srgbClr>
                </a:gs>
                <a:gs pos="100000">
                  <a:srgbClr val="387FAC">
                    <a:alpha val="100000"/>
                  </a:srgbClr>
                </a:gs>
              </a:gsLst>
              <a:lin ang="5400000" scaled="1"/>
            </a:gradFill>
            <a:prstDash val="solid"/>
            <a:miter lim="800000"/>
            <a:tailEnd type="oval"/>
          </a:ln>
          <a:effectLst/>
        </p:spPr>
      </p:cxnSp>
      <p:sp>
        <p:nvSpPr>
          <p:cNvPr id="71" name="wps右边框"/>
          <p:cNvSpPr/>
          <p:nvPr>
            <p:custDataLst>
              <p:tags r:id="rId13"/>
            </p:custDataLst>
          </p:nvPr>
        </p:nvSpPr>
        <p:spPr>
          <a:xfrm flipH="1">
            <a:off x="5844939" y="1991053"/>
            <a:ext cx="5101247" cy="466502"/>
          </a:xfrm>
          <a:custGeom>
            <a:avLst/>
            <a:gdLst>
              <a:gd name="connsiteX0" fmla="*/ 0 w 914400"/>
              <a:gd name="connsiteY0" fmla="*/ 0 h 612648"/>
              <a:gd name="connsiteX1" fmla="*/ 914400 w 914400"/>
              <a:gd name="connsiteY1" fmla="*/ 0 h 612648"/>
              <a:gd name="connsiteX2" fmla="*/ 914400 w 914400"/>
              <a:gd name="connsiteY2" fmla="*/ 612648 h 612648"/>
              <a:gd name="connsiteX3" fmla="*/ 0 w 914400"/>
              <a:gd name="connsiteY3" fmla="*/ 612648 h 612648"/>
              <a:gd name="connsiteX4" fmla="*/ 0 w 914400"/>
              <a:gd name="connsiteY4" fmla="*/ 0 h 612648"/>
              <a:gd name="connsiteX0-1" fmla="*/ 2377 w 914400"/>
              <a:gd name="connsiteY0-2" fmla="*/ 7713 h 612648"/>
              <a:gd name="connsiteX1-3" fmla="*/ 916302 w 914400"/>
              <a:gd name="connsiteY1-4" fmla="*/ 1048 h 612648"/>
              <a:gd name="connsiteX0-5" fmla="*/ 0 w 916302"/>
              <a:gd name="connsiteY0-6" fmla="*/ 0 h 612648"/>
              <a:gd name="connsiteX1-7" fmla="*/ 914400 w 916302"/>
              <a:gd name="connsiteY1-8" fmla="*/ 0 h 612648"/>
              <a:gd name="connsiteX2-9" fmla="*/ 914400 w 916302"/>
              <a:gd name="connsiteY2-10" fmla="*/ 612648 h 612648"/>
              <a:gd name="connsiteX3-11" fmla="*/ 457200 w 916302"/>
              <a:gd name="connsiteY3-12" fmla="*/ 612624 h 612648"/>
              <a:gd name="connsiteX4-13" fmla="*/ 0 w 916302"/>
              <a:gd name="connsiteY4-14" fmla="*/ 612648 h 612648"/>
              <a:gd name="connsiteX5" fmla="*/ 0 w 916302"/>
              <a:gd name="connsiteY5" fmla="*/ 0 h 612648"/>
              <a:gd name="connsiteX0-15" fmla="*/ 2377 w 916302"/>
              <a:gd name="connsiteY0-16" fmla="*/ 7713 h 612648"/>
              <a:gd name="connsiteX1-17" fmla="*/ 916302 w 916302"/>
              <a:gd name="connsiteY1-18" fmla="*/ 1048 h 612648"/>
              <a:gd name="connsiteX0-19" fmla="*/ 0 w 914400"/>
              <a:gd name="connsiteY0-20" fmla="*/ 0 h 612648"/>
              <a:gd name="connsiteX1-21" fmla="*/ 914400 w 914400"/>
              <a:gd name="connsiteY1-22" fmla="*/ 0 h 612648"/>
              <a:gd name="connsiteX2-23" fmla="*/ 914400 w 914400"/>
              <a:gd name="connsiteY2-24" fmla="*/ 612648 h 612648"/>
              <a:gd name="connsiteX3-25" fmla="*/ 0 w 914400"/>
              <a:gd name="connsiteY3-26" fmla="*/ 612648 h 612648"/>
              <a:gd name="connsiteX4-27" fmla="*/ 0 w 914400"/>
              <a:gd name="connsiteY4-28" fmla="*/ 0 h 612648"/>
              <a:gd name="connsiteX0-29" fmla="*/ 914400 w 914400"/>
              <a:gd name="connsiteY0-30" fmla="*/ 0 h 612648"/>
              <a:gd name="connsiteX1-31" fmla="*/ 914400 w 914400"/>
              <a:gd name="connsiteY1-32" fmla="*/ 612648 h 61264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</a:cxnLst>
            <a:rect l="l" t="t" r="r" b="b"/>
            <a:pathLst>
              <a:path w="914400" h="612648" stroke="0" extrusionOk="0">
                <a:moveTo>
                  <a:pt x="0" y="0"/>
                </a:moveTo>
                <a:lnTo>
                  <a:pt x="914400" y="0"/>
                </a:lnTo>
                <a:lnTo>
                  <a:pt x="914400" y="612648"/>
                </a:lnTo>
                <a:lnTo>
                  <a:pt x="0" y="612648"/>
                </a:lnTo>
                <a:lnTo>
                  <a:pt x="0" y="0"/>
                </a:lnTo>
                <a:close/>
              </a:path>
              <a:path w="914400" h="612648" fill="none" extrusionOk="0">
                <a:moveTo>
                  <a:pt x="914400" y="0"/>
                </a:moveTo>
                <a:lnTo>
                  <a:pt x="914400" y="612648"/>
                </a:lnTo>
              </a:path>
            </a:pathLst>
          </a:custGeom>
          <a:gradFill>
            <a:gsLst>
              <a:gs pos="0">
                <a:srgbClr val="F3F7F8">
                  <a:alpha val="0"/>
                </a:srgbClr>
              </a:gs>
              <a:gs pos="69000">
                <a:srgbClr val="F3F7F8"/>
              </a:gs>
              <a:gs pos="100000">
                <a:srgbClr val="BFDAF7">
                  <a:alpha val="31000"/>
                </a:srgbClr>
              </a:gs>
            </a:gsLst>
            <a:lin ang="0" scaled="0"/>
          </a:gradFill>
          <a:ln w="38100">
            <a:solidFill>
              <a:srgbClr val="1B7A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180000" tIns="0" rIns="0" bIns="0" numCol="1" spcCol="0" rtlCol="0" fromWordArt="0" anchor="ctr" anchorCtr="0" forceAA="0" compatLnSpc="1">
            <a:noAutofit/>
          </a:bodyPr>
          <a:lstStyle/>
          <a:p>
            <a:r>
              <a:rPr lang="zh-CN" altLang="en-US" sz="1800" b="1" dirty="0">
                <a:solidFill>
                  <a:srgbClr val="0A2B7B"/>
                </a:solidFill>
                <a:latin typeface="微软雅黑" panose="020B0503020204020204" charset="-122"/>
                <a:ea typeface="微软雅黑" panose="020B0503020204020204" charset="-122"/>
              </a:rPr>
              <a:t>数据入口</a:t>
            </a:r>
            <a:endParaRPr lang="zh-CN" altLang="en-US" sz="1800" b="1" dirty="0">
              <a:solidFill>
                <a:srgbClr val="0A2B7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82" name="组合 81"/>
          <p:cNvGrpSpPr/>
          <p:nvPr/>
        </p:nvGrpSpPr>
        <p:grpSpPr>
          <a:xfrm>
            <a:off x="6271522" y="2746892"/>
            <a:ext cx="4412087" cy="558902"/>
            <a:chOff x="6970022" y="2733285"/>
            <a:chExt cx="4412087" cy="558902"/>
          </a:xfrm>
        </p:grpSpPr>
        <p:cxnSp>
          <p:nvCxnSpPr>
            <p:cNvPr id="75" name="直接连接符 74"/>
            <p:cNvCxnSpPr/>
            <p:nvPr/>
          </p:nvCxnSpPr>
          <p:spPr>
            <a:xfrm>
              <a:off x="6970022" y="2733285"/>
              <a:ext cx="0" cy="558902"/>
            </a:xfrm>
            <a:prstGeom prst="line">
              <a:avLst/>
            </a:prstGeom>
            <a:noFill/>
            <a:ln w="19050" cap="flat" cmpd="sng" algn="ctr">
              <a:gradFill>
                <a:gsLst>
                  <a:gs pos="0">
                    <a:srgbClr val="F2F2F2">
                      <a:alpha val="0"/>
                    </a:srgbClr>
                  </a:gs>
                  <a:gs pos="100000">
                    <a:srgbClr val="F2F2F2">
                      <a:alpha val="0"/>
                    </a:srgbClr>
                  </a:gs>
                  <a:gs pos="57000">
                    <a:schemeClr val="accent1">
                      <a:lumMod val="45000"/>
                      <a:lumOff val="55000"/>
                    </a:schemeClr>
                  </a:gs>
                </a:gsLst>
                <a:lin ang="5400000" scaled="0"/>
              </a:gradFill>
              <a:prstDash val="solid"/>
              <a:miter lim="800000"/>
            </a:ln>
            <a:effectLst/>
          </p:spPr>
        </p:cxnSp>
        <p:sp>
          <p:nvSpPr>
            <p:cNvPr id="76" name="文本框 75"/>
            <p:cNvSpPr txBox="1"/>
            <p:nvPr/>
          </p:nvSpPr>
          <p:spPr>
            <a:xfrm>
              <a:off x="7079591" y="2831340"/>
              <a:ext cx="4302518" cy="3289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2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b="1" i="0" u="none" strike="noStrike" kern="100" cap="none" spc="0" normalizeH="0" baseline="0" noProof="0" dirty="0">
                  <a:ln>
                    <a:noFill/>
                  </a:ln>
                  <a:solidFill>
                    <a:srgbClr val="003087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企查查</a:t>
              </a:r>
              <a:r>
                <a:rPr kumimoji="0" lang="en-US" altLang="zh-CN" b="1" i="0" u="none" strike="noStrike" kern="100" cap="none" spc="0" normalizeH="0" baseline="0" noProof="0" dirty="0">
                  <a:ln>
                    <a:noFill/>
                  </a:ln>
                  <a:solidFill>
                    <a:srgbClr val="003087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/</a:t>
              </a:r>
              <a:r>
                <a:rPr kumimoji="0" lang="zh-CN" altLang="en-US" b="1" i="0" u="none" strike="noStrike" kern="100" cap="none" spc="0" normalizeH="0" baseline="0" noProof="0" dirty="0">
                  <a:ln>
                    <a:noFill/>
                  </a:ln>
                  <a:solidFill>
                    <a:srgbClr val="003087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天眼查等、相关政府部门掌握清单</a:t>
              </a:r>
              <a:endParaRPr kumimoji="0" lang="zh-CN" altLang="en-US" b="1" i="0" u="none" strike="noStrike" kern="100" cap="none" spc="0" normalizeH="0" baseline="0" noProof="0" dirty="0">
                <a:ln>
                  <a:noFill/>
                </a:ln>
                <a:solidFill>
                  <a:srgbClr val="00308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83" name="组合 82"/>
          <p:cNvGrpSpPr/>
          <p:nvPr/>
        </p:nvGrpSpPr>
        <p:grpSpPr>
          <a:xfrm>
            <a:off x="6271522" y="3395231"/>
            <a:ext cx="4412087" cy="558902"/>
            <a:chOff x="6970022" y="2733285"/>
            <a:chExt cx="4412087" cy="558902"/>
          </a:xfrm>
        </p:grpSpPr>
        <p:cxnSp>
          <p:nvCxnSpPr>
            <p:cNvPr id="84" name="直接连接符 83"/>
            <p:cNvCxnSpPr/>
            <p:nvPr/>
          </p:nvCxnSpPr>
          <p:spPr>
            <a:xfrm>
              <a:off x="6970022" y="2733285"/>
              <a:ext cx="0" cy="558902"/>
            </a:xfrm>
            <a:prstGeom prst="line">
              <a:avLst/>
            </a:prstGeom>
            <a:noFill/>
            <a:ln w="19050" cap="flat" cmpd="sng" algn="ctr">
              <a:gradFill>
                <a:gsLst>
                  <a:gs pos="0">
                    <a:srgbClr val="F2F2F2">
                      <a:alpha val="0"/>
                    </a:srgbClr>
                  </a:gs>
                  <a:gs pos="100000">
                    <a:srgbClr val="F2F2F2">
                      <a:alpha val="0"/>
                    </a:srgbClr>
                  </a:gs>
                  <a:gs pos="57000">
                    <a:schemeClr val="accent1">
                      <a:lumMod val="45000"/>
                      <a:lumOff val="55000"/>
                    </a:schemeClr>
                  </a:gs>
                </a:gsLst>
                <a:lin ang="5400000" scaled="0"/>
              </a:gradFill>
              <a:prstDash val="solid"/>
              <a:miter lim="800000"/>
            </a:ln>
            <a:effectLst/>
          </p:spPr>
        </p:cxnSp>
        <p:sp>
          <p:nvSpPr>
            <p:cNvPr id="85" name="文本框 84"/>
            <p:cNvSpPr txBox="1"/>
            <p:nvPr/>
          </p:nvSpPr>
          <p:spPr>
            <a:xfrm>
              <a:off x="7079591" y="2831340"/>
              <a:ext cx="4302518" cy="3289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2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b="1" i="0" u="none" strike="noStrike" kern="100" cap="none" spc="0" normalizeH="0" baseline="0" noProof="0" dirty="0">
                  <a:ln>
                    <a:noFill/>
                  </a:ln>
                  <a:solidFill>
                    <a:srgbClr val="003087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相关政府部门掌握清单</a:t>
              </a:r>
              <a:endParaRPr kumimoji="0" lang="zh-CN" altLang="en-US" b="1" i="0" u="none" strike="noStrike" kern="100" cap="none" spc="0" normalizeH="0" baseline="0" noProof="0" dirty="0">
                <a:ln>
                  <a:noFill/>
                </a:ln>
                <a:solidFill>
                  <a:srgbClr val="00308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86" name="组合 85"/>
          <p:cNvGrpSpPr/>
          <p:nvPr/>
        </p:nvGrpSpPr>
        <p:grpSpPr>
          <a:xfrm>
            <a:off x="6271522" y="4043570"/>
            <a:ext cx="4412087" cy="558902"/>
            <a:chOff x="6970022" y="2733285"/>
            <a:chExt cx="4412087" cy="558902"/>
          </a:xfrm>
        </p:grpSpPr>
        <p:cxnSp>
          <p:nvCxnSpPr>
            <p:cNvPr id="87" name="直接连接符 86"/>
            <p:cNvCxnSpPr/>
            <p:nvPr/>
          </p:nvCxnSpPr>
          <p:spPr>
            <a:xfrm>
              <a:off x="6970022" y="2733285"/>
              <a:ext cx="0" cy="558902"/>
            </a:xfrm>
            <a:prstGeom prst="line">
              <a:avLst/>
            </a:prstGeom>
            <a:noFill/>
            <a:ln w="19050" cap="flat" cmpd="sng" algn="ctr">
              <a:gradFill>
                <a:gsLst>
                  <a:gs pos="0">
                    <a:srgbClr val="F2F2F2">
                      <a:alpha val="0"/>
                    </a:srgbClr>
                  </a:gs>
                  <a:gs pos="100000">
                    <a:srgbClr val="F2F2F2">
                      <a:alpha val="0"/>
                    </a:srgbClr>
                  </a:gs>
                  <a:gs pos="57000">
                    <a:schemeClr val="accent1">
                      <a:lumMod val="45000"/>
                      <a:lumOff val="55000"/>
                    </a:schemeClr>
                  </a:gs>
                </a:gsLst>
                <a:lin ang="5400000" scaled="0"/>
              </a:gradFill>
              <a:prstDash val="solid"/>
              <a:miter lim="800000"/>
            </a:ln>
            <a:effectLst/>
          </p:spPr>
        </p:cxnSp>
        <p:sp>
          <p:nvSpPr>
            <p:cNvPr id="88" name="文本框 87"/>
            <p:cNvSpPr txBox="1"/>
            <p:nvPr/>
          </p:nvSpPr>
          <p:spPr>
            <a:xfrm>
              <a:off x="7079591" y="2831340"/>
              <a:ext cx="4302518" cy="3289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2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b="1" i="0" u="none" strike="noStrike" kern="100" cap="none" spc="0" normalizeH="0" baseline="0" noProof="0" dirty="0">
                  <a:ln>
                    <a:noFill/>
                  </a:ln>
                  <a:solidFill>
                    <a:srgbClr val="003087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与头部创投机构建立信息交换机制，获取项目清单</a:t>
              </a:r>
              <a:endParaRPr kumimoji="0" lang="zh-CN" altLang="en-US" b="1" i="0" u="none" strike="noStrike" kern="100" cap="none" spc="0" normalizeH="0" baseline="0" noProof="0" dirty="0">
                <a:ln>
                  <a:noFill/>
                </a:ln>
                <a:solidFill>
                  <a:srgbClr val="00308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89" name="组合 88"/>
          <p:cNvGrpSpPr/>
          <p:nvPr/>
        </p:nvGrpSpPr>
        <p:grpSpPr>
          <a:xfrm>
            <a:off x="6271522" y="4691909"/>
            <a:ext cx="4412087" cy="558902"/>
            <a:chOff x="6970022" y="2733285"/>
            <a:chExt cx="4412087" cy="558902"/>
          </a:xfrm>
        </p:grpSpPr>
        <p:cxnSp>
          <p:nvCxnSpPr>
            <p:cNvPr id="90" name="直接连接符 89"/>
            <p:cNvCxnSpPr/>
            <p:nvPr/>
          </p:nvCxnSpPr>
          <p:spPr>
            <a:xfrm>
              <a:off x="6970022" y="2733285"/>
              <a:ext cx="0" cy="558902"/>
            </a:xfrm>
            <a:prstGeom prst="line">
              <a:avLst/>
            </a:prstGeom>
            <a:noFill/>
            <a:ln w="19050" cap="flat" cmpd="sng" algn="ctr">
              <a:gradFill>
                <a:gsLst>
                  <a:gs pos="0">
                    <a:srgbClr val="F2F2F2">
                      <a:alpha val="0"/>
                    </a:srgbClr>
                  </a:gs>
                  <a:gs pos="100000">
                    <a:srgbClr val="F2F2F2">
                      <a:alpha val="0"/>
                    </a:srgbClr>
                  </a:gs>
                  <a:gs pos="57000">
                    <a:schemeClr val="accent1">
                      <a:lumMod val="45000"/>
                      <a:lumOff val="55000"/>
                    </a:schemeClr>
                  </a:gs>
                </a:gsLst>
                <a:lin ang="5400000" scaled="0"/>
              </a:gradFill>
              <a:prstDash val="solid"/>
              <a:miter lim="800000"/>
            </a:ln>
            <a:effectLst/>
          </p:spPr>
        </p:cxnSp>
        <p:sp>
          <p:nvSpPr>
            <p:cNvPr id="91" name="文本框 90"/>
            <p:cNvSpPr txBox="1"/>
            <p:nvPr/>
          </p:nvSpPr>
          <p:spPr>
            <a:xfrm>
              <a:off x="7079591" y="2831340"/>
              <a:ext cx="4302518" cy="3289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2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i="0" u="none" strike="noStrike" kern="1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创投数据与投融资对接平台（‌鲸准‌、‌财联社创投通等）</a:t>
              </a:r>
              <a:endParaRPr kumimoji="0" lang="zh-CN" altLang="en-US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92" name="组合 91"/>
          <p:cNvGrpSpPr/>
          <p:nvPr/>
        </p:nvGrpSpPr>
        <p:grpSpPr>
          <a:xfrm>
            <a:off x="6271522" y="5340248"/>
            <a:ext cx="4412087" cy="558902"/>
            <a:chOff x="6970022" y="2733285"/>
            <a:chExt cx="4412087" cy="558902"/>
          </a:xfrm>
        </p:grpSpPr>
        <p:cxnSp>
          <p:nvCxnSpPr>
            <p:cNvPr id="93" name="直接连接符 92"/>
            <p:cNvCxnSpPr/>
            <p:nvPr/>
          </p:nvCxnSpPr>
          <p:spPr>
            <a:xfrm>
              <a:off x="6970022" y="2733285"/>
              <a:ext cx="0" cy="558902"/>
            </a:xfrm>
            <a:prstGeom prst="line">
              <a:avLst/>
            </a:prstGeom>
            <a:noFill/>
            <a:ln w="19050" cap="flat" cmpd="sng" algn="ctr">
              <a:gradFill>
                <a:gsLst>
                  <a:gs pos="0">
                    <a:srgbClr val="F2F2F2">
                      <a:alpha val="0"/>
                    </a:srgbClr>
                  </a:gs>
                  <a:gs pos="100000">
                    <a:srgbClr val="F2F2F2">
                      <a:alpha val="0"/>
                    </a:srgbClr>
                  </a:gs>
                  <a:gs pos="57000">
                    <a:schemeClr val="accent1">
                      <a:lumMod val="45000"/>
                      <a:lumOff val="55000"/>
                    </a:schemeClr>
                  </a:gs>
                </a:gsLst>
                <a:lin ang="5400000" scaled="0"/>
              </a:gradFill>
              <a:prstDash val="solid"/>
              <a:miter lim="800000"/>
            </a:ln>
            <a:effectLst/>
          </p:spPr>
        </p:cxnSp>
        <p:sp>
          <p:nvSpPr>
            <p:cNvPr id="94" name="文本框 93"/>
            <p:cNvSpPr txBox="1"/>
            <p:nvPr/>
          </p:nvSpPr>
          <p:spPr>
            <a:xfrm>
              <a:off x="7079591" y="2831340"/>
              <a:ext cx="4302518" cy="3289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2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i="0" u="none" strike="noStrike" kern="1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投融资对接会等相关新闻报告等</a:t>
              </a:r>
              <a:endParaRPr kumimoji="0" lang="zh-CN" altLang="en-US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文本框 37"/>
          <p:cNvSpPr txBox="1"/>
          <p:nvPr>
            <p:custDataLst>
              <p:tags r:id="rId1"/>
            </p:custDataLst>
          </p:nvPr>
        </p:nvSpPr>
        <p:spPr>
          <a:xfrm>
            <a:off x="9991725" y="2575560"/>
            <a:ext cx="19050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线索分级打标</a:t>
            </a:r>
            <a:endParaRPr lang="zh-CN" altLang="en-US" sz="16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AutoShape 9"/>
          <p:cNvSpPr/>
          <p:nvPr>
            <p:custDataLst>
              <p:tags r:id="rId2"/>
            </p:custDataLst>
          </p:nvPr>
        </p:nvSpPr>
        <p:spPr>
          <a:xfrm>
            <a:off x="5376545" y="2591435"/>
            <a:ext cx="1620520" cy="19431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zh-CN" altLang="en-US" sz="1600" b="1" i="0" u="none" strike="noStrike">
                <a:solidFill>
                  <a:srgbClr val="FFFFFF">
                    <a:alpha val="8509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企业基本面</a:t>
            </a:r>
            <a:endParaRPr lang="zh-CN" altLang="en-US" sz="1600" b="1" i="0" u="none" strike="noStrike">
              <a:solidFill>
                <a:srgbClr val="FFFFFF">
                  <a:alpha val="85098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7" name="文本框 36"/>
          <p:cNvSpPr txBox="1"/>
          <p:nvPr>
            <p:custDataLst>
              <p:tags r:id="rId3"/>
            </p:custDataLst>
          </p:nvPr>
        </p:nvSpPr>
        <p:spPr>
          <a:xfrm>
            <a:off x="9027160" y="2535555"/>
            <a:ext cx="1904365" cy="2533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6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风险与竞争研判</a:t>
            </a:r>
            <a:endParaRPr lang="zh-CN" altLang="en-US" sz="16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7" name="表格 6"/>
          <p:cNvGraphicFramePr/>
          <p:nvPr>
            <p:custDataLst>
              <p:tags r:id="rId4"/>
            </p:custDataLst>
          </p:nvPr>
        </p:nvGraphicFramePr>
        <p:xfrm>
          <a:off x="356235" y="2591435"/>
          <a:ext cx="11225530" cy="3833495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2365194"/>
                <a:gridCol w="4898571"/>
                <a:gridCol w="3961765"/>
              </a:tblGrid>
              <a:tr h="615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latin typeface="微软雅黑" panose="020B0503020204020204" charset="-122"/>
                          <a:ea typeface="微软雅黑" panose="020B0503020204020204" charset="-122"/>
                        </a:rPr>
                        <a:t>核验维度及权重</a:t>
                      </a:r>
                      <a:endParaRPr lang="zh-CN" altLang="en-US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核验具体信息</a:t>
                      </a:r>
                      <a:endParaRPr lang="zh-CN" altLang="en-US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数据来源</a:t>
                      </a:r>
                      <a:endParaRPr lang="zh-CN" altLang="en-US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1"/>
                </a:tc>
              </a:tr>
              <a:tr h="6165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latin typeface="微软雅黑" panose="020B0503020204020204" charset="-122"/>
                          <a:ea typeface="微软雅黑" panose="020B0503020204020204" charset="-122"/>
                        </a:rPr>
                        <a:t>产业匹配度（</a:t>
                      </a:r>
                      <a:r>
                        <a:rPr lang="en-US" altLang="zh-CN">
                          <a:latin typeface="微软雅黑" panose="020B0503020204020204" charset="-122"/>
                          <a:ea typeface="微软雅黑" panose="020B0503020204020204" charset="-122"/>
                        </a:rPr>
                        <a:t>20%</a:t>
                      </a:r>
                      <a:r>
                        <a:rPr lang="zh-CN" altLang="en-US">
                          <a:latin typeface="微软雅黑" panose="020B0503020204020204" charset="-122"/>
                          <a:ea typeface="微软雅黑" panose="020B0503020204020204" charset="-122"/>
                        </a:rPr>
                        <a:t>）</a:t>
                      </a:r>
                      <a:endParaRPr lang="zh-CN" altLang="en-US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业务赛道、主营产品、技术方向等是否契合重点产业领域</a:t>
                      </a:r>
                      <a:endParaRPr lang="zh-CN" altLang="en-US" sz="14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企业官网、企查查</a:t>
                      </a:r>
                      <a:r>
                        <a:rPr lang="en-US" altLang="zh-CN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/</a:t>
                      </a:r>
                      <a:r>
                        <a:rPr lang="zh-CN" altLang="en-US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天眼查等</a:t>
                      </a:r>
                      <a:endParaRPr lang="zh-CN" altLang="en-US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1"/>
                </a:tc>
              </a:tr>
              <a:tr h="615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latin typeface="微软雅黑" panose="020B0503020204020204" charset="-122"/>
                          <a:ea typeface="微软雅黑" panose="020B0503020204020204" charset="-122"/>
                        </a:rPr>
                        <a:t>基本画像（</a:t>
                      </a:r>
                      <a:r>
                        <a:rPr lang="en-US" altLang="zh-CN">
                          <a:latin typeface="微软雅黑" panose="020B0503020204020204" charset="-122"/>
                          <a:ea typeface="微软雅黑" panose="020B0503020204020204" charset="-122"/>
                        </a:rPr>
                        <a:t>20%</a:t>
                      </a:r>
                      <a:r>
                        <a:rPr lang="zh-CN" altLang="en-US">
                          <a:latin typeface="微软雅黑" panose="020B0503020204020204" charset="-122"/>
                          <a:ea typeface="微软雅黑" panose="020B0503020204020204" charset="-122"/>
                        </a:rPr>
                        <a:t>）</a:t>
                      </a:r>
                      <a:endParaRPr lang="zh-CN" altLang="en-US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基本工商信息</a:t>
                      </a:r>
                      <a:endParaRPr lang="zh-CN" altLang="en-US" sz="14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企查查</a:t>
                      </a:r>
                      <a:r>
                        <a:rPr lang="en-US" altLang="zh-CN" sz="14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/</a:t>
                      </a:r>
                      <a:r>
                        <a:rPr lang="zh-CN" altLang="en-US" sz="14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天眼查等</a:t>
                      </a:r>
                      <a:endParaRPr lang="zh-CN" altLang="en-US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1"/>
                </a:tc>
              </a:tr>
              <a:tr h="767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latin typeface="微软雅黑" panose="020B0503020204020204" charset="-122"/>
                          <a:ea typeface="微软雅黑" panose="020B0503020204020204" charset="-122"/>
                        </a:rPr>
                        <a:t>风险诉讼（</a:t>
                      </a:r>
                      <a:r>
                        <a:rPr lang="en-US" altLang="zh-CN">
                          <a:latin typeface="微软雅黑" panose="020B0503020204020204" charset="-122"/>
                          <a:ea typeface="微软雅黑" panose="020B0503020204020204" charset="-122"/>
                        </a:rPr>
                        <a:t>20%</a:t>
                      </a:r>
                      <a:r>
                        <a:rPr lang="zh-CN" altLang="en-US">
                          <a:latin typeface="微软雅黑" panose="020B0503020204020204" charset="-122"/>
                          <a:ea typeface="微软雅黑" panose="020B0503020204020204" charset="-122"/>
                        </a:rPr>
                        <a:t>）</a:t>
                      </a:r>
                      <a:endParaRPr lang="zh-CN" altLang="en-US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排查债务、诉讼、行政处罚、技术迭代等潜在风险</a:t>
                      </a:r>
                      <a:endParaRPr lang="zh-CN" altLang="en-US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中国裁判文书网、信用中国、中国执行信息公开网、国家企业信用信息公示系统</a:t>
                      </a:r>
                      <a:endParaRPr lang="zh-CN" altLang="en-US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1"/>
                </a:tc>
              </a:tr>
              <a:tr h="6165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latin typeface="微软雅黑" panose="020B0503020204020204" charset="-122"/>
                          <a:ea typeface="微软雅黑" panose="020B0503020204020204" charset="-122"/>
                        </a:rPr>
                        <a:t>创新能力（</a:t>
                      </a:r>
                      <a:r>
                        <a:rPr lang="en-US" altLang="zh-CN">
                          <a:latin typeface="微软雅黑" panose="020B0503020204020204" charset="-122"/>
                          <a:ea typeface="微软雅黑" panose="020B0503020204020204" charset="-122"/>
                        </a:rPr>
                        <a:t>20%</a:t>
                      </a:r>
                      <a:r>
                        <a:rPr lang="zh-CN" altLang="en-US">
                          <a:latin typeface="微软雅黑" panose="020B0503020204020204" charset="-122"/>
                          <a:ea typeface="微软雅黑" panose="020B0503020204020204" charset="-122"/>
                        </a:rPr>
                        <a:t>）</a:t>
                      </a:r>
                      <a:endParaRPr lang="zh-CN" altLang="en-US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知识产权数量、研发人员占比</a:t>
                      </a:r>
                      <a:endParaRPr lang="zh-CN" altLang="en-US" sz="14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国知局专利</a:t>
                      </a:r>
                      <a:r>
                        <a:rPr lang="en-US" altLang="zh-CN" sz="14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/</a:t>
                      </a:r>
                      <a:r>
                        <a:rPr lang="zh-CN" altLang="en-US" sz="14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软著库、企业官网、上交所 / 深交所企业公告等</a:t>
                      </a:r>
                      <a:endParaRPr lang="zh-CN" altLang="en-US" sz="14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endParaRPr>
                    </a:p>
                  </a:txBody>
                  <a:tcPr anchor="ctr" anchorCtr="1"/>
                </a:tc>
              </a:tr>
              <a:tr h="6013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latin typeface="微软雅黑" panose="020B0503020204020204" charset="-122"/>
                          <a:ea typeface="微软雅黑" panose="020B0503020204020204" charset="-122"/>
                        </a:rPr>
                        <a:t>竞争能力（</a:t>
                      </a:r>
                      <a:r>
                        <a:rPr lang="en-US" altLang="zh-CN">
                          <a:latin typeface="微软雅黑" panose="020B0503020204020204" charset="-122"/>
                          <a:ea typeface="微软雅黑" panose="020B0503020204020204" charset="-122"/>
                        </a:rPr>
                        <a:t>15%</a:t>
                      </a:r>
                      <a:r>
                        <a:rPr lang="zh-CN" altLang="en-US">
                          <a:latin typeface="微软雅黑" panose="020B0503020204020204" charset="-122"/>
                          <a:ea typeface="微软雅黑" panose="020B0503020204020204" charset="-122"/>
                        </a:rPr>
                        <a:t>）</a:t>
                      </a:r>
                      <a:endParaRPr lang="zh-CN" altLang="en-US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>
                          <a:latin typeface="微软雅黑" panose="020B0503020204020204" charset="-122"/>
                          <a:ea typeface="微软雅黑" panose="020B0503020204020204" charset="-122"/>
                        </a:rPr>
                        <a:t>资质认定、行业荣誉等</a:t>
                      </a:r>
                      <a:endParaRPr lang="zh-CN" altLang="en-US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企业官网、</a:t>
                      </a:r>
                      <a:r>
                        <a:rPr lang="zh-CN" altLang="en-US" sz="14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上交所 / 深交所企业公告、政府优质企业榜单新闻等</a:t>
                      </a:r>
                      <a:endParaRPr lang="zh-CN" altLang="en-US" sz="14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endParaRPr>
                    </a:p>
                  </a:txBody>
                  <a:tcPr anchor="ctr" anchorCtr="1"/>
                </a:tc>
              </a:tr>
            </a:tbl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318770" y="1211580"/>
            <a:ext cx="11409045" cy="450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eaLnBrk="1" fontAlgn="auto" latinLnBrk="0" hangingPunct="1">
              <a:lnSpc>
                <a:spcPts val="2800"/>
              </a:lnSpc>
            </a:pP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AutoShape 2"/>
          <p:cNvSpPr/>
          <p:nvPr/>
        </p:nvSpPr>
        <p:spPr>
          <a:xfrm>
            <a:off x="508000" y="431800"/>
            <a:ext cx="76200" cy="381000"/>
          </a:xfrm>
          <a:prstGeom prst="roundRect">
            <a:avLst>
              <a:gd name="adj" fmla="val 0"/>
            </a:avLst>
          </a:prstGeom>
          <a:solidFill>
            <a:srgbClr val="00308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3"/>
          <p:cNvSpPr/>
          <p:nvPr/>
        </p:nvSpPr>
        <p:spPr>
          <a:xfrm>
            <a:off x="711200" y="368300"/>
            <a:ext cx="10414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08000"/>
              </a:lnSpc>
              <a:defRPr/>
            </a:pPr>
            <a:r>
              <a:rPr lang="zh-CN" altLang="en-US" sz="21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环节二：线索核验</a:t>
            </a:r>
            <a:endParaRPr lang="zh-CN" altLang="en-US" sz="21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1" name="Connector 5"/>
          <p:cNvCxnSpPr/>
          <p:nvPr/>
        </p:nvCxnSpPr>
        <p:spPr>
          <a:xfrm rot="21596094">
            <a:off x="508000" y="965200"/>
            <a:ext cx="1117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5"/>
          <p:cNvSpPr txBox="1"/>
          <p:nvPr>
            <p:custDataLst>
              <p:tags r:id="rId5"/>
            </p:custDataLst>
          </p:nvPr>
        </p:nvSpPr>
        <p:spPr>
          <a:xfrm>
            <a:off x="534580" y="1086485"/>
            <a:ext cx="11176000" cy="67723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eaLnBrk="1" fontAlgn="auto" latinLnBrk="0" hangingPunct="1">
              <a:lnSpc>
                <a:spcPts val="2800"/>
              </a:lnSpc>
            </a:pPr>
            <a:r>
              <a:rPr lang="zh-CN" altLang="en-US" sz="1600" b="1" u="sng" dirty="0">
                <a:solidFill>
                  <a:srgbClr val="0030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核心逻辑：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对挖掘获取的原始线索开展初步判断，搭建包括产业匹配度、企业基本画像、风险诉讼、创新能力、竞争能力等在内的评价模型，重点甄别企业</a:t>
            </a:r>
            <a:r>
              <a:rPr lang="en-US" altLang="zh-CN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项目真实性、发展能力</a:t>
            </a:r>
            <a:endParaRPr lang="zh-CN" altLang="en-US" sz="16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MH_SubTitle_2"/>
          <p:cNvSpPr>
            <a:spLocks noChangeArrowheads="1"/>
          </p:cNvSpPr>
          <p:nvPr>
            <p:custDataLst>
              <p:tags r:id="rId6"/>
            </p:custDataLst>
          </p:nvPr>
        </p:nvSpPr>
        <p:spPr bwMode="gray">
          <a:xfrm>
            <a:off x="444500" y="1980198"/>
            <a:ext cx="3684814" cy="422738"/>
          </a:xfrm>
          <a:prstGeom prst="roundRect">
            <a:avLst>
              <a:gd name="adj" fmla="val 50000"/>
            </a:avLst>
          </a:prstGeom>
          <a:solidFill>
            <a:srgbClr val="03549D"/>
          </a:solidFill>
          <a:ln>
            <a:noFill/>
          </a:ln>
        </p:spPr>
        <p:txBody>
          <a:bodyPr lIns="0" tIns="0" rIns="0" bIns="0" anchor="ctr" anchorCtr="1"/>
          <a:lstStyle/>
          <a:p>
            <a:pPr algn="ctr">
              <a:lnSpc>
                <a:spcPct val="100000"/>
              </a:lnSpc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核验维度与数据</a:t>
            </a:r>
            <a:r>
              <a:rPr lang="zh-CN" altLang="en-US"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来源</a:t>
            </a:r>
            <a:endParaRPr lang="zh-CN" altLang="en-US" sz="18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/>
          <p:nvPr/>
        </p:nvSpPr>
        <p:spPr>
          <a:xfrm>
            <a:off x="703942" y="3656817"/>
            <a:ext cx="4686935" cy="5245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eaLnBrk="1" fontAlgn="auto" latinLnBrk="0" hangingPunct="1">
              <a:lnSpc>
                <a:spcPct val="150000"/>
              </a:lnSpc>
            </a:pPr>
            <a:r>
              <a:rPr lang="zh-CN" altLang="en-US" sz="1600" b="1" u="sng" dirty="0">
                <a:latin typeface="微软雅黑" panose="020B0503020204020204" charset="-122"/>
                <a:ea typeface="微软雅黑" panose="020B0503020204020204" charset="-122"/>
              </a:rPr>
              <a:t>推送形式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</a:rPr>
              <a:t>：支持日 / 周定向推送</a:t>
            </a:r>
            <a:endParaRPr lang="zh-CN" altLang="en-US" sz="16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indent="0" eaLnBrk="1" fontAlgn="auto" latinLnBrk="0" hangingPunct="1">
              <a:lnSpc>
                <a:spcPct val="150000"/>
              </a:lnSpc>
            </a:pPr>
            <a:endParaRPr lang="zh-CN" altLang="en-US" sz="16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5524316" y="2880647"/>
            <a:ext cx="5963742" cy="3138896"/>
          </a:xfrm>
          <a:prstGeom prst="rect">
            <a:avLst/>
          </a:prstGeom>
          <a:effectLst>
            <a:outerShdw blurRad="101600" dist="1016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AutoShape 2"/>
          <p:cNvSpPr/>
          <p:nvPr/>
        </p:nvSpPr>
        <p:spPr>
          <a:xfrm>
            <a:off x="508000" y="431800"/>
            <a:ext cx="76200" cy="381000"/>
          </a:xfrm>
          <a:prstGeom prst="roundRect">
            <a:avLst>
              <a:gd name="adj" fmla="val 0"/>
            </a:avLst>
          </a:prstGeom>
          <a:solidFill>
            <a:srgbClr val="00308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3"/>
          <p:cNvSpPr/>
          <p:nvPr/>
        </p:nvSpPr>
        <p:spPr>
          <a:xfrm>
            <a:off x="711200" y="368300"/>
            <a:ext cx="10414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08000"/>
              </a:lnSpc>
              <a:defRPr/>
            </a:pPr>
            <a:r>
              <a:rPr lang="zh-CN" altLang="en-US" sz="21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环节三：线索推荐</a:t>
            </a:r>
            <a:endParaRPr lang="zh-CN" altLang="en-US" sz="21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5" name="Connector 5"/>
          <p:cNvCxnSpPr/>
          <p:nvPr/>
        </p:nvCxnSpPr>
        <p:spPr>
          <a:xfrm rot="21596094">
            <a:off x="508000" y="965200"/>
            <a:ext cx="1117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AutoShape 5"/>
          <p:cNvSpPr txBox="1"/>
          <p:nvPr>
            <p:custDataLst>
              <p:tags r:id="rId3"/>
            </p:custDataLst>
          </p:nvPr>
        </p:nvSpPr>
        <p:spPr>
          <a:xfrm>
            <a:off x="534580" y="1086485"/>
            <a:ext cx="11176000" cy="103630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eaLnBrk="1" fontAlgn="auto" latinLnBrk="0" hangingPunct="1">
              <a:lnSpc>
                <a:spcPts val="2800"/>
              </a:lnSpc>
            </a:pPr>
            <a:r>
              <a:rPr lang="zh-CN" altLang="en-US" sz="1600" b="1" u="sng" dirty="0">
                <a:solidFill>
                  <a:srgbClr val="003087"/>
                </a:solidFill>
                <a:latin typeface="微软雅黑" panose="020B0503020204020204" charset="-122"/>
                <a:ea typeface="微软雅黑" panose="020B0503020204020204" charset="-122"/>
              </a:rPr>
              <a:t>核心逻辑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：线索推荐是线索运营的收尾输出环节，承接线索挖掘、线索分析的全量研判数据，最终形成</a:t>
            </a: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单条项目线索、招商资源清单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两类标准化成果，并依据线索所属产业链、赛道属性及业务权责，</a:t>
            </a: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定向精准推送至对应产业条线的招商工作人员</a:t>
            </a:r>
            <a:endParaRPr lang="zh-CN" altLang="en-US" sz="16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indent="0" eaLnBrk="1" fontAlgn="auto" latinLnBrk="0" hangingPunct="1">
              <a:lnSpc>
                <a:spcPts val="2800"/>
              </a:lnSpc>
            </a:pPr>
            <a:r>
              <a:rPr lang="zh-CN" altLang="en-US" sz="1600" b="1" u="sng" dirty="0">
                <a:solidFill>
                  <a:srgbClr val="003087"/>
                </a:solidFill>
                <a:latin typeface="微软雅黑" panose="020B0503020204020204" charset="-122"/>
                <a:ea typeface="微软雅黑" panose="020B0503020204020204" charset="-122"/>
              </a:rPr>
              <a:t>功能支持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：业务人员可对产业赛道、企业规模、企业所属区域、推送频等率等进行自定义</a:t>
            </a:r>
            <a:endParaRPr lang="zh-CN" altLang="en-US" sz="16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object 31"/>
          <p:cNvSpPr/>
          <p:nvPr>
            <p:custDataLst>
              <p:tags r:id="rId4"/>
            </p:custDataLst>
          </p:nvPr>
        </p:nvSpPr>
        <p:spPr>
          <a:xfrm>
            <a:off x="432978" y="2880647"/>
            <a:ext cx="4690564" cy="555190"/>
          </a:xfrm>
          <a:prstGeom prst="roundRect">
            <a:avLst/>
          </a:prstGeom>
          <a:gradFill>
            <a:gsLst>
              <a:gs pos="100000">
                <a:srgbClr val="B4D6FE">
                  <a:alpha val="0"/>
                </a:srgbClr>
              </a:gs>
              <a:gs pos="0">
                <a:srgbClr val="03549D"/>
              </a:gs>
            </a:gsLst>
            <a:lin ang="0" scaled="0"/>
          </a:gra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11000"/>
              </a:prstClr>
            </a:outerShdw>
          </a:effectLst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3549D"/>
                </a:solidFill>
                <a:effectLst>
                  <a:glow rad="139700">
                    <a:prstClr val="white"/>
                  </a:glo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</a:rPr>
              <a:t>    单条项目线索定向推送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srgbClr val="03549D"/>
              </a:solidFill>
              <a:effectLst>
                <a:glow rad="139700">
                  <a:prstClr val="white"/>
                </a:glo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sp>
        <p:nvSpPr>
          <p:cNvPr id="21" name="object 31"/>
          <p:cNvSpPr/>
          <p:nvPr>
            <p:custDataLst>
              <p:tags r:id="rId5"/>
            </p:custDataLst>
          </p:nvPr>
        </p:nvSpPr>
        <p:spPr>
          <a:xfrm>
            <a:off x="432978" y="4402307"/>
            <a:ext cx="4690564" cy="555190"/>
          </a:xfrm>
          <a:prstGeom prst="roundRect">
            <a:avLst/>
          </a:prstGeom>
          <a:gradFill>
            <a:gsLst>
              <a:gs pos="100000">
                <a:srgbClr val="B4D6FE">
                  <a:alpha val="0"/>
                </a:srgbClr>
              </a:gs>
              <a:gs pos="0">
                <a:srgbClr val="03549D"/>
              </a:gs>
            </a:gsLst>
            <a:lin ang="0" scaled="0"/>
          </a:gra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11000"/>
              </a:prstClr>
            </a:outerShdw>
          </a:effectLst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3549D"/>
                </a:solidFill>
                <a:effectLst>
                  <a:glow rad="139700">
                    <a:prstClr val="white"/>
                  </a:glo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</a:rPr>
              <a:t>    招商资源清单自定义生成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srgbClr val="03549D"/>
              </a:solidFill>
              <a:effectLst>
                <a:glow rad="139700">
                  <a:prstClr val="white"/>
                </a:glo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703942" y="5178478"/>
            <a:ext cx="3962401" cy="5245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eaLnBrk="1" fontAlgn="auto" latinLnBrk="0" hangingPunct="1">
              <a:lnSpc>
                <a:spcPct val="150000"/>
              </a:lnSpc>
            </a:pPr>
            <a:r>
              <a:rPr lang="zh-CN" altLang="en-US" sz="1600" b="1" u="sng" dirty="0">
                <a:latin typeface="微软雅黑" panose="020B0503020204020204" charset="-122"/>
                <a:ea typeface="微软雅黑" panose="020B0503020204020204" charset="-122"/>
              </a:rPr>
              <a:t>推送形式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周期批量生成，支持按 周 / 月批量导出</a:t>
            </a:r>
            <a:endParaRPr lang="zh-CN" altLang="en-US" sz="16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h_i"/>
  <p:tag name="KSO_WM_UNIT_INDEX" val="1_1"/>
  <p:tag name="KSO_WM_UNIT_ID" val="custom20234950_1*h_i*1_1"/>
  <p:tag name="KSO_WM_TEMPLATE_CATEGORY" val="custom"/>
  <p:tag name="KSO_WM_TEMPLATE_INDEX" val="20234950"/>
  <p:tag name="KSO_WM_UNIT_LAYERLEVEL" val="1_1"/>
  <p:tag name="KSO_WM_TAG_VERSION" val="3.0"/>
  <p:tag name="KSO_WM_BEAUTIFY_FLAG" val="#wm#"/>
</p:tagLst>
</file>

<file path=ppt/tags/tag64.xml><?xml version="1.0" encoding="utf-8"?>
<p:tagLst xmlns:p="http://schemas.openxmlformats.org/presentationml/2006/main">
  <p:tag name="TABLE_ENDDRAG_ORIGIN_RECT" val="913*237"/>
  <p:tag name="TABLE_ENDDRAG_RECT" val="29*203*913*237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TABLE_ENDDRAG_ORIGIN_RECT" val="951*276"/>
  <p:tag name="TABLE_ENDDRAG_RECT" val="4*194*951*276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h_i"/>
  <p:tag name="KSO_WM_UNIT_INDEX" val="1_1"/>
  <p:tag name="KSO_WM_UNIT_ID" val="custom20234950_1*h_i*1_1"/>
  <p:tag name="KSO_WM_TEMPLATE_CATEGORY" val="custom"/>
  <p:tag name="KSO_WM_TEMPLATE_INDEX" val="20234950"/>
  <p:tag name="KSO_WM_UNIT_LAYERLEVEL" val="1_1"/>
  <p:tag name="KSO_WM_TAG_VERSION" val="3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h_i"/>
  <p:tag name="KSO_WM_UNIT_INDEX" val="1_2"/>
  <p:tag name="KSO_WM_UNIT_ID" val="custom20234950_1*h_i*1_2"/>
  <p:tag name="KSO_WM_TEMPLATE_CATEGORY" val="custom"/>
  <p:tag name="KSO_WM_TEMPLATE_INDEX" val="20234950"/>
  <p:tag name="KSO_WM_UNIT_LAYERLEVEL" val="1_1"/>
  <p:tag name="KSO_WM_TAG_VERSION" val="3.0"/>
  <p:tag name="KSO_WM_BEAUTIFY_FLAG" val="#wm#"/>
</p:tagLst>
</file>

<file path=ppt/tags/tag71.xml><?xml version="1.0" encoding="utf-8"?>
<p:tagLst xmlns:p="http://schemas.openxmlformats.org/presentationml/2006/main">
  <p:tag name="MH" val="20240727155937"/>
  <p:tag name="MH_LIBRARY" val="GRAPHIC"/>
  <p:tag name="MH_TYPE" val="SubTitle"/>
  <p:tag name="MH_ORDER" val="2"/>
</p:tagLst>
</file>

<file path=ppt/tags/tag72.xml><?xml version="1.0" encoding="utf-8"?>
<p:tagLst xmlns:p="http://schemas.openxmlformats.org/presentationml/2006/main">
  <p:tag name="KSO_WM_DIAGRAM_VIRTUALLY_FRAME" val="{&quot;height&quot;:417.55,&quot;left&quot;:12.85,&quot;top&quot;:91.6,&quot;width&quot;:932.2516740576497}"/>
</p:tagLst>
</file>

<file path=ppt/tags/tag73.xml><?xml version="1.0" encoding="utf-8"?>
<p:tagLst xmlns:p="http://schemas.openxmlformats.org/presentationml/2006/main">
  <p:tag name="KSO_WM_DIAGRAM_VIRTUALLY_FRAME" val="{&quot;height&quot;:417.55,&quot;left&quot;:12.85,&quot;top&quot;:91.6,&quot;width&quot;:932.2516740576497}"/>
</p:tagLst>
</file>

<file path=ppt/tags/tag74.xml><?xml version="1.0" encoding="utf-8"?>
<p:tagLst xmlns:p="http://schemas.openxmlformats.org/presentationml/2006/main">
  <p:tag name="KSO_WM_DIAGRAM_VIRTUALLY_FRAME" val="{&quot;height&quot;:417.55,&quot;left&quot;:12.85,&quot;top&quot;:91.6,&quot;width&quot;:932.2516740576497}"/>
</p:tagLst>
</file>

<file path=ppt/tags/tag75.xml><?xml version="1.0" encoding="utf-8"?>
<p:tagLst xmlns:p="http://schemas.openxmlformats.org/presentationml/2006/main">
  <p:tag name="KSO_WM_DIAGRAM_VIRTUALLY_FRAME" val="{&quot;height&quot;:417.55,&quot;left&quot;:12.85,&quot;top&quot;:91.6,&quot;width&quot;:932.2516740576497}"/>
</p:tagLst>
</file>

<file path=ppt/tags/tag76.xml><?xml version="1.0" encoding="utf-8"?>
<p:tagLst xmlns:p="http://schemas.openxmlformats.org/presentationml/2006/main">
  <p:tag name="KSO_WM_DIAGRAM_VIRTUALLY_FRAME" val="{&quot;height&quot;:417.55,&quot;left&quot;:12.85,&quot;top&quot;:91.6,&quot;width&quot;:932.2516740576497}"/>
</p:tagLst>
</file>

<file path=ppt/tags/tag77.xml><?xml version="1.0" encoding="utf-8"?>
<p:tagLst xmlns:p="http://schemas.openxmlformats.org/presentationml/2006/main">
  <p:tag name="KSO_WM_DIAGRAM_VIRTUALLY_FRAME" val="{&quot;height&quot;:499.0449676513672,&quot;left&quot;:0,&quot;top&quot;:125.60503234863282,&quot;width&quot;:977.3}"/>
  <p:tag name="KSO_WM_UNIT_HIGHLIGHT" val="0"/>
  <p:tag name="KSO_WM_UNIT_COMPATIBLE" val="0"/>
  <p:tag name="KSO_WM_UNIT_DIAGRAM_ISNUMVISUAL" val="0"/>
  <p:tag name="KSO_WM_UNIT_DIAGRAM_ISREFERUNIT" val="0"/>
  <p:tag name="KSO_WM_UNIT_ID" val="diagram20236935_3*m_h_i*1_1_1"/>
  <p:tag name="KSO_WM_TEMPLATE_CATEGORY" val="diagram"/>
  <p:tag name="KSO_WM_TEMPLATE_INDEX" val="20236935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m1-1"/>
  <p:tag name="KSO_WM_UNIT_TYPE" val="m_h_i"/>
  <p:tag name="KSO_WM_UNIT_INDEX" val="1_1_1"/>
  <p:tag name="KSO_WM_DIAGRAM_MAX_ITEMCNT" val="5"/>
  <p:tag name="KSO_WM_DIAGRAM_MIN_ITEMCNT" val="3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.6800000071525574,&quot;transparency&quot;:0.5},{&quot;brightness&quot;:0,&quot;colorType&quot;:1,&quot;foreColorIndex&quot;:5,&quot;pos&quot;:0.1599999964237213,&quot;transparency&quot;:1},{&quot;brightness&quot;:0,&quot;colorType&quot;:1,&quot;foreColorIndex&quot;:5,&quot;pos&quot;:1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5,6,5,6,5,6]}"/>
</p:tagLst>
</file>

<file path=ppt/tags/tag78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o_h_f"/>
  <p:tag name="KSO_WM_UNIT_INDEX" val="1_1_1"/>
  <p:tag name="KSO_WM_UNIT_ID" val="diagram20234924_2*o_h_f*1_1_1"/>
  <p:tag name="KSO_WM_TEMPLATE_CATEGORY" val="diagram"/>
  <p:tag name="KSO_WM_TEMPLATE_INDEX" val="20234924"/>
  <p:tag name="KSO_WM_UNIT_LAYERLEVEL" val="1_1_1"/>
  <p:tag name="KSO_WM_TAG_VERSION" val="3.0"/>
  <p:tag name="KSO_WM_UNIT_FROM" val="WPS"/>
  <p:tag name="KSO_WM_DIAGRAM_VERSION" val="3"/>
  <p:tag name="KSO_WM_DIAGRAM_COLOR_TRICK" val="1"/>
  <p:tag name="KSO_WM_DIAGRAM_COLOR_TEXT_CAN_REMOVE" val="n"/>
  <p:tag name="KSO_WM_UNIT_VALUE" val="96"/>
  <p:tag name="KSO_WM_DIAGRAM_GROUP_CODE" val="o1-1"/>
  <p:tag name="KSO_WM_DIAGRAM_MAX_ITEMCNT" val="5"/>
  <p:tag name="KSO_WM_DIAGRAM_MIN_ITEMCNT" val="2"/>
  <p:tag name="KSO_WM_DIAGRAM_VIRTUALLY_FRAME" val="{&quot;height&quot;:364.3752746582031,&quot;left&quot;:119.79998779296875,&quot;top&quot;:146.46236267089844,&quot;width&quot;:720.4000244140625}"/>
  <p:tag name="KSO_WM_DIAGRAM_COLOR_MATCH_VALUE" val="{&quot;shape&quot;:{&quot;fill&quot;:{&quot;gradient&quot;:[{&quot;brightness&quot;:0.800000011920929,&quot;colorType&quot;:1,&quot;foreColorIndex&quot;:5,&quot;pos&quot;:0,&quot;transparency&quot;:0.9200000166893005},{&quot;brightness&quot;:0.800000011920929,&quot;colorType&quot;:1,&quot;foreColorIndex&quot;:5,&quot;pos&quot;:0.12999999523162842,&quot;transparency&quot;:0.75},{&quot;brightness&quot;:0.800000011920929,&quot;colorType&quot;:1,&quot;foreColorIndex&quot;:5,&quot;pos&quot;:1,&quot;transparency&quot;:0.3100000023841858}],&quot;type&quot;:3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添加文本内容，简明扼要地阐述观点"/>
  <p:tag name="KSO_WM_UNIT_FILL_TYPE" val="3"/>
  <p:tag name="KSO_WM_UNIT_LINE_FORE_SCHEMECOLOR_INDEX" val="5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5,6,5,6,5,6]}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TABLE_ENDDRAG_ORIGIN_RECT" val="863*312"/>
  <p:tag name="TABLE_ENDDRAG_RECT" val="47*204*864*312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MH" val="20240727155937"/>
  <p:tag name="MH_LIBRARY" val="GRAPHIC"/>
  <p:tag name="MH_TYPE" val="SubTitle"/>
  <p:tag name="MH_ORDER" val="2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DIAGRAM_VIRTUALLY_FRAME" val="{&quot;height&quot;:267.966062992126,&quot;left&quot;:98.85,&quot;top&quot;:203.2059842519685,&quot;width&quot;:797.6499212598425}"/>
</p:tagLst>
</file>

<file path=ppt/tags/tag88.xml><?xml version="1.0" encoding="utf-8"?>
<p:tagLst xmlns:p="http://schemas.openxmlformats.org/presentationml/2006/main">
  <p:tag name="KSO_WM_DIAGRAM_VIRTUALLY_FRAME" val="{&quot;height&quot;:267.966062992126,&quot;left&quot;:98.85,&quot;top&quot;:203.2059842519685,&quot;width&quot;:797.6499212598425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2497</Words>
  <Application>WPS 演示</Application>
  <PresentationFormat>宽屏</PresentationFormat>
  <Paragraphs>239</Paragraphs>
  <Slides>7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8" baseType="lpstr">
      <vt:lpstr>Arial</vt:lpstr>
      <vt:lpstr>宋体</vt:lpstr>
      <vt:lpstr>Wingdings</vt:lpstr>
      <vt:lpstr>Wingdings</vt:lpstr>
      <vt:lpstr>微软雅黑</vt:lpstr>
      <vt:lpstr>Noto Sans SC</vt:lpstr>
      <vt:lpstr>Arial</vt:lpstr>
      <vt:lpstr>Calibri</vt:lpstr>
      <vt:lpstr>等线</vt:lpstr>
      <vt:lpstr>Arial Unicode MS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Jeamsliu</cp:lastModifiedBy>
  <cp:revision>158</cp:revision>
  <dcterms:created xsi:type="dcterms:W3CDTF">2019-06-19T02:08:00Z</dcterms:created>
  <dcterms:modified xsi:type="dcterms:W3CDTF">2026-10-26T03:33:06Z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2052-12.1.0.29161</vt:lpwstr>
  </property>
  <property fmtid="{D5CDD505-2E9C-101B-9397-08002B2CF9AE}" pid="3" name="ICV">
    <vt:lpwstr>4849F668E0774CB4999F67D4074A1331_13</vt:lpwstr>
  </property>
</Properties>
</file>