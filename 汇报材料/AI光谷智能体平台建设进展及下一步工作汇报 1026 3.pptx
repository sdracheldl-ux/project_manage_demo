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6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</p:sldMasterIdLst>
  <p:notesMasterIdLst>
    <p:notesMasterId r:id="rId7"/>
  </p:notesMasterIdLst>
  <p:sldIdLst>
    <p:sldId id="256" r:id="rId6"/>
    <p:sldId id="258" r:id="rId8"/>
    <p:sldId id="259" r:id="rId9"/>
    <p:sldId id="257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0"/>
    <p:sldId id="269" r:id="rId21"/>
    <p:sldId id="270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88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46"/>
    <p:restoredTop sz="89879"/>
  </p:normalViewPr>
  <p:slideViewPr>
    <p:cSldViewPr snapToGrid="0" showGuides="1">
      <p:cViewPr varScale="1">
        <p:scale>
          <a:sx n="102" d="100"/>
          <a:sy n="102" d="100"/>
        </p:scale>
        <p:origin x="1280" y="184"/>
      </p:cViewPr>
      <p:guideLst>
        <p:guide orient="horz" pos="1688"/>
        <p:guide pos="2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各位领导，下面由我代表承建单位火山引擎，汇报“AI光谷”智能体平台的建设进展和下一步工作安排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汇报围绕一条主线展开：在政数局统筹和光谷数产、各委办局共同推进下，平台统一的光谷智能体操作系统平台基本就绪，公文写作、智能咨询、产业洞察三个智能体逐步成形，目前已进入开发收尾、系统联调和真实业务试用准备阶段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我会重点说明已经形成的能力和证据，以及下一阶段如何用真实业务任务来验证平台的实际成效，而不是简单汇报做了多少功能、入库多少条数据。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这一页是平台的整体技术蓝图。最上面是统一门户，是所有用户的统一入口。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政务侧是公文写作、智能咨询、产业洞察三个智能体；企业侧是智能编辑、智能创作、智能编码三个工具。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下面是AI、安全、数据三类共性能力，再往下是HiAgent和政务OS，最底层依托楚天云。各层能力统一沉淀、按需复用，新增场景不再重复建设。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这一页是项目的协同机制。最上面是政数局，负责统筹协调、进度管控和验收组织。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中间是光谷数产和火山引擎，分别负责建设运营和承建交付。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下面左侧是各委办局，按公文、咨询、产业三个场景对接；右侧是软测、等保、密码测评和楚天云。各委办局派出业务骨干、提供真实材料、参与多轮调研，这是项目能扎实推进的重要原因。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为保障项目目标顺利达成，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促进多方协同。我们搭建了一个 "四层联动" 的组织架构，确保项目有人统筹、有人建设、有人提需求、有人做支撑。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第一层，统筹决策—— 政数局作为统筹协调方，负责高位协调、进度管控和验收组织，把方向、抓总协调。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第二层，建设承建—— 光谷数产作为项目建设方，负责整体建设运营；火山引擎作为承建方，负责技术落地和交付；下面专门成立了 "</a:t>
            </a:r>
            <a:r>
              <a:rPr lang="en-US" altLang="zh-CN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光谷" 项目组，实体化运作。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第三层，左右协同—— 左侧是四个需求单位：党政办、规划局、政数局商事登记、投促局，对应公文写作、智能咨询、产业洞察三大核心场景；右侧是配套支撑单位，上面是设计、监理、项目管理单位，提供合规服务支撑；下面是软测、等保测评、密码测评和政务云服务商，提供系统测评和资源保障。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第四层，专班落地—— 最下面我们组建了 6 个专项小组，共 40 人：统筹协调组 4 人、交付保障组 11 人、公文写作组 5 人、智能咨询组 5 人、产业洞察组 5 人、技术组 10 人，每组都明确了责任单位和具体人员。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从需求梳理、方案确认、功能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开发到上线测试全程跟进，这也是项目能够扎实推进、快速落地的关键保障。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这一页是项目总览。项目已经完成从规划设计向平台部署、场景开发的关键跨越，围绕三个目标推进。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三个目标：政务提效，已经建成公文写作、智能咨询、产业洞察三个政务智能体；企业赋能，提供智能编辑、智能创作、智能编码三个工具；共性支撑，建成一套操作系统平台和统一门户。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从路径看，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—</a:t>
            </a: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9月完成调研归集，10月平台部署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；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—</a:t>
            </a:r>
            <a:r>
              <a:rPr lang="en-US" altLang="zh-CN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10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月底完成公文写作和智能咨询智能体的开发，预计</a:t>
            </a:r>
            <a:r>
              <a:rPr lang="en-US" altLang="zh-CN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11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月初为首批使用的部门提供培训后进行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试用；</a:t>
            </a:r>
            <a:endParaRPr lang="zh-CN" alt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—</a:t>
            </a:r>
            <a:r>
              <a:rPr lang="en-US" altLang="zh-CN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11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月底完成产业洞察智能体的开发后，为投促局提供培训进行试用，试用过程中</a:t>
            </a: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安排专人跟进试用情况，持续进行反馈收集及智能体优化；</a:t>
            </a:r>
            <a:endParaRPr lang="zh-CN" altLang="en-US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—</a:t>
            </a:r>
            <a:r>
              <a:rPr lang="en-US" altLang="zh-CN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12</a:t>
            </a: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月初在完成智能体跟智慧光谷</a:t>
            </a:r>
            <a:r>
              <a:rPr lang="en-US" altLang="zh-CN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OA</a:t>
            </a: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、汉智办</a:t>
            </a:r>
            <a:r>
              <a:rPr lang="en-US" altLang="zh-CN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APP</a:t>
            </a: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、光谷政务完成对接后，正式进行上线试运行；</a:t>
            </a:r>
            <a:endParaRPr lang="zh-CN" altLang="en-US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—</a:t>
            </a:r>
            <a:r>
              <a:rPr lang="en-US" altLang="zh-CN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12</a:t>
            </a:r>
            <a:r>
              <a:rPr lang="zh-CN" altLang="en-US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月底完成试运行及相关整改后，正式上线；</a:t>
            </a:r>
            <a:endParaRPr lang="zh-CN" altLang="en-US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达成让</a:t>
            </a: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政务更高效、让产业更智能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的目标</a:t>
            </a: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这一页用真实材料说明项目过程。从现场调研、需求确认、产品设计、数据收集、知识入库，到现在形成可运行系统，六个环节都有真实记录。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上面四张是现场调研、联合调研、数据收集表和知识入库后台的真实照片。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工作有三个特点：业务一线共同定义需求、统一模板归集资料、关键节点逐项确认，保证需求来自一线、资料可追溯、过程可复盘。真实，是智能体最扎实的起点。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这一页介绍光谷智能体操作系统平台。它由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HiAgent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和政务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 OS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构成、部署在楚天云，统一支撑智能体的开发、运行和运营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右侧是平台的四层能力：最上层是应用入口，统一门户和身份；第二层是智能体的开发与运行，可视化编排、一键发布；第三层是知识工程、工具连接等共性能力；最底层是楚天云和安全合规。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它的价值是一套平台支撑多个智能体，能力复用、避免重复建设，满足政务安全要求。一次建设，处处可用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公文写作智能体覆盖15种法定公文和4种事务文书。目前已经完成57篇文档拆分、300余条知识入库，整理了19类体裁、64篇范文。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当前能做资料检索、初稿、润色和人工审核。建设目标是打造符合本单位语言规范的办文助手，从通用写作到本单位写作，减少查资料和初稿时间、降低规范性错误。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还需要补充范文、明确审核人、完成OA联调。完成后办文规范高效，机构知识可复用、可传承。让每一份文稿，都有本单位的功底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智能咨询助手覆盖商事和不动产领域，支持手机端使用。目前知识库539篇、问答834条、术语168条。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当前能做多轮问答、政策检索、答案附依据。建设目标是把窗口骨干经验转化为稳定权威可追溯的服务，减少重复咨询、统一答复口径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还需要做资料去重、真实问题测试、疑难转人工、小程序接入。完成后窗口服务标准化、答复可追溯。让每一次答复，都有政策依据</a:t>
            </a:r>
            <a:r>
              <a:rPr lang="en-US" sz="1400" b="0" i="0" u="none" strike="noStrike" dirty="0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产业洞察智能体覆盖项目谋划、在谈、签约、落地全生命周期。目前已签约88项、753.89亿元、13个行业，统计看板、台账、AI判重已经开发。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建设目标是一库统管，减少重复核对、及时发现超期，为招商调度提供可信依据。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还需要迁移89条历史数据、完成核心功能、配置预警规则。完成后项目全周期可视、招商调度有据。让每一个项目，都在视野之内。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这一页讲政务智能体的知识运营体系。核心观点是：智能体的回答质量取决于知识质量；知识不是一收了之，而是需要持续运营、动态更新的活水。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我们建立了归集、审核、入库、运营、更新五个环节的闭环，更新环节回流到归集，形成持续循环。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机制上坚持业务主导、平台支撑、长效机制，明确响应时限和定期复核，保证知识长期准确有效。知识常新，智能体才会常准。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这一页展示统一门户。左边是门户首屏，一个入口、一次登录，就能访问全部智能体和工具，不用在多个系统间切换。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右上是门户导航，已经集成三个政务智能体、三个企业工具和两个开发工具。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右下是数据运营看板，Token、调用次数、活跃用户是联调期间数据，口径还需确认，正式上线后以运营月报定期发布。一个入口，触达全部智能。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这一页讲面向企业的三个工具型智能体，是平台让产业更智能的部分。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一个是智能编辑剪映，350账号1年，用于视频剪辑、企业宣传、短视频营销。第二个是智能创作剧创平台，基于Seedance，1套1年、720p视频不少于50000分钟，用于脚本到成片、招商推介、内容批量生产。第三个是智能编码TRAE，250旗舰版1年、1万基础版1个月，用于代码生成、调试、测试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企业工具通过门户按需请，以实际使用和业务反馈评估成效，不把开通数量当成果。让企业，也能用好AI。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三个智能体开发完成只是第一步，真正的价值在于用起来。我们建立了一个持续迭代的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优化</a:t>
            </a:r>
            <a:r>
              <a:rPr lang="en-US">
                <a:solidFill>
                  <a:srgbClr val="000000"/>
                </a:solidFill>
                <a:sym typeface="+mn-ea"/>
              </a:rPr>
              <a:t>机制，形成闭环。</a:t>
            </a:r>
            <a:endParaRPr lang="en-US">
              <a:solidFill>
                <a:srgbClr val="000000"/>
              </a:solidFill>
              <a:sym typeface="+mn-ea"/>
            </a:endParaRPr>
          </a:p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一</a:t>
            </a:r>
            <a:r>
              <a:rPr lang="en-US">
                <a:solidFill>
                  <a:srgbClr val="000000"/>
                </a:solidFill>
                <a:sym typeface="+mn-ea"/>
              </a:rPr>
              <a:t>步是培训赋能，我们面向各委办局业务人员开展专项培训，手把手教会大家怎么用、什么时候用。</a:t>
            </a:r>
            <a:endParaRPr lang="en-US">
              <a:solidFill>
                <a:srgbClr val="000000"/>
              </a:solidFill>
              <a:sym typeface="+mn-ea"/>
            </a:endParaRPr>
          </a:p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二</a:t>
            </a:r>
            <a:r>
              <a:rPr lang="en-US">
                <a:solidFill>
                  <a:srgbClr val="000000"/>
                </a:solidFill>
                <a:sym typeface="+mn-ea"/>
              </a:rPr>
              <a:t>步是试用推广，智能体上线后，各委办局在真实业务场景中试用，公文写作、智能咨询、产业洞察三个场景同步推进。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第三步是专人跟进收集反馈，我们每个场景都安排了专人对接，驻场跟进试用情况，记录大家在实际使用中遇到的问题和改进建议。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第四步是持续优化，根据反馈快速迭代版本，针对性改进后再回到试用环节。这样循环往复，让智能体从"能用"走向"好用"，最终真正成为业务人员离不开的工具。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8000"/>
              </a:lnSpc>
            </a:pP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是下一阶段的工作计划。上面是六个步骤：系统联调、知识完善、测试验证、业务试用、问题整改、扩大应用，顺序上先把系统接通、把知识补齐、把问题测出来，再进入真实业务试用，整改到位后才扩大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下面是三个保障机制：组织上由政数局统筹、数产组织、火山实施、委办局参与；评价上以业务指标为准，不看条数；整改上问题分级、限期整改、复核闭环。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这个计划的核心是"先验证、后扩大"，不急于全面铺开，确保上线的每一个场景都是真正好用的。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这一页列出需要协调的三类事项，都是围绕联调试用条件展开的。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第一是业务确认和人员投入，包括需求边界、知识审核人、试用人员。第二是系统对接和资源保障，包括OA、统一登录、小程序、楚天云资源、等保备案。第三是应用和评价机制，明确运营牵头方、以业务效果评价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这些事项明确后，就可以进入联调试用阶段，用真实业务检验平台成效。协同到位，光才能照得更远。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汇报到此结束，敬请各位领导批评指导。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我们将按照汇报的安排，扎实推进联调试用，以真实业务成效检验平台价值。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rcRect t="12" b="12"/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3836114-EF03-4EA7-873D-42658AB24EAE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8928F77-0D0F-4593-AB58-599C59BA86A5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9850A89-79F1-44B9-8253-055F018FE197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55EA8DE-F1E9-4719-911C-A7ED1EDF9AC0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9641A50-3047-4431-8B46-45EB6FB3AB37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DCD5F42-1AC6-46EA-9812-382AC01C1576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322FC8D-104B-4165-AC85-F257D929608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2FB9FB0-944D-408A-94DD-D5B2DFE16D4B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FEE50E-CDA5-4711-BAA0-65D215A037C0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BB955F-A0C6-4582-BAF1-179B007A458B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8C3221C-55D3-4FBF-9677-8A8F399FE79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rcRect t="12" b="12"/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3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  <p:pic>
        <p:nvPicPr>
          <p:cNvPr id="11" name="Picture 10" descr="938e36f7-714d-4d29-8840-4d8806fd55de_ti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38e36f7-714d-4d29-8840-4d8806fd55de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E7C7587-4062-4E84-81D1-74D85162B49A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  <p:pic>
        <p:nvPicPr>
          <p:cNvPr id="9" name="Picture 8" descr="938e36f7-714d-4d29-8840-4d8806fd55de_ti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38e36f7-714d-4d29-8840-4d8806fd55de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6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2.svg"/><Relationship Id="rId17" Type="http://schemas.openxmlformats.org/officeDocument/2006/relationships/image" Target="../media/image21.png"/><Relationship Id="rId16" Type="http://schemas.openxmlformats.org/officeDocument/2006/relationships/image" Target="../media/image20.svg"/><Relationship Id="rId15" Type="http://schemas.openxmlformats.org/officeDocument/2006/relationships/image" Target="../media/image19.png"/><Relationship Id="rId14" Type="http://schemas.openxmlformats.org/officeDocument/2006/relationships/image" Target="../media/image18.svg"/><Relationship Id="rId13" Type="http://schemas.openxmlformats.org/officeDocument/2006/relationships/image" Target="../media/image17.png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14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48.svg"/><Relationship Id="rId21" Type="http://schemas.openxmlformats.org/officeDocument/2006/relationships/image" Target="../media/image47.png"/><Relationship Id="rId20" Type="http://schemas.openxmlformats.org/officeDocument/2006/relationships/image" Target="../media/image46.svg"/><Relationship Id="rId2" Type="http://schemas.openxmlformats.org/officeDocument/2006/relationships/image" Target="../media/image30.svg"/><Relationship Id="rId19" Type="http://schemas.openxmlformats.org/officeDocument/2006/relationships/image" Target="../media/image45.png"/><Relationship Id="rId18" Type="http://schemas.openxmlformats.org/officeDocument/2006/relationships/image" Target="../media/image44.svg"/><Relationship Id="rId17" Type="http://schemas.openxmlformats.org/officeDocument/2006/relationships/image" Target="../media/image43.png"/><Relationship Id="rId16" Type="http://schemas.openxmlformats.org/officeDocument/2006/relationships/image" Target="../media/image42.png"/><Relationship Id="rId15" Type="http://schemas.openxmlformats.org/officeDocument/2006/relationships/image" Target="../media/image41.png"/><Relationship Id="rId14" Type="http://schemas.openxmlformats.org/officeDocument/2006/relationships/image" Target="../media/image40.jpeg"/><Relationship Id="rId13" Type="http://schemas.openxmlformats.org/officeDocument/2006/relationships/image" Target="../media/image39.png"/><Relationship Id="rId12" Type="http://schemas.openxmlformats.org/officeDocument/2006/relationships/image" Target="../media/image38.svg"/><Relationship Id="rId11" Type="http://schemas.openxmlformats.org/officeDocument/2006/relationships/image" Target="../media/image37.png"/><Relationship Id="rId10" Type="http://schemas.openxmlformats.org/officeDocument/2006/relationships/image" Target="../media/image36.svg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49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6.svg"/><Relationship Id="rId10" Type="http://schemas.openxmlformats.org/officeDocument/2006/relationships/image" Target="../media/image65.png"/><Relationship Id="rId1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6.svg"/><Relationship Id="rId10" Type="http://schemas.openxmlformats.org/officeDocument/2006/relationships/image" Target="../media/image65.png"/><Relationship Id="rId1" Type="http://schemas.openxmlformats.org/officeDocument/2006/relationships/image" Target="../media/image6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6.svg"/><Relationship Id="rId1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0" Type="http://schemas.openxmlformats.org/officeDocument/2006/relationships/notesSlide" Target="../notesSlides/notesSlide10.xml"/><Relationship Id="rId2" Type="http://schemas.openxmlformats.org/officeDocument/2006/relationships/image" Target="../media/image71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83.svg"/><Relationship Id="rId17" Type="http://schemas.openxmlformats.org/officeDocument/2006/relationships/image" Target="../media/image82.png"/><Relationship Id="rId16" Type="http://schemas.openxmlformats.org/officeDocument/2006/relationships/image" Target="../media/image28.svg"/><Relationship Id="rId15" Type="http://schemas.openxmlformats.org/officeDocument/2006/relationships/image" Target="../media/image27.png"/><Relationship Id="rId14" Type="http://schemas.openxmlformats.org/officeDocument/2006/relationships/image" Target="../media/image81.svg"/><Relationship Id="rId13" Type="http://schemas.openxmlformats.org/officeDocument/2006/relationships/image" Target="../media/image80.png"/><Relationship Id="rId12" Type="http://schemas.openxmlformats.org/officeDocument/2006/relationships/image" Target="../media/image79.svg"/><Relationship Id="rId11" Type="http://schemas.openxmlformats.org/officeDocument/2006/relationships/image" Target="../media/image78.png"/><Relationship Id="rId10" Type="http://schemas.openxmlformats.org/officeDocument/2006/relationships/image" Target="../media/image77.svg"/><Relationship Id="rId1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7.png"/><Relationship Id="rId1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94.svg"/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svg"/><Relationship Id="rId7" Type="http://schemas.openxmlformats.org/officeDocument/2006/relationships/image" Target="../media/image80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Relationship Id="rId3" Type="http://schemas.openxmlformats.org/officeDocument/2006/relationships/image" Target="../media/image97.png"/><Relationship Id="rId20" Type="http://schemas.openxmlformats.org/officeDocument/2006/relationships/notesSlide" Target="../notesSlides/notesSlide14.xml"/><Relationship Id="rId2" Type="http://schemas.openxmlformats.org/officeDocument/2006/relationships/image" Target="../media/image96.svg"/><Relationship Id="rId19" Type="http://schemas.openxmlformats.org/officeDocument/2006/relationships/slideLayout" Target="../slideLayouts/slideLayout24.xml"/><Relationship Id="rId18" Type="http://schemas.openxmlformats.org/officeDocument/2006/relationships/image" Target="../media/image108.svg"/><Relationship Id="rId17" Type="http://schemas.openxmlformats.org/officeDocument/2006/relationships/image" Target="../media/image82.png"/><Relationship Id="rId16" Type="http://schemas.openxmlformats.org/officeDocument/2006/relationships/image" Target="../media/image107.svg"/><Relationship Id="rId15" Type="http://schemas.openxmlformats.org/officeDocument/2006/relationships/image" Target="../media/image93.png"/><Relationship Id="rId14" Type="http://schemas.openxmlformats.org/officeDocument/2006/relationships/image" Target="../media/image106.svg"/><Relationship Id="rId13" Type="http://schemas.openxmlformats.org/officeDocument/2006/relationships/image" Target="../media/image91.png"/><Relationship Id="rId12" Type="http://schemas.openxmlformats.org/officeDocument/2006/relationships/image" Target="../media/image105.svg"/><Relationship Id="rId11" Type="http://schemas.openxmlformats.org/officeDocument/2006/relationships/image" Target="../media/image104.png"/><Relationship Id="rId10" Type="http://schemas.openxmlformats.org/officeDocument/2006/relationships/image" Target="../media/image103.svg"/><Relationship Id="rId1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/>
          </p:cNvPicPr>
          <p:nvPr/>
        </p:nvPicPr>
        <p:blipFill>
          <a:blip r:embed="rId1"/>
          <a:srcRect b="61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243840"/>
            <a:ext cx="711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50C1E">
                  <a:alpha val="90000"/>
                </a:srgbClr>
              </a:gs>
              <a:gs pos="55000">
                <a:srgbClr val="050C1E">
                  <a:alpha val="50000"/>
                </a:srgbClr>
              </a:gs>
              <a:gs pos="100000">
                <a:srgbClr val="050C1E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889000" y="2032000"/>
            <a:ext cx="584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WUHAN · OPTICS VALLEY · AI AGENT PLATFORM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2438400"/>
            <a:ext cx="50800" cy="1168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143000" y="2362200"/>
            <a:ext cx="584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“AI光谷”智能体平台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30480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建设进展及下一步工作汇报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2917">
            <a:off x="1143021" y="37782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0A5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 txBox="1"/>
          <p:nvPr/>
        </p:nvSpPr>
        <p:spPr>
          <a:xfrm>
            <a:off x="1143000" y="3937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500" b="0" i="0" u="none" strike="noStrike" dirty="0" err="1">
                <a:solidFill>
                  <a:srgbClr val="A5BEE1"/>
                </a:solidFill>
                <a:latin typeface="Noto Sans SC"/>
                <a:ea typeface="Noto Sans SC"/>
                <a:cs typeface="Noto Sans SC"/>
                <a:sym typeface="Noto Sans SC"/>
              </a:rPr>
              <a:t>火山引擎</a:t>
            </a:r>
            <a:r>
              <a:rPr lang="en-US" sz="1500" b="0" i="0" u="none" strike="noStrike" dirty="0">
                <a:solidFill>
                  <a:srgbClr val="A5BEE1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2026年10月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572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统一平台支撑政务三体与企业工具，门户作为统一入口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7429"/>
            <a:ext cx="1270000" cy="482600"/>
          </a:xfrm>
          <a:prstGeom prst="roundRect">
            <a:avLst>
              <a:gd name="adj" fmla="val 21052"/>
            </a:avLst>
          </a:prstGeom>
          <a:solidFill>
            <a:srgbClr val="0F23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508000" y="1777429"/>
            <a:ext cx="127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统一门户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777429"/>
            <a:ext cx="9906000" cy="482600"/>
          </a:xfrm>
          <a:prstGeom prst="roundRect">
            <a:avLst>
              <a:gd name="adj" fmla="val 21052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778000" y="1777429"/>
            <a:ext cx="990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50" b="0" i="0" u="none" strike="noStrike">
                <a:solidFill>
                  <a:srgbClr val="32466E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平台介绍　·　数据运营　·　政务智能体　·　企业智能体　·　开发工具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2336229"/>
            <a:ext cx="1270000" cy="6858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508000" y="2336229"/>
            <a:ext cx="127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政务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endParaRPr lang="en-US" sz="13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778000" y="2336229"/>
            <a:ext cx="3175000" cy="6858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905000" y="2501329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2564829"/>
            <a:ext cx="228600" cy="228600"/>
          </a:xfrm>
          <a:prstGeom prst="rect">
            <a:avLst/>
          </a:prstGeom>
        </p:spPr>
      </p:pic>
      <p:sp>
        <p:nvSpPr>
          <p:cNvPr id="14" name="AutoShape 14"/>
          <p:cNvSpPr txBox="1"/>
          <p:nvPr/>
        </p:nvSpPr>
        <p:spPr>
          <a:xfrm>
            <a:off x="2362200" y="2463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公文写作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362200" y="2717229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5A6E96"/>
                </a:solidFill>
                <a:latin typeface="Noto Sans SC"/>
                <a:ea typeface="Noto Sans SC"/>
                <a:cs typeface="Noto Sans SC"/>
                <a:sym typeface="Noto Sans SC"/>
              </a:rPr>
              <a:t>机关办文助手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43500" y="2336229"/>
            <a:ext cx="3175000" cy="6858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270500" y="2501329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2564829"/>
            <a:ext cx="228600" cy="228600"/>
          </a:xfrm>
          <a:prstGeom prst="rect">
            <a:avLst/>
          </a:prstGeom>
        </p:spPr>
      </p:pic>
      <p:sp>
        <p:nvSpPr>
          <p:cNvPr id="19" name="AutoShape 19"/>
          <p:cNvSpPr txBox="1"/>
          <p:nvPr/>
        </p:nvSpPr>
        <p:spPr>
          <a:xfrm>
            <a:off x="5727700" y="2463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智能咨询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727700" y="2717229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5A6E96"/>
                </a:solidFill>
                <a:latin typeface="Noto Sans SC"/>
                <a:ea typeface="Noto Sans SC"/>
                <a:cs typeface="Noto Sans SC"/>
                <a:sym typeface="Noto Sans SC"/>
              </a:rPr>
              <a:t>商事·不动产问答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2336229"/>
            <a:ext cx="3175000" cy="6858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636000" y="2501329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9500" y="2564829"/>
            <a:ext cx="228600" cy="228600"/>
          </a:xfrm>
          <a:prstGeom prst="rect">
            <a:avLst/>
          </a:prstGeom>
        </p:spPr>
      </p:pic>
      <p:sp>
        <p:nvSpPr>
          <p:cNvPr id="24" name="AutoShape 24"/>
          <p:cNvSpPr txBox="1"/>
          <p:nvPr/>
        </p:nvSpPr>
        <p:spPr>
          <a:xfrm>
            <a:off x="9093200" y="2463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产业洞察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9093200" y="2717229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5A6E96"/>
                </a:solidFill>
                <a:latin typeface="Noto Sans SC"/>
                <a:ea typeface="Noto Sans SC"/>
                <a:cs typeface="Noto Sans SC"/>
                <a:sym typeface="Noto Sans SC"/>
              </a:rPr>
              <a:t>招商项目全周期管理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3098229"/>
            <a:ext cx="1270000" cy="685800"/>
          </a:xfrm>
          <a:prstGeom prst="roundRect">
            <a:avLst>
              <a:gd name="adj" fmla="val 14814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508000" y="3098229"/>
            <a:ext cx="127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企业工具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78000" y="3098229"/>
            <a:ext cx="3175000" cy="685800"/>
          </a:xfrm>
          <a:prstGeom prst="roundRect">
            <a:avLst>
              <a:gd name="adj" fmla="val 148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905000" y="3263329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8500" y="3326829"/>
            <a:ext cx="228600" cy="228600"/>
          </a:xfrm>
          <a:prstGeom prst="rect">
            <a:avLst/>
          </a:prstGeom>
        </p:spPr>
      </p:pic>
      <p:sp>
        <p:nvSpPr>
          <p:cNvPr id="31" name="AutoShape 31"/>
          <p:cNvSpPr txBox="1"/>
          <p:nvPr/>
        </p:nvSpPr>
        <p:spPr>
          <a:xfrm>
            <a:off x="2362200" y="3225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智能编辑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2362200" y="3479229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剪映专业版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143500" y="3098229"/>
            <a:ext cx="3175000" cy="685800"/>
          </a:xfrm>
          <a:prstGeom prst="roundRect">
            <a:avLst>
              <a:gd name="adj" fmla="val 148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5270500" y="3263329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000" y="3326829"/>
            <a:ext cx="228600" cy="228600"/>
          </a:xfrm>
          <a:prstGeom prst="rect">
            <a:avLst/>
          </a:prstGeom>
        </p:spPr>
      </p:pic>
      <p:sp>
        <p:nvSpPr>
          <p:cNvPr id="36" name="AutoShape 36"/>
          <p:cNvSpPr txBox="1"/>
          <p:nvPr/>
        </p:nvSpPr>
        <p:spPr>
          <a:xfrm>
            <a:off x="5727700" y="3225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智能创作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5727700" y="3479229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剧创 Seedance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509000" y="3098229"/>
            <a:ext cx="3175000" cy="685800"/>
          </a:xfrm>
          <a:prstGeom prst="roundRect">
            <a:avLst>
              <a:gd name="adj" fmla="val 148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636000" y="3263329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99500" y="3326829"/>
            <a:ext cx="228600" cy="228600"/>
          </a:xfrm>
          <a:prstGeom prst="rect">
            <a:avLst/>
          </a:prstGeom>
        </p:spPr>
      </p:pic>
      <p:sp>
        <p:nvSpPr>
          <p:cNvPr id="41" name="AutoShape 41"/>
          <p:cNvSpPr txBox="1"/>
          <p:nvPr/>
        </p:nvSpPr>
        <p:spPr>
          <a:xfrm>
            <a:off x="9093200" y="3225229"/>
            <a:ext cx="228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智能编码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9093200" y="3479229"/>
            <a:ext cx="228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TRAE 研发助手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08000" y="3860229"/>
            <a:ext cx="1270000" cy="584200"/>
          </a:xfrm>
          <a:prstGeom prst="roundRect">
            <a:avLst>
              <a:gd name="adj" fmla="val 17391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 txBox="1"/>
          <p:nvPr/>
        </p:nvSpPr>
        <p:spPr>
          <a:xfrm>
            <a:off x="508000" y="3860229"/>
            <a:ext cx="127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共性能力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778000" y="3860229"/>
            <a:ext cx="3175000" cy="584200"/>
          </a:xfrm>
          <a:prstGeom prst="roundRect">
            <a:avLst>
              <a:gd name="adj" fmla="val 17391"/>
            </a:avLst>
          </a:prstGeom>
          <a:solidFill>
            <a:srgbClr val="F8FAFD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5143500" y="3860229"/>
            <a:ext cx="3175000" cy="584200"/>
          </a:xfrm>
          <a:prstGeom prst="roundRect">
            <a:avLst>
              <a:gd name="adj" fmla="val 17391"/>
            </a:avLst>
          </a:prstGeom>
          <a:solidFill>
            <a:srgbClr val="F8FAFD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8509000" y="3860229"/>
            <a:ext cx="3175000" cy="584200"/>
          </a:xfrm>
          <a:prstGeom prst="roundRect">
            <a:avLst>
              <a:gd name="adj" fmla="val 17391"/>
            </a:avLst>
          </a:prstGeom>
          <a:solidFill>
            <a:srgbClr val="F8FAFD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06600" y="3999929"/>
            <a:ext cx="304800" cy="304800"/>
          </a:xfrm>
          <a:prstGeom prst="rect">
            <a:avLst/>
          </a:prstGeom>
        </p:spPr>
      </p:pic>
      <p:sp>
        <p:nvSpPr>
          <p:cNvPr id="49" name="AutoShape 49"/>
          <p:cNvSpPr txBox="1"/>
          <p:nvPr/>
        </p:nvSpPr>
        <p:spPr>
          <a:xfrm>
            <a:off x="2413000" y="3999929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AI 能力</a:t>
            </a:r>
            <a:endParaRPr lang="en-US" sz="110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72100" y="3999929"/>
            <a:ext cx="304800" cy="304800"/>
          </a:xfrm>
          <a:prstGeom prst="rect">
            <a:avLst/>
          </a:prstGeom>
        </p:spPr>
      </p:pic>
      <p:sp>
        <p:nvSpPr>
          <p:cNvPr id="51" name="AutoShape 51"/>
          <p:cNvSpPr txBox="1"/>
          <p:nvPr/>
        </p:nvSpPr>
        <p:spPr>
          <a:xfrm>
            <a:off x="5778500" y="3999929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安全能力</a:t>
            </a:r>
            <a:endParaRPr lang="en-US" sz="1100"/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37600" y="3999929"/>
            <a:ext cx="304800" cy="304800"/>
          </a:xfrm>
          <a:prstGeom prst="rect">
            <a:avLst/>
          </a:prstGeom>
        </p:spPr>
      </p:pic>
      <p:sp>
        <p:nvSpPr>
          <p:cNvPr id="53" name="AutoShape 53"/>
          <p:cNvSpPr txBox="1"/>
          <p:nvPr/>
        </p:nvSpPr>
        <p:spPr>
          <a:xfrm>
            <a:off x="9144000" y="3999929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数据能力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508000" y="4520629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1E3A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 txBox="1"/>
          <p:nvPr/>
        </p:nvSpPr>
        <p:spPr>
          <a:xfrm>
            <a:off x="508000" y="4520629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操作系统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1778000" y="4520629"/>
            <a:ext cx="4889500" cy="50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E3A64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 txBox="1"/>
          <p:nvPr/>
        </p:nvSpPr>
        <p:spPr>
          <a:xfrm>
            <a:off x="1778000" y="4520629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智能体开发平台</a:t>
            </a:r>
            <a:endParaRPr lang="en-US" sz="1100" dirty="0"/>
          </a:p>
        </p:txBody>
      </p:sp>
      <p:sp>
        <p:nvSpPr>
          <p:cNvPr id="58" name="AutoShape 58"/>
          <p:cNvSpPr/>
          <p:nvPr/>
        </p:nvSpPr>
        <p:spPr>
          <a:xfrm>
            <a:off x="6794500" y="4520629"/>
            <a:ext cx="4889500" cy="50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E3A64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 txBox="1"/>
          <p:nvPr/>
        </p:nvSpPr>
        <p:spPr>
          <a:xfrm>
            <a:off x="6794500" y="4520629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政务OS 应用与门户框架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508000" y="5104829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61"/>
          <p:cNvSpPr txBox="1"/>
          <p:nvPr/>
        </p:nvSpPr>
        <p:spPr>
          <a:xfrm>
            <a:off x="508000" y="5104829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智算基础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1778000" y="5104829"/>
            <a:ext cx="9906000" cy="50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EFF6FF">
                  <a:alpha val="100000"/>
                </a:srgbClr>
              </a:gs>
            </a:gsLst>
            <a:lin ang="0"/>
          </a:gra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3" name="AutoShape 63"/>
          <p:cNvSpPr txBox="1"/>
          <p:nvPr/>
        </p:nvSpPr>
        <p:spPr>
          <a:xfrm>
            <a:off x="1778000" y="5104829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50" b="1" i="0" u="none" strike="noStrike" dirty="0" err="1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政务云</a:t>
            </a:r>
            <a:r>
              <a:rPr lang="zh-CN" altLang="en-US" sz="1250" b="1" i="0" u="none" strike="noStrike" dirty="0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50" b="1" i="0" u="none" strike="noStrike" dirty="0" err="1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通算服务</a:t>
            </a:r>
            <a:r>
              <a:rPr lang="en-US" sz="1250" b="1" i="0" u="none" strike="noStrike" dirty="0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　·　</a:t>
            </a:r>
            <a:r>
              <a:rPr lang="en-US" sz="1250" b="1" i="0" u="none" strike="noStrike" dirty="0" err="1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存储服务</a:t>
            </a:r>
            <a:r>
              <a:rPr lang="en-US" sz="1250" b="1" i="0" u="none" strike="noStrike" dirty="0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　·　</a:t>
            </a:r>
            <a:r>
              <a:rPr lang="en-US" sz="1250" b="1" i="0" u="none" strike="noStrike" dirty="0" err="1">
                <a:solidFill>
                  <a:srgbClr val="1E3A64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安全服务</a:t>
            </a:r>
            <a:endParaRPr lang="en-US" sz="1100" dirty="0"/>
          </a:p>
        </p:txBody>
      </p:sp>
      <p:cxnSp>
        <p:nvCxnSpPr>
          <p:cNvPr id="64" name="Connector 64"/>
          <p:cNvCxnSpPr/>
          <p:nvPr/>
        </p:nvCxnSpPr>
        <p:spPr>
          <a:xfrm rot="-3906">
            <a:off x="508003" y="154940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AutoShape 65"/>
          <p:cNvSpPr txBox="1"/>
          <p:nvPr/>
        </p:nvSpPr>
        <p:spPr>
          <a:xfrm>
            <a:off x="449779" y="1143000"/>
            <a:ext cx="1117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能力统一沉淀、按需复用</a:t>
            </a:r>
            <a:r>
              <a:rPr lang="en-US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让政务更高效 </a:t>
            </a:r>
            <a:r>
              <a:rPr lang="en-US" altLang="zh-CN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zh-CN" altLang="en-US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让产业更智能</a:t>
            </a:r>
            <a:endParaRPr lang="zh-CN" altLang="en-US" sz="1400" b="1" i="0" u="none" strike="noStrike" dirty="0">
              <a:gradFill rotWithShape="1">
                <a:gsLst>
                  <a:gs pos="0">
                    <a:srgbClr val="2563EB">
                      <a:alpha val="100000"/>
                    </a:srgbClr>
                  </a:gs>
                  <a:gs pos="100000">
                    <a:srgbClr val="1D4ED8">
                      <a:alpha val="100000"/>
                    </a:srgbClr>
                  </a:gs>
                </a:gsLst>
                <a:lin ang="0"/>
              </a:gra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 dirty="0" err="1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多方协同机制</a:t>
            </a:r>
            <a:r>
              <a:rPr lang="zh-CN" altLang="en-US" sz="1900" b="1" i="0" u="none" strike="noStrike" dirty="0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900" b="1" i="0" u="none" strike="noStrike" dirty="0" err="1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已形成</a:t>
            </a:r>
            <a:r>
              <a:rPr lang="en-US" sz="1900" b="1" dirty="0" err="1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稳定</a:t>
            </a:r>
            <a:r>
              <a:rPr lang="zh-CN" altLang="en-US" sz="1900" b="1" i="0" u="none" strike="noStrike" dirty="0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组织架构及资源保障</a:t>
            </a:r>
            <a:endParaRPr lang="zh-CN" altLang="en-US" sz="1900" b="1" i="0" u="none" strike="noStrike" dirty="0">
              <a:solidFill>
                <a:srgbClr val="0F23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10"/>
          <p:cNvSpPr/>
          <p:nvPr/>
        </p:nvSpPr>
        <p:spPr>
          <a:xfrm>
            <a:off x="5438140" y="2576195"/>
            <a:ext cx="133159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“AI光谷”项目组</a:t>
            </a:r>
            <a:endParaRPr lang="en-US" sz="1100"/>
          </a:p>
        </p:txBody>
      </p:sp>
      <p:sp>
        <p:nvSpPr>
          <p:cNvPr id="6" name="AutoShape 11"/>
          <p:cNvSpPr/>
          <p:nvPr/>
        </p:nvSpPr>
        <p:spPr>
          <a:xfrm>
            <a:off x="5133340" y="2059305"/>
            <a:ext cx="1941195" cy="358775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项目承建方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火山引擎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7" name="AutoShape 12"/>
          <p:cNvSpPr/>
          <p:nvPr/>
        </p:nvSpPr>
        <p:spPr>
          <a:xfrm>
            <a:off x="5133340" y="993140"/>
            <a:ext cx="1941195" cy="358775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统筹协调方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政数局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8" name="AutoShape 13"/>
          <p:cNvSpPr/>
          <p:nvPr/>
        </p:nvSpPr>
        <p:spPr>
          <a:xfrm>
            <a:off x="5133340" y="1531620"/>
            <a:ext cx="1941195" cy="358775"/>
          </a:xfrm>
          <a:prstGeom prst="roundRect">
            <a:avLst>
              <a:gd name="adj" fmla="val 16666"/>
            </a:avLst>
          </a:prstGeom>
          <a:gradFill rotWithShape="1">
            <a:gsLst>
              <a:gs pos="16000">
                <a:srgbClr val="ABDACB">
                  <a:alpha val="100000"/>
                </a:srgbClr>
              </a:gs>
              <a:gs pos="98000">
                <a:srgbClr val="36907E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项目建设方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光谷数产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9" name="AutoShape 14"/>
          <p:cNvSpPr/>
          <p:nvPr/>
        </p:nvSpPr>
        <p:spPr>
          <a:xfrm>
            <a:off x="1796415" y="1026160"/>
            <a:ext cx="1946910" cy="381635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需求方</a:t>
            </a:r>
            <a:endParaRPr lang="en-US" sz="1100"/>
          </a:p>
        </p:txBody>
      </p:sp>
      <p:sp>
        <p:nvSpPr>
          <p:cNvPr id="10" name="AutoShape 15"/>
          <p:cNvSpPr/>
          <p:nvPr/>
        </p:nvSpPr>
        <p:spPr>
          <a:xfrm>
            <a:off x="715645" y="908685"/>
            <a:ext cx="4110990" cy="1602105"/>
          </a:xfrm>
          <a:prstGeom prst="roundRect">
            <a:avLst>
              <a:gd name="adj" fmla="val 16667"/>
            </a:avLst>
          </a:prstGeom>
          <a:noFill/>
          <a:ln w="12700" cap="flat" cmpd="sng"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6"/>
          <p:cNvSpPr/>
          <p:nvPr/>
        </p:nvSpPr>
        <p:spPr>
          <a:xfrm>
            <a:off x="2794635" y="1489075"/>
            <a:ext cx="948055" cy="9251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3BEC1">
                  <a:alpha val="100000"/>
                </a:srgbClr>
              </a:gs>
              <a:gs pos="50000">
                <a:srgbClr val="3474CB">
                  <a:alpha val="100000"/>
                </a:srgbClr>
              </a:gs>
              <a:gs pos="100000">
                <a:srgbClr val="8E52DF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政数局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（</a:t>
            </a:r>
            <a:r>
              <a:rPr 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商事</a:t>
            </a: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登记）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2" name="AutoShape 17"/>
          <p:cNvSpPr/>
          <p:nvPr/>
        </p:nvSpPr>
        <p:spPr>
          <a:xfrm>
            <a:off x="3792220" y="1489710"/>
            <a:ext cx="948055" cy="9245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3BEC1">
                  <a:alpha val="100000"/>
                </a:srgbClr>
              </a:gs>
              <a:gs pos="50000">
                <a:srgbClr val="3474CB">
                  <a:alpha val="100000"/>
                </a:srgbClr>
              </a:gs>
              <a:gs pos="100000">
                <a:srgbClr val="8E52DF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投促局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3" name="AutoShape 18"/>
          <p:cNvSpPr/>
          <p:nvPr/>
        </p:nvSpPr>
        <p:spPr>
          <a:xfrm>
            <a:off x="1796415" y="1492885"/>
            <a:ext cx="947420" cy="92519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3BEC1">
                  <a:alpha val="100000"/>
                </a:srgbClr>
              </a:gs>
              <a:gs pos="50000">
                <a:srgbClr val="3474CB">
                  <a:alpha val="100000"/>
                </a:srgbClr>
              </a:gs>
              <a:gs pos="100000">
                <a:srgbClr val="8E52DF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规划局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（</a:t>
            </a:r>
            <a:r>
              <a:rPr 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不动产</a:t>
            </a: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）</a:t>
            </a:r>
            <a:endParaRPr lang="en-US" sz="1100"/>
          </a:p>
        </p:txBody>
      </p:sp>
      <p:sp>
        <p:nvSpPr>
          <p:cNvPr id="14" name="AutoShape 19"/>
          <p:cNvSpPr/>
          <p:nvPr/>
        </p:nvSpPr>
        <p:spPr>
          <a:xfrm>
            <a:off x="8399780" y="965200"/>
            <a:ext cx="3443605" cy="99885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20"/>
          <p:cNvSpPr/>
          <p:nvPr/>
        </p:nvSpPr>
        <p:spPr>
          <a:xfrm>
            <a:off x="8482330" y="2033270"/>
            <a:ext cx="982980" cy="383540"/>
          </a:xfrm>
          <a:prstGeom prst="roundRect">
            <a:avLst>
              <a:gd name="adj" fmla="val 16666"/>
            </a:avLst>
          </a:prstGeom>
          <a:solidFill>
            <a:srgbClr val="00B0F0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软测公司</a:t>
            </a:r>
            <a:endParaRPr lang="en-US" sz="1100"/>
          </a:p>
        </p:txBody>
      </p:sp>
      <p:sp>
        <p:nvSpPr>
          <p:cNvPr id="16" name="AutoShape 21"/>
          <p:cNvSpPr/>
          <p:nvPr/>
        </p:nvSpPr>
        <p:spPr>
          <a:xfrm>
            <a:off x="9496425" y="2033270"/>
            <a:ext cx="970915" cy="351155"/>
          </a:xfrm>
          <a:prstGeom prst="roundRect">
            <a:avLst>
              <a:gd name="adj" fmla="val 16667"/>
            </a:avLst>
          </a:prstGeom>
          <a:solidFill>
            <a:srgbClr val="00B0F0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等保测评公司</a:t>
            </a:r>
            <a:endParaRPr lang="en-US" sz="1100"/>
          </a:p>
        </p:txBody>
      </p:sp>
      <p:sp>
        <p:nvSpPr>
          <p:cNvPr id="17" name="AutoShape 22"/>
          <p:cNvSpPr/>
          <p:nvPr/>
        </p:nvSpPr>
        <p:spPr>
          <a:xfrm>
            <a:off x="8482330" y="2465070"/>
            <a:ext cx="982980" cy="382270"/>
          </a:xfrm>
          <a:prstGeom prst="roundRect">
            <a:avLst>
              <a:gd name="adj" fmla="val 16667"/>
            </a:avLst>
          </a:prstGeom>
          <a:solidFill>
            <a:srgbClr val="00B0F0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密码测评公司</a:t>
            </a:r>
            <a:endParaRPr lang="en-US" sz="1100"/>
          </a:p>
        </p:txBody>
      </p:sp>
      <p:sp>
        <p:nvSpPr>
          <p:cNvPr id="18" name="AutoShape 23"/>
          <p:cNvSpPr/>
          <p:nvPr/>
        </p:nvSpPr>
        <p:spPr>
          <a:xfrm>
            <a:off x="9496425" y="2465070"/>
            <a:ext cx="970915" cy="382270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政务云服务商</a:t>
            </a:r>
            <a:endParaRPr lang="en-US" sz="1100"/>
          </a:p>
        </p:txBody>
      </p:sp>
      <p:cxnSp>
        <p:nvCxnSpPr>
          <p:cNvPr id="19" name="Connector 24"/>
          <p:cNvCxnSpPr/>
          <p:nvPr/>
        </p:nvCxnSpPr>
        <p:spPr>
          <a:xfrm rot="4915507">
            <a:off x="6020544" y="1435640"/>
            <a:ext cx="1801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20" name="Connector 25"/>
          <p:cNvCxnSpPr/>
          <p:nvPr/>
        </p:nvCxnSpPr>
        <p:spPr>
          <a:xfrm rot="4884739">
            <a:off x="6025929" y="1968737"/>
            <a:ext cx="1693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21" name="Connector 26"/>
          <p:cNvCxnSpPr/>
          <p:nvPr/>
        </p:nvCxnSpPr>
        <p:spPr>
          <a:xfrm rot="4849815">
            <a:off x="6031313" y="2491040"/>
            <a:ext cx="15862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22" name="AutoShape 27"/>
          <p:cNvSpPr/>
          <p:nvPr/>
        </p:nvSpPr>
        <p:spPr>
          <a:xfrm>
            <a:off x="92075" y="1190625"/>
            <a:ext cx="624205" cy="946785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cs typeface="微软雅黑" panose="020B0503020204020204" charset="-122"/>
                <a:sym typeface="微软雅黑" panose="020B0503020204020204" charset="-122"/>
              </a:rPr>
              <a:t>需求对接使用验证</a:t>
            </a:r>
            <a:endParaRPr lang="en-US" sz="1100"/>
          </a:p>
        </p:txBody>
      </p:sp>
      <p:sp>
        <p:nvSpPr>
          <p:cNvPr id="23" name="AutoShape 28"/>
          <p:cNvSpPr/>
          <p:nvPr/>
        </p:nvSpPr>
        <p:spPr>
          <a:xfrm>
            <a:off x="10568940" y="1203325"/>
            <a:ext cx="1274445" cy="59055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微软雅黑" panose="020B0503020204020204" charset="-122"/>
                <a:sym typeface="微软雅黑" panose="020B0503020204020204" charset="-122"/>
              </a:rPr>
              <a:t>配套服务、合规支撑</a:t>
            </a:r>
            <a:endParaRPr lang="en-US" sz="1100"/>
          </a:p>
        </p:txBody>
      </p:sp>
      <p:sp>
        <p:nvSpPr>
          <p:cNvPr id="24" name="AutoShape 29"/>
          <p:cNvSpPr/>
          <p:nvPr/>
        </p:nvSpPr>
        <p:spPr>
          <a:xfrm>
            <a:off x="792480" y="1489710"/>
            <a:ext cx="947420" cy="92456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3BEC1">
                  <a:alpha val="100000"/>
                </a:srgbClr>
              </a:gs>
              <a:gs pos="50000">
                <a:srgbClr val="3474CB">
                  <a:alpha val="100000"/>
                </a:srgbClr>
              </a:gs>
              <a:gs pos="100000">
                <a:srgbClr val="8E52DF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党政办公室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（</a:t>
            </a: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创研中心</a:t>
            </a: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）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25" name="AutoShape 30"/>
          <p:cNvSpPr/>
          <p:nvPr/>
        </p:nvSpPr>
        <p:spPr>
          <a:xfrm>
            <a:off x="10699750" y="2242820"/>
            <a:ext cx="947420" cy="25527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系统测评、资源支撑</a:t>
            </a:r>
            <a:endParaRPr lang="en-US" sz="1100"/>
          </a:p>
        </p:txBody>
      </p:sp>
      <p:sp>
        <p:nvSpPr>
          <p:cNvPr id="26" name="AutoShape 31"/>
          <p:cNvSpPr/>
          <p:nvPr/>
        </p:nvSpPr>
        <p:spPr>
          <a:xfrm>
            <a:off x="9496425" y="1066800"/>
            <a:ext cx="970915" cy="38290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0D5FF">
                  <a:alpha val="100000"/>
                </a:srgbClr>
              </a:gs>
              <a:gs pos="50000">
                <a:srgbClr val="0156FF">
                  <a:alpha val="100000"/>
                </a:srgbClr>
              </a:gs>
              <a:gs pos="100000">
                <a:srgbClr val="0049DA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监理单位</a:t>
            </a:r>
            <a:endParaRPr lang="en-US" sz="1100"/>
          </a:p>
        </p:txBody>
      </p:sp>
      <p:sp>
        <p:nvSpPr>
          <p:cNvPr id="27" name="AutoShape 32"/>
          <p:cNvSpPr/>
          <p:nvPr/>
        </p:nvSpPr>
        <p:spPr>
          <a:xfrm>
            <a:off x="8482330" y="1066800"/>
            <a:ext cx="982345" cy="38290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0D5FF">
                  <a:alpha val="100000"/>
                </a:srgbClr>
              </a:gs>
              <a:gs pos="50000">
                <a:srgbClr val="0156FF">
                  <a:alpha val="100000"/>
                </a:srgbClr>
              </a:gs>
              <a:gs pos="100000">
                <a:srgbClr val="0049DA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设计单位</a:t>
            </a:r>
            <a:endParaRPr lang="en-US" sz="1100"/>
          </a:p>
        </p:txBody>
      </p:sp>
      <p:sp>
        <p:nvSpPr>
          <p:cNvPr id="28" name="AutoShape 33"/>
          <p:cNvSpPr/>
          <p:nvPr/>
        </p:nvSpPr>
        <p:spPr>
          <a:xfrm>
            <a:off x="8482330" y="1505585"/>
            <a:ext cx="982980" cy="38290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0D5FF">
                  <a:alpha val="100000"/>
                </a:srgbClr>
              </a:gs>
              <a:gs pos="50000">
                <a:srgbClr val="0156FF">
                  <a:alpha val="100000"/>
                </a:srgbClr>
              </a:gs>
              <a:gs pos="100000">
                <a:srgbClr val="0049DA">
                  <a:alpha val="100000"/>
                </a:srgbClr>
              </a:gs>
            </a:gsLst>
            <a:lin ang="54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项目管理单位</a:t>
            </a:r>
            <a:endParaRPr lang="en-US" sz="1100"/>
          </a:p>
        </p:txBody>
      </p:sp>
      <p:sp>
        <p:nvSpPr>
          <p:cNvPr id="29" name="AutoShape 34"/>
          <p:cNvSpPr/>
          <p:nvPr/>
        </p:nvSpPr>
        <p:spPr>
          <a:xfrm>
            <a:off x="8399780" y="1964055"/>
            <a:ext cx="3443605" cy="998855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5"/>
          <p:cNvSpPr/>
          <p:nvPr/>
        </p:nvSpPr>
        <p:spPr>
          <a:xfrm>
            <a:off x="2066290" y="4320540"/>
            <a:ext cx="1095375" cy="4337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项目经理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韩海龙&amp;洪翔坤&amp;</a:t>
            </a:r>
            <a:r>
              <a:rPr lang="zh-CN" altLang="en-US" sz="9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刘培战</a:t>
            </a:r>
            <a:endParaRPr lang="zh-CN" altLang="en-US" sz="9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31" name="AutoShape 36"/>
          <p:cNvSpPr/>
          <p:nvPr/>
        </p:nvSpPr>
        <p:spPr>
          <a:xfrm>
            <a:off x="2035810" y="3472180"/>
            <a:ext cx="2302510" cy="2325370"/>
          </a:xfrm>
          <a:prstGeom prst="roundRect">
            <a:avLst>
              <a:gd name="adj" fmla="val 4503"/>
            </a:avLst>
          </a:prstGeom>
          <a:noFill/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37"/>
          <p:cNvSpPr/>
          <p:nvPr/>
        </p:nvSpPr>
        <p:spPr>
          <a:xfrm>
            <a:off x="9903460" y="4370388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系统部署工程师</a:t>
            </a:r>
            <a:endParaRPr lang="en-US" sz="1100"/>
          </a:p>
        </p:txBody>
      </p:sp>
      <p:sp>
        <p:nvSpPr>
          <p:cNvPr id="33" name="AutoShape 38"/>
          <p:cNvSpPr/>
          <p:nvPr/>
        </p:nvSpPr>
        <p:spPr>
          <a:xfrm>
            <a:off x="2400300" y="3524885"/>
            <a:ext cx="1504315" cy="27559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交付保障组（11人）</a:t>
            </a:r>
            <a:endParaRPr lang="en-US" sz="1100"/>
          </a:p>
        </p:txBody>
      </p:sp>
      <p:sp>
        <p:nvSpPr>
          <p:cNvPr id="34" name="AutoShape 39"/>
          <p:cNvSpPr/>
          <p:nvPr/>
        </p:nvSpPr>
        <p:spPr>
          <a:xfrm>
            <a:off x="2517775" y="3868420"/>
            <a:ext cx="1274445" cy="351790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光谷数产</a:t>
            </a:r>
            <a:endParaRPr lang="en-US" sz="1100"/>
          </a:p>
        </p:txBody>
      </p:sp>
      <p:sp>
        <p:nvSpPr>
          <p:cNvPr id="35" name="AutoShape 40"/>
          <p:cNvSpPr/>
          <p:nvPr/>
        </p:nvSpPr>
        <p:spPr>
          <a:xfrm>
            <a:off x="4417060" y="3476625"/>
            <a:ext cx="1772920" cy="2325370"/>
          </a:xfrm>
          <a:prstGeom prst="roundRect">
            <a:avLst>
              <a:gd name="adj" fmla="val 6908"/>
            </a:avLst>
          </a:prstGeom>
          <a:noFill/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41"/>
          <p:cNvSpPr/>
          <p:nvPr/>
        </p:nvSpPr>
        <p:spPr>
          <a:xfrm>
            <a:off x="6275705" y="3484880"/>
            <a:ext cx="1917700" cy="2325370"/>
          </a:xfrm>
          <a:prstGeom prst="roundRect">
            <a:avLst>
              <a:gd name="adj" fmla="val 6356"/>
            </a:avLst>
          </a:prstGeom>
          <a:noFill/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7" name="AutoShape 42"/>
          <p:cNvSpPr/>
          <p:nvPr/>
        </p:nvSpPr>
        <p:spPr>
          <a:xfrm>
            <a:off x="8288020" y="3474085"/>
            <a:ext cx="1421130" cy="2325370"/>
          </a:xfrm>
          <a:prstGeom prst="roundRect">
            <a:avLst>
              <a:gd name="adj" fmla="val 8552"/>
            </a:avLst>
          </a:prstGeom>
          <a:noFill/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8" name="AutoShape 43"/>
          <p:cNvSpPr/>
          <p:nvPr/>
        </p:nvSpPr>
        <p:spPr>
          <a:xfrm>
            <a:off x="9798050" y="3456305"/>
            <a:ext cx="2302510" cy="2341880"/>
          </a:xfrm>
          <a:prstGeom prst="roundRect">
            <a:avLst>
              <a:gd name="adj" fmla="val 5576"/>
            </a:avLst>
          </a:prstGeom>
          <a:noFill/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9" name="AutoShape 44"/>
          <p:cNvSpPr/>
          <p:nvPr/>
        </p:nvSpPr>
        <p:spPr>
          <a:xfrm>
            <a:off x="4605020" y="3524885"/>
            <a:ext cx="1504315" cy="27559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公文写作组（5人）</a:t>
            </a:r>
            <a:endParaRPr lang="en-US" sz="1100"/>
          </a:p>
        </p:txBody>
      </p:sp>
      <p:sp>
        <p:nvSpPr>
          <p:cNvPr id="40" name="AutoShape 45"/>
          <p:cNvSpPr/>
          <p:nvPr/>
        </p:nvSpPr>
        <p:spPr>
          <a:xfrm>
            <a:off x="6490970" y="3524885"/>
            <a:ext cx="1503680" cy="27559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智能咨询组（5人）</a:t>
            </a:r>
            <a:endParaRPr lang="en-US" sz="1100"/>
          </a:p>
        </p:txBody>
      </p:sp>
      <p:sp>
        <p:nvSpPr>
          <p:cNvPr id="41" name="AutoShape 46"/>
          <p:cNvSpPr/>
          <p:nvPr/>
        </p:nvSpPr>
        <p:spPr>
          <a:xfrm>
            <a:off x="8288020" y="3524885"/>
            <a:ext cx="1637665" cy="27559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产业洞察组（5人）</a:t>
            </a:r>
            <a:endParaRPr lang="en-US" sz="1100"/>
          </a:p>
        </p:txBody>
      </p:sp>
      <p:sp>
        <p:nvSpPr>
          <p:cNvPr id="42" name="AutoShape 47"/>
          <p:cNvSpPr/>
          <p:nvPr/>
        </p:nvSpPr>
        <p:spPr>
          <a:xfrm>
            <a:off x="10340340" y="3524885"/>
            <a:ext cx="1421765" cy="27559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技术组（10人）</a:t>
            </a:r>
            <a:endParaRPr lang="en-US" sz="1100"/>
          </a:p>
        </p:txBody>
      </p:sp>
      <p:sp>
        <p:nvSpPr>
          <p:cNvPr id="43" name="AutoShape 48"/>
          <p:cNvSpPr/>
          <p:nvPr/>
        </p:nvSpPr>
        <p:spPr>
          <a:xfrm>
            <a:off x="4879975" y="3857625"/>
            <a:ext cx="896620" cy="351790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党政办</a:t>
            </a:r>
            <a:endParaRPr lang="en-US" sz="1100"/>
          </a:p>
        </p:txBody>
      </p:sp>
      <p:sp>
        <p:nvSpPr>
          <p:cNvPr id="44" name="AutoShape 49"/>
          <p:cNvSpPr/>
          <p:nvPr/>
        </p:nvSpPr>
        <p:spPr>
          <a:xfrm>
            <a:off x="6332220" y="3869055"/>
            <a:ext cx="896620" cy="351790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不动产</a:t>
            </a:r>
            <a:endParaRPr lang="en-US" sz="1100"/>
          </a:p>
        </p:txBody>
      </p:sp>
      <p:sp>
        <p:nvSpPr>
          <p:cNvPr id="45" name="AutoShape 50"/>
          <p:cNvSpPr/>
          <p:nvPr/>
        </p:nvSpPr>
        <p:spPr>
          <a:xfrm>
            <a:off x="7252335" y="3857625"/>
            <a:ext cx="896620" cy="351790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商事</a:t>
            </a:r>
            <a:endParaRPr lang="en-US" sz="1100"/>
          </a:p>
        </p:txBody>
      </p:sp>
      <p:sp>
        <p:nvSpPr>
          <p:cNvPr id="46" name="AutoShape 51"/>
          <p:cNvSpPr/>
          <p:nvPr/>
        </p:nvSpPr>
        <p:spPr>
          <a:xfrm>
            <a:off x="8590280" y="3857625"/>
            <a:ext cx="896620" cy="351790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投促局</a:t>
            </a:r>
            <a:endParaRPr lang="en-US" sz="1100"/>
          </a:p>
        </p:txBody>
      </p:sp>
      <p:cxnSp>
        <p:nvCxnSpPr>
          <p:cNvPr id="47" name="Connector 52"/>
          <p:cNvCxnSpPr>
            <a:stCxn id="10" idx="3"/>
            <a:endCxn id="8" idx="1"/>
          </p:cNvCxnSpPr>
          <p:nvPr/>
        </p:nvCxnSpPr>
        <p:spPr>
          <a:xfrm>
            <a:off x="4826635" y="1710055"/>
            <a:ext cx="306705" cy="1270"/>
          </a:xfrm>
          <a:prstGeom prst="bentConnector3">
            <a:avLst>
              <a:gd name="adj1" fmla="val 50104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48" name="Connector 53"/>
          <p:cNvCxnSpPr/>
          <p:nvPr/>
        </p:nvCxnSpPr>
        <p:spPr>
          <a:xfrm rot="10800000" flipV="1">
            <a:off x="7074535" y="1464945"/>
            <a:ext cx="1325245" cy="774065"/>
          </a:xfrm>
          <a:prstGeom prst="bentConnector3">
            <a:avLst>
              <a:gd name="adj1" fmla="val 49976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49" name="Connector 54"/>
          <p:cNvCxnSpPr/>
          <p:nvPr/>
        </p:nvCxnSpPr>
        <p:spPr>
          <a:xfrm rot="10800000">
            <a:off x="7074535" y="2239010"/>
            <a:ext cx="1325245" cy="224790"/>
          </a:xfrm>
          <a:prstGeom prst="bentConnector3">
            <a:avLst>
              <a:gd name="adj1" fmla="val 49976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50" name="AutoShape 55"/>
          <p:cNvSpPr/>
          <p:nvPr/>
        </p:nvSpPr>
        <p:spPr>
          <a:xfrm>
            <a:off x="3205480" y="4320540"/>
            <a:ext cx="1095375" cy="4337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解决方案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张波&amp;吴乐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51" name="AutoShape 56"/>
          <p:cNvSpPr/>
          <p:nvPr/>
        </p:nvSpPr>
        <p:spPr>
          <a:xfrm>
            <a:off x="10401935" y="3869055"/>
            <a:ext cx="1095375" cy="3829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交付架构师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赵震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52" name="AutoShape 57"/>
          <p:cNvSpPr/>
          <p:nvPr/>
        </p:nvSpPr>
        <p:spPr>
          <a:xfrm>
            <a:off x="10986135" y="4370388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系统安全工程师</a:t>
            </a:r>
            <a:endParaRPr lang="en-US" sz="1100"/>
          </a:p>
        </p:txBody>
      </p:sp>
      <p:sp>
        <p:nvSpPr>
          <p:cNvPr id="53" name="AutoShape 58"/>
          <p:cNvSpPr/>
          <p:nvPr/>
        </p:nvSpPr>
        <p:spPr>
          <a:xfrm>
            <a:off x="9903460" y="481044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测试工程师</a:t>
            </a:r>
            <a:endParaRPr lang="en-US" sz="1100"/>
          </a:p>
        </p:txBody>
      </p:sp>
      <p:sp>
        <p:nvSpPr>
          <p:cNvPr id="54" name="AutoShape 59"/>
          <p:cNvSpPr/>
          <p:nvPr/>
        </p:nvSpPr>
        <p:spPr>
          <a:xfrm>
            <a:off x="2066290" y="4797425"/>
            <a:ext cx="1095375" cy="3829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交付架构师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赵震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55" name="AutoShape 60"/>
          <p:cNvSpPr/>
          <p:nvPr/>
        </p:nvSpPr>
        <p:spPr>
          <a:xfrm>
            <a:off x="10986135" y="481044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技术支持工程师</a:t>
            </a:r>
            <a:endParaRPr lang="en-US" sz="1100"/>
          </a:p>
        </p:txBody>
      </p:sp>
      <p:sp>
        <p:nvSpPr>
          <p:cNvPr id="56" name="AutoShape 61"/>
          <p:cNvSpPr/>
          <p:nvPr/>
        </p:nvSpPr>
        <p:spPr>
          <a:xfrm>
            <a:off x="3203575" y="4796790"/>
            <a:ext cx="1095375" cy="3829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安全负责人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黄梦娜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57" name="AutoShape 62"/>
          <p:cNvSpPr/>
          <p:nvPr/>
        </p:nvSpPr>
        <p:spPr>
          <a:xfrm>
            <a:off x="9903460" y="525113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产品研发</a:t>
            </a:r>
            <a:endParaRPr lang="en-US" sz="1100"/>
          </a:p>
        </p:txBody>
      </p:sp>
      <p:sp>
        <p:nvSpPr>
          <p:cNvPr id="58" name="AutoShape 63"/>
          <p:cNvSpPr/>
          <p:nvPr/>
        </p:nvSpPr>
        <p:spPr>
          <a:xfrm>
            <a:off x="10986135" y="525113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运维工程师</a:t>
            </a:r>
            <a:endParaRPr lang="en-US" sz="1100"/>
          </a:p>
        </p:txBody>
      </p:sp>
      <p:sp>
        <p:nvSpPr>
          <p:cNvPr id="59" name="AutoShape 64"/>
          <p:cNvSpPr/>
          <p:nvPr/>
        </p:nvSpPr>
        <p:spPr>
          <a:xfrm>
            <a:off x="4744720" y="4370705"/>
            <a:ext cx="112585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智能体产品经理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郭菲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60" name="AutoShape 65"/>
          <p:cNvSpPr/>
          <p:nvPr/>
        </p:nvSpPr>
        <p:spPr>
          <a:xfrm>
            <a:off x="2068830" y="5224145"/>
            <a:ext cx="1095375" cy="3829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产品负责人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郭菲&amp;陈龙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61" name="AutoShape 66"/>
          <p:cNvSpPr/>
          <p:nvPr/>
        </p:nvSpPr>
        <p:spPr>
          <a:xfrm>
            <a:off x="3203575" y="5224145"/>
            <a:ext cx="1095375" cy="38290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培训讲师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童辉等</a:t>
            </a: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3人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62" name="AutoShape 67"/>
          <p:cNvSpPr/>
          <p:nvPr/>
        </p:nvSpPr>
        <p:spPr>
          <a:xfrm>
            <a:off x="4787900" y="481044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智能体研发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佟林等</a:t>
            </a: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3人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63" name="AutoShape 68"/>
          <p:cNvSpPr/>
          <p:nvPr/>
        </p:nvSpPr>
        <p:spPr>
          <a:xfrm>
            <a:off x="4787900" y="525113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智能体测试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尹建虎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28" name="AutoShape 69"/>
          <p:cNvSpPr/>
          <p:nvPr/>
        </p:nvSpPr>
        <p:spPr>
          <a:xfrm>
            <a:off x="6650355" y="4370705"/>
            <a:ext cx="112585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智能体产品经理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张瑞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29" name="AutoShape 70"/>
          <p:cNvSpPr/>
          <p:nvPr/>
        </p:nvSpPr>
        <p:spPr>
          <a:xfrm>
            <a:off x="6693535" y="481044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智能体研发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韩斯琪等</a:t>
            </a: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3人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30" name="AutoShape 71"/>
          <p:cNvSpPr/>
          <p:nvPr/>
        </p:nvSpPr>
        <p:spPr>
          <a:xfrm>
            <a:off x="6693535" y="525113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智能体测试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张鹏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31" name="AutoShape 72"/>
          <p:cNvSpPr/>
          <p:nvPr/>
        </p:nvSpPr>
        <p:spPr>
          <a:xfrm>
            <a:off x="8493125" y="4370705"/>
            <a:ext cx="112585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智能体产品经理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康素珍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32" name="AutoShape 73"/>
          <p:cNvSpPr/>
          <p:nvPr/>
        </p:nvSpPr>
        <p:spPr>
          <a:xfrm>
            <a:off x="8536305" y="481044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智能体研发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石佳昊等</a:t>
            </a: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3人</a:t>
            </a:r>
            <a:endParaRPr 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33" name="AutoShape 74"/>
          <p:cNvSpPr/>
          <p:nvPr/>
        </p:nvSpPr>
        <p:spPr>
          <a:xfrm>
            <a:off x="8536305" y="5251133"/>
            <a:ext cx="1040765" cy="38354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智能体测试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zh-CN" alt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钱程</a:t>
            </a:r>
            <a:endParaRPr lang="zh-CN" altLang="en-US" sz="1000" b="0" i="0" u="none" strike="noStrike">
              <a:solidFill>
                <a:srgbClr val="FFFFFF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sp>
        <p:nvSpPr>
          <p:cNvPr id="134" name="AutoShape 75"/>
          <p:cNvSpPr/>
          <p:nvPr/>
        </p:nvSpPr>
        <p:spPr>
          <a:xfrm>
            <a:off x="2094230" y="5813425"/>
            <a:ext cx="2271395" cy="76835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1、对接各业务部门，推进需求调研及方案确认；2项目进度管理，保障项目顺利推进</a:t>
            </a:r>
            <a:endParaRPr lang="en-US" sz="1100"/>
          </a:p>
          <a:p>
            <a:pPr algn="l">
              <a:lnSpc>
                <a:spcPct val="100000"/>
              </a:lnSpc>
            </a:pPr>
            <a:endParaRPr lang="en-US" sz="1100"/>
          </a:p>
        </p:txBody>
      </p:sp>
      <p:sp>
        <p:nvSpPr>
          <p:cNvPr id="135" name="AutoShape 76"/>
          <p:cNvSpPr/>
          <p:nvPr/>
        </p:nvSpPr>
        <p:spPr>
          <a:xfrm>
            <a:off x="4416425" y="5829935"/>
            <a:ext cx="1857375" cy="76835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公文写作场景智能体需求梳理、智能体方案编制及确认、智能体开发测试、上线体验及持续优化</a:t>
            </a:r>
            <a:endParaRPr lang="en-US" sz="1100"/>
          </a:p>
        </p:txBody>
      </p:sp>
      <p:sp>
        <p:nvSpPr>
          <p:cNvPr id="136" name="AutoShape 77"/>
          <p:cNvSpPr/>
          <p:nvPr/>
        </p:nvSpPr>
        <p:spPr>
          <a:xfrm>
            <a:off x="6274435" y="5813425"/>
            <a:ext cx="1918970" cy="76835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智能咨询场景智能体需求梳理、智能体方案编制及确认、智能体开发测试、上线体验及持续优化</a:t>
            </a:r>
            <a:endParaRPr lang="en-US" sz="1100"/>
          </a:p>
        </p:txBody>
      </p:sp>
      <p:sp>
        <p:nvSpPr>
          <p:cNvPr id="137" name="AutoShape 78"/>
          <p:cNvSpPr/>
          <p:nvPr/>
        </p:nvSpPr>
        <p:spPr>
          <a:xfrm>
            <a:off x="8287385" y="5813425"/>
            <a:ext cx="1510665" cy="93726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产业洞察场景智能体需求梳理、智能体方案编制及确认、智能体开发测试、上线体验及持续优化</a:t>
            </a:r>
            <a:endParaRPr lang="en-US" sz="1100"/>
          </a:p>
        </p:txBody>
      </p:sp>
      <p:sp>
        <p:nvSpPr>
          <p:cNvPr id="138" name="AutoShape 79"/>
          <p:cNvSpPr/>
          <p:nvPr/>
        </p:nvSpPr>
        <p:spPr>
          <a:xfrm>
            <a:off x="9797415" y="5797550"/>
            <a:ext cx="2303780" cy="93726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1、整体部署方案设计；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2、标准产品部署、测试；</a:t>
            </a:r>
            <a:endParaRPr lang="en-US" sz="1100" b="0" u="none" strike="noStrike">
              <a:solidFill>
                <a:srgbClr val="000000"/>
              </a:solidFill>
              <a:cs typeface="Lantinghei SC" panose="02000000000000000000" charset="-122"/>
              <a:sym typeface="Lantinghei SC" panose="020000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3、系统对接；</a:t>
            </a:r>
            <a:endParaRPr lang="en-US" sz="1100" b="0" u="none" strike="noStrike">
              <a:solidFill>
                <a:srgbClr val="000000"/>
              </a:solidFill>
              <a:cs typeface="Lantinghei SC" panose="02000000000000000000" charset="-122"/>
              <a:sym typeface="Lantinghei SC" panose="020000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4、系统安全方案设计及安全策略配置，保障系统安全稳定；</a:t>
            </a:r>
            <a:endParaRPr lang="en-US" sz="1100" b="0" u="none" strike="noStrike">
              <a:solidFill>
                <a:srgbClr val="000000"/>
              </a:solidFill>
              <a:cs typeface="Lantinghei SC" panose="02000000000000000000" charset="-122"/>
              <a:sym typeface="Lantinghei SC" panose="02000000000000000000" charset="-122"/>
            </a:endParaRPr>
          </a:p>
        </p:txBody>
      </p:sp>
      <p:cxnSp>
        <p:nvCxnSpPr>
          <p:cNvPr id="139" name="Connector 80"/>
          <p:cNvCxnSpPr/>
          <p:nvPr/>
        </p:nvCxnSpPr>
        <p:spPr>
          <a:xfrm rot="5400000">
            <a:off x="4408488" y="1776413"/>
            <a:ext cx="512445" cy="2879090"/>
          </a:xfrm>
          <a:prstGeom prst="bentConnector3">
            <a:avLst>
              <a:gd name="adj1" fmla="val 50000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140" name="Connector 81"/>
          <p:cNvCxnSpPr/>
          <p:nvPr/>
        </p:nvCxnSpPr>
        <p:spPr>
          <a:xfrm rot="5400000">
            <a:off x="5464493" y="2836863"/>
            <a:ext cx="516890" cy="762635"/>
          </a:xfrm>
          <a:prstGeom prst="bentConnector3">
            <a:avLst>
              <a:gd name="adj1" fmla="val 49939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141" name="Connector 82"/>
          <p:cNvCxnSpPr/>
          <p:nvPr/>
        </p:nvCxnSpPr>
        <p:spPr>
          <a:xfrm rot="5400000" flipV="1">
            <a:off x="6425883" y="2638108"/>
            <a:ext cx="525145" cy="1168400"/>
          </a:xfrm>
          <a:prstGeom prst="bentConnector3">
            <a:avLst>
              <a:gd name="adj1" fmla="val 50000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142" name="Connector 83"/>
          <p:cNvCxnSpPr/>
          <p:nvPr/>
        </p:nvCxnSpPr>
        <p:spPr>
          <a:xfrm rot="5400000" flipV="1">
            <a:off x="7313295" y="1750695"/>
            <a:ext cx="514350" cy="2932430"/>
          </a:xfrm>
          <a:prstGeom prst="bentConnector3">
            <a:avLst>
              <a:gd name="adj1" fmla="val 50000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227" name="Connector 84"/>
          <p:cNvCxnSpPr/>
          <p:nvPr/>
        </p:nvCxnSpPr>
        <p:spPr>
          <a:xfrm rot="5400000" flipV="1">
            <a:off x="8297545" y="766445"/>
            <a:ext cx="496570" cy="4883150"/>
          </a:xfrm>
          <a:prstGeom prst="bentConnector3">
            <a:avLst>
              <a:gd name="adj1" fmla="val 51533"/>
            </a:avLst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228" name="AutoShape 85"/>
          <p:cNvSpPr/>
          <p:nvPr/>
        </p:nvSpPr>
        <p:spPr>
          <a:xfrm>
            <a:off x="500380" y="4227830"/>
            <a:ext cx="1095375" cy="35115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汪小龙</a:t>
            </a:r>
            <a:endParaRPr lang="en-US" sz="1100"/>
          </a:p>
        </p:txBody>
      </p:sp>
      <p:sp>
        <p:nvSpPr>
          <p:cNvPr id="229" name="AutoShape 86"/>
          <p:cNvSpPr/>
          <p:nvPr/>
        </p:nvSpPr>
        <p:spPr>
          <a:xfrm>
            <a:off x="499745" y="4614545"/>
            <a:ext cx="1095375" cy="350520"/>
          </a:xfrm>
          <a:prstGeom prst="roundRect">
            <a:avLst>
              <a:gd name="adj" fmla="val 16666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姚毅昊</a:t>
            </a:r>
            <a:endParaRPr lang="en-US" sz="1100"/>
          </a:p>
        </p:txBody>
      </p:sp>
      <p:sp>
        <p:nvSpPr>
          <p:cNvPr id="230" name="AutoShape 87"/>
          <p:cNvSpPr/>
          <p:nvPr/>
        </p:nvSpPr>
        <p:spPr>
          <a:xfrm>
            <a:off x="500380" y="5000625"/>
            <a:ext cx="1095375" cy="35115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雷宇</a:t>
            </a:r>
            <a:endParaRPr lang="en-US" sz="1100"/>
          </a:p>
        </p:txBody>
      </p:sp>
      <p:sp>
        <p:nvSpPr>
          <p:cNvPr id="231" name="AutoShape 88"/>
          <p:cNvSpPr/>
          <p:nvPr/>
        </p:nvSpPr>
        <p:spPr>
          <a:xfrm>
            <a:off x="500380" y="5387340"/>
            <a:ext cx="1095375" cy="352425"/>
          </a:xfrm>
          <a:prstGeom prst="roundRect">
            <a:avLst>
              <a:gd name="adj" fmla="val 16667"/>
            </a:avLst>
          </a:prstGeom>
          <a:solidFill>
            <a:srgbClr val="3F83FE">
              <a:alpha val="100000"/>
            </a:srgbClr>
          </a:soli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时臻盛</a:t>
            </a:r>
            <a:endParaRPr lang="en-US" sz="1100"/>
          </a:p>
        </p:txBody>
      </p:sp>
      <p:sp>
        <p:nvSpPr>
          <p:cNvPr id="232" name="AutoShape 89"/>
          <p:cNvSpPr/>
          <p:nvPr/>
        </p:nvSpPr>
        <p:spPr>
          <a:xfrm>
            <a:off x="186690" y="3456305"/>
            <a:ext cx="1772920" cy="2325370"/>
          </a:xfrm>
          <a:prstGeom prst="roundRect">
            <a:avLst>
              <a:gd name="adj" fmla="val 5050"/>
            </a:avLst>
          </a:prstGeom>
          <a:noFill/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33" name="AutoShape 90"/>
          <p:cNvSpPr/>
          <p:nvPr/>
        </p:nvSpPr>
        <p:spPr>
          <a:xfrm>
            <a:off x="292100" y="3504565"/>
            <a:ext cx="1504315" cy="27559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统筹协调组（4人）</a:t>
            </a:r>
            <a:endParaRPr lang="en-US" sz="1100"/>
          </a:p>
        </p:txBody>
      </p:sp>
      <p:sp>
        <p:nvSpPr>
          <p:cNvPr id="234" name="AutoShape 91"/>
          <p:cNvSpPr/>
          <p:nvPr/>
        </p:nvSpPr>
        <p:spPr>
          <a:xfrm>
            <a:off x="427990" y="3837305"/>
            <a:ext cx="1261110" cy="351790"/>
          </a:xfrm>
          <a:prstGeom prst="roundRect">
            <a:avLst>
              <a:gd name="adj" fmla="val 16666"/>
            </a:avLst>
          </a:prstGeom>
          <a:gradFill rotWithShape="1">
            <a:gsLst>
              <a:gs pos="18000">
                <a:srgbClr val="C48818">
                  <a:alpha val="100000"/>
                </a:srgbClr>
              </a:gs>
              <a:gs pos="83000">
                <a:srgbClr val="F0C781">
                  <a:alpha val="100000"/>
                </a:srgbClr>
              </a:gs>
            </a:gsLst>
            <a:lin ang="16200000" scaled="0"/>
          </a:gradFill>
          <a:ln w="25400" cap="flat" cmpd="sng">
            <a:noFill/>
            <a:prstDash val="solid"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cs typeface="Lantinghei SC" panose="02000000000000000000" charset="-122"/>
                <a:sym typeface="Lantinghei SC" panose="02000000000000000000" charset="-122"/>
              </a:rPr>
              <a:t>政数局、光谷数产</a:t>
            </a:r>
            <a:endParaRPr lang="en-US" sz="1100"/>
          </a:p>
        </p:txBody>
      </p:sp>
      <p:sp>
        <p:nvSpPr>
          <p:cNvPr id="235" name="AutoShape 92"/>
          <p:cNvSpPr/>
          <p:nvPr/>
        </p:nvSpPr>
        <p:spPr>
          <a:xfrm>
            <a:off x="85725" y="5814695"/>
            <a:ext cx="1941195" cy="768350"/>
          </a:xfrm>
          <a:prstGeom prst="rect">
            <a:avLst/>
          </a:prstGeom>
          <a:noFill/>
          <a:ln w="12700" cap="flat" cmpd="sng">
            <a:noFill/>
            <a:prstDash val="solid"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u="none" strike="noStrike">
                <a:solidFill>
                  <a:srgbClr val="000000"/>
                </a:solidFill>
                <a:cs typeface="Lantinghei SC" panose="02000000000000000000" charset="-122"/>
                <a:sym typeface="Lantinghei SC" panose="02000000000000000000" charset="-122"/>
              </a:rPr>
              <a:t>负责项目高位统筹、跨部门协调、进度管控、资源保障和验收组织，牵头抓总、协调各方，保障项目推进落地。</a:t>
            </a:r>
            <a:endParaRPr lang="en-US" sz="1100"/>
          </a:p>
        </p:txBody>
      </p:sp>
      <p:cxnSp>
        <p:nvCxnSpPr>
          <p:cNvPr id="236" name="Connector 93"/>
          <p:cNvCxnSpPr/>
          <p:nvPr/>
        </p:nvCxnSpPr>
        <p:spPr>
          <a:xfrm rot="10800000" flipV="1">
            <a:off x="1073150" y="3211195"/>
            <a:ext cx="5026660" cy="245110"/>
          </a:xfrm>
          <a:prstGeom prst="bentConnector2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56FF">
                <a:alpha val="10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</p:cxnSp>
      <p:sp>
        <p:nvSpPr>
          <p:cNvPr id="237" name="AutoShape 34"/>
          <p:cNvSpPr/>
          <p:nvPr/>
        </p:nvSpPr>
        <p:spPr>
          <a:xfrm>
            <a:off x="726757" y="973103"/>
            <a:ext cx="4110990" cy="1638017"/>
          </a:xfrm>
          <a:prstGeom prst="roundRect">
            <a:avLst>
              <a:gd name="adj" fmla="val 6106"/>
            </a:avLst>
          </a:prstGeom>
          <a:noFill/>
          <a:ln w="12700" cap="flat" cmpd="sng">
            <a:solidFill>
              <a:srgbClr val="00B0F0">
                <a:alpha val="100000"/>
              </a:srgbClr>
            </a:solidFill>
            <a:prstDash val="solid"/>
            <a:miter lim="8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482600" y="584200"/>
            <a:ext cx="889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4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一束光，已从规划照进现实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11620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gradFill rotWithShape="1">
              <a:gsLst>
                <a:gs pos="0">
                  <a:srgbClr val="2563EB">
                    <a:alpha val="70000"/>
                  </a:srgbClr>
                </a:gs>
                <a:gs pos="60000">
                  <a:srgbClr val="93C5FD">
                    <a:alpha val="30000"/>
                  </a:srgbClr>
                </a:gs>
                <a:gs pos="100000">
                  <a:srgbClr val="93C5FD">
                    <a:alpha val="0"/>
                  </a:srgbClr>
                </a:gs>
              </a:gsLst>
              <a:lin ang="0"/>
            </a:gra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508000" y="1571226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0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项目完成从规划设计向平台部署、场景开发的关键阶段，围绕三个目标推进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1913491"/>
            <a:ext cx="3556000" cy="1905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1913491"/>
            <a:ext cx="3556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60A5F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5975" y="2065655"/>
            <a:ext cx="584200" cy="584200"/>
          </a:xfrm>
          <a:prstGeom prst="rect">
            <a:avLst/>
          </a:prstGeom>
        </p:spPr>
      </p:pic>
      <p:sp>
        <p:nvSpPr>
          <p:cNvPr id="10" name="AutoShape 10"/>
          <p:cNvSpPr txBox="1"/>
          <p:nvPr/>
        </p:nvSpPr>
        <p:spPr>
          <a:xfrm>
            <a:off x="736600" y="2065891"/>
            <a:ext cx="9652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600" b="1" i="0" u="none" strike="noStrike">
                <a:gradFill rotWithShape="1">
                  <a:gsLst>
                    <a:gs pos="0">
                      <a:srgbClr val="3B82F6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5400000"/>
                </a:gra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356360" y="2378946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个政务智能体</a:t>
            </a:r>
            <a:endParaRPr lang="en-US" sz="1800"/>
          </a:p>
        </p:txBody>
      </p:sp>
      <p:sp>
        <p:nvSpPr>
          <p:cNvPr id="12" name="AutoShape 12"/>
          <p:cNvSpPr txBox="1"/>
          <p:nvPr/>
        </p:nvSpPr>
        <p:spPr>
          <a:xfrm>
            <a:off x="736600" y="2954891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政务提效</a:t>
            </a:r>
            <a:endParaRPr lang="en-US" sz="1800"/>
          </a:p>
        </p:txBody>
      </p:sp>
      <p:sp>
        <p:nvSpPr>
          <p:cNvPr id="13" name="AutoShape 13"/>
          <p:cNvSpPr txBox="1"/>
          <p:nvPr/>
        </p:nvSpPr>
        <p:spPr>
          <a:xfrm>
            <a:off x="736600" y="3285091"/>
            <a:ext cx="309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公文写作 · 智能咨询 · 产业洞察</a:t>
            </a:r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4318000" y="1913491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18000" y="1913491"/>
            <a:ext cx="3556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60A5F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660" y="2065655"/>
            <a:ext cx="566420" cy="566420"/>
          </a:xfrm>
          <a:prstGeom prst="rect">
            <a:avLst/>
          </a:prstGeom>
        </p:spPr>
      </p:pic>
      <p:sp>
        <p:nvSpPr>
          <p:cNvPr id="17" name="AutoShape 17"/>
          <p:cNvSpPr txBox="1"/>
          <p:nvPr/>
        </p:nvSpPr>
        <p:spPr>
          <a:xfrm>
            <a:off x="4588412" y="1993330"/>
            <a:ext cx="9652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600" b="1" i="0" u="none" strike="noStrike" dirty="0">
                <a:gradFill rotWithShape="1">
                  <a:gsLst>
                    <a:gs pos="0">
                      <a:srgbClr val="3B82F6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5400000"/>
                </a:gra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 dirty="0"/>
          </a:p>
        </p:txBody>
      </p:sp>
      <p:sp>
        <p:nvSpPr>
          <p:cNvPr id="18" name="AutoShape 18"/>
          <p:cNvSpPr txBox="1"/>
          <p:nvPr/>
        </p:nvSpPr>
        <p:spPr>
          <a:xfrm>
            <a:off x="5229860" y="2378946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个企业工具</a:t>
            </a:r>
            <a:endParaRPr lang="en-US" sz="1800"/>
          </a:p>
        </p:txBody>
      </p:sp>
      <p:sp>
        <p:nvSpPr>
          <p:cNvPr id="19" name="AutoShape 19"/>
          <p:cNvSpPr txBox="1"/>
          <p:nvPr/>
        </p:nvSpPr>
        <p:spPr>
          <a:xfrm>
            <a:off x="4546600" y="2954891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1" i="0" u="none" strike="noStrike" dirty="0" err="1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企业赋能</a:t>
            </a:r>
            <a:endParaRPr lang="en-US" sz="1800" dirty="0"/>
          </a:p>
        </p:txBody>
      </p:sp>
      <p:sp>
        <p:nvSpPr>
          <p:cNvPr id="20" name="AutoShape 20"/>
          <p:cNvSpPr txBox="1"/>
          <p:nvPr/>
        </p:nvSpPr>
        <p:spPr>
          <a:xfrm>
            <a:off x="4546600" y="3285091"/>
            <a:ext cx="309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智能编辑 · 智能创作 · 智能编码</a:t>
            </a:r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8128000" y="1913491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28000" y="1913491"/>
            <a:ext cx="3556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60A5F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90580" y="2065655"/>
            <a:ext cx="566420" cy="566420"/>
          </a:xfrm>
          <a:prstGeom prst="rect">
            <a:avLst/>
          </a:prstGeom>
        </p:spPr>
      </p:pic>
      <p:sp>
        <p:nvSpPr>
          <p:cNvPr id="24" name="AutoShape 24"/>
          <p:cNvSpPr txBox="1"/>
          <p:nvPr/>
        </p:nvSpPr>
        <p:spPr>
          <a:xfrm>
            <a:off x="8420100" y="1991546"/>
            <a:ext cx="9652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600" b="1" i="0" u="none" strike="noStrike" dirty="0">
                <a:gradFill rotWithShape="1">
                  <a:gsLst>
                    <a:gs pos="0">
                      <a:srgbClr val="3B82F6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5400000"/>
                </a:gra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 dirty="0"/>
          </a:p>
        </p:txBody>
      </p:sp>
      <p:sp>
        <p:nvSpPr>
          <p:cNvPr id="25" name="AutoShape 25"/>
          <p:cNvSpPr txBox="1"/>
          <p:nvPr/>
        </p:nvSpPr>
        <p:spPr>
          <a:xfrm>
            <a:off x="8965565" y="2378311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套统一平台</a:t>
            </a:r>
            <a:endParaRPr lang="en-US" sz="1800"/>
          </a:p>
        </p:txBody>
      </p:sp>
      <p:sp>
        <p:nvSpPr>
          <p:cNvPr id="26" name="AutoShape 26"/>
          <p:cNvSpPr txBox="1"/>
          <p:nvPr/>
        </p:nvSpPr>
        <p:spPr>
          <a:xfrm>
            <a:off x="8356600" y="2954891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共性支撑</a:t>
            </a:r>
            <a:endParaRPr lang="en-US" sz="1800"/>
          </a:p>
        </p:txBody>
      </p:sp>
      <p:sp>
        <p:nvSpPr>
          <p:cNvPr id="27" name="AutoShape 27"/>
          <p:cNvSpPr txBox="1"/>
          <p:nvPr/>
        </p:nvSpPr>
        <p:spPr>
          <a:xfrm>
            <a:off x="8356600" y="3285091"/>
            <a:ext cx="309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操作系统平台 · 统一门户</a:t>
            </a:r>
            <a:endParaRPr lang="en-US"/>
          </a:p>
        </p:txBody>
      </p:sp>
      <p:sp>
        <p:nvSpPr>
          <p:cNvPr id="28" name="AutoShape 28"/>
          <p:cNvSpPr txBox="1"/>
          <p:nvPr/>
        </p:nvSpPr>
        <p:spPr>
          <a:xfrm>
            <a:off x="525780" y="3930235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8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光的路径</a:t>
            </a:r>
            <a:endParaRPr lang="en-US" sz="1800"/>
          </a:p>
        </p:txBody>
      </p:sp>
      <p:cxnSp>
        <p:nvCxnSpPr>
          <p:cNvPr id="30" name="Connector 30"/>
          <p:cNvCxnSpPr/>
          <p:nvPr/>
        </p:nvCxnSpPr>
        <p:spPr>
          <a:xfrm rot="-4407">
            <a:off x="1212854" y="5291675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gradFill rotWithShape="1">
              <a:gsLst>
                <a:gs pos="0">
                  <a:srgbClr val="93C5FD">
                    <a:alpha val="100000"/>
                  </a:srgbClr>
                </a:gs>
                <a:gs pos="60000">
                  <a:srgbClr val="2563EB">
                    <a:alpha val="100000"/>
                  </a:srgbClr>
                </a:gs>
                <a:gs pos="100000">
                  <a:srgbClr val="BFDBFE">
                    <a:alpha val="100000"/>
                  </a:srgbClr>
                </a:gs>
              </a:gsLst>
              <a:lin ang="0"/>
            </a:gra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2" name="AutoShape 32"/>
          <p:cNvSpPr txBox="1"/>
          <p:nvPr/>
        </p:nvSpPr>
        <p:spPr>
          <a:xfrm>
            <a:off x="450850" y="4917025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9月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450850" y="5475825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调研与资料归集</a:t>
            </a:r>
            <a:endParaRPr lang="en-US" sz="1200" b="0" i="0" u="none" strike="noStrike" dirty="0" err="1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 txBox="1"/>
          <p:nvPr/>
        </p:nvSpPr>
        <p:spPr>
          <a:xfrm>
            <a:off x="1831975" y="4917025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10月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1831975" y="5475825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平台部署</a:t>
            </a:r>
            <a:endParaRPr lang="en-US" sz="1200" b="0" i="0" u="none" strike="noStrike" dirty="0" err="1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38"/>
          <p:cNvSpPr txBox="1"/>
          <p:nvPr/>
        </p:nvSpPr>
        <p:spPr>
          <a:xfrm>
            <a:off x="3376295" y="4917025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10月底（当前）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3065780" y="5475605"/>
            <a:ext cx="2249170" cy="658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第一批</a:t>
            </a:r>
            <a:r>
              <a:rPr 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endParaRPr lang="en-US" sz="1200" b="1" i="0" u="none" strike="noStrik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（公文写作、智能咨询）</a:t>
            </a:r>
            <a:endParaRPr lang="en-US" sz="1200" b="1" i="0" u="none" strike="noStrik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8000"/>
              </a:lnSpc>
              <a:defRPr/>
            </a:pPr>
            <a:r>
              <a:rPr lang="zh-CN" alt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开发完成</a:t>
            </a:r>
            <a:endParaRPr lang="zh-CN" altLang="en-US" sz="1200" b="1" i="0" u="none" strike="noStrik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" name="AutoShape 42"/>
          <p:cNvSpPr txBox="1"/>
          <p:nvPr/>
        </p:nvSpPr>
        <p:spPr>
          <a:xfrm>
            <a:off x="8872855" y="5475605"/>
            <a:ext cx="150685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智能体完成应用集成</a:t>
            </a:r>
            <a:endParaRPr lang="zh-CN" altLang="en-US" sz="12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上线试运行</a:t>
            </a:r>
            <a:endParaRPr lang="zh-CN" altLang="en-US" sz="12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4" name="AutoShape 44"/>
          <p:cNvSpPr txBox="1"/>
          <p:nvPr/>
        </p:nvSpPr>
        <p:spPr>
          <a:xfrm>
            <a:off x="8855710" y="4914485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12月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10356850" y="5475825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正式上线扩大范围</a:t>
            </a:r>
            <a:endParaRPr lang="en-US" sz="12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8000"/>
              </a:lnSpc>
              <a:defRPr/>
            </a:pPr>
            <a:r>
              <a:rPr lang="zh-CN" altLang="en-US" sz="1200">
                <a:solidFill>
                  <a:schemeClr val="tx1"/>
                </a:solidFill>
              </a:rPr>
              <a:t>项目验收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7" name="AutoShape 47"/>
          <p:cNvSpPr txBox="1"/>
          <p:nvPr/>
        </p:nvSpPr>
        <p:spPr>
          <a:xfrm>
            <a:off x="10356850" y="4914485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12月底</a:t>
            </a:r>
            <a:endParaRPr lang="en-US" sz="1100"/>
          </a:p>
        </p:txBody>
      </p:sp>
      <p:sp>
        <p:nvSpPr>
          <p:cNvPr id="2" name="等腰三角形 1"/>
          <p:cNvSpPr/>
          <p:nvPr/>
        </p:nvSpPr>
        <p:spPr>
          <a:xfrm>
            <a:off x="1130935" y="5145405"/>
            <a:ext cx="256540" cy="256540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>
            <a:off x="2465705" y="5142865"/>
            <a:ext cx="256540" cy="256540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等腰三角形 48"/>
          <p:cNvSpPr/>
          <p:nvPr/>
        </p:nvSpPr>
        <p:spPr>
          <a:xfrm>
            <a:off x="4039235" y="5142865"/>
            <a:ext cx="256540" cy="25654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等腰三角形 50"/>
          <p:cNvSpPr/>
          <p:nvPr/>
        </p:nvSpPr>
        <p:spPr>
          <a:xfrm>
            <a:off x="9516110" y="5145405"/>
            <a:ext cx="256540" cy="256540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990580" y="5145405"/>
            <a:ext cx="256540" cy="256540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5329555" y="5475605"/>
            <a:ext cx="1666240" cy="490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8000"/>
              </a:lnSpc>
              <a:buSzTx/>
              <a:buNone/>
              <a:defRPr/>
            </a:pPr>
            <a:r>
              <a:rPr lang="zh-CN" altLang="en-US" sz="1200"/>
              <a:t>🚩</a:t>
            </a:r>
            <a:r>
              <a:rPr lang="zh-CN" altLang="en-US" sz="1200" b="1">
                <a:solidFill>
                  <a:srgbClr val="1D4ED8"/>
                </a:solidFill>
                <a:latin typeface="Noto Sans SC"/>
                <a:ea typeface="Noto Sans SC"/>
                <a:cs typeface="Noto Sans SC"/>
              </a:rPr>
              <a:t>公文写作、智能咨询智能体试用</a:t>
            </a:r>
            <a:endParaRPr lang="zh-CN" altLang="en-US" sz="1200" b="1">
              <a:solidFill>
                <a:srgbClr val="1D4ED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192645" y="5475605"/>
            <a:ext cx="1788160" cy="490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8000"/>
              </a:lnSpc>
              <a:buSzTx/>
              <a:buNone/>
              <a:defRPr/>
            </a:pPr>
            <a:r>
              <a:rPr lang="zh-CN" altLang="en-US" sz="1200"/>
              <a:t>🚩</a:t>
            </a:r>
            <a:r>
              <a:rPr lang="zh-CN" altLang="en-US" sz="1200" b="1">
                <a:solidFill>
                  <a:srgbClr val="1D4ED8"/>
                </a:solidFill>
                <a:latin typeface="Noto Sans SC"/>
                <a:ea typeface="Noto Sans SC"/>
                <a:cs typeface="Noto Sans SC"/>
              </a:rPr>
              <a:t>产业洞察智能体试用</a:t>
            </a:r>
            <a:endParaRPr lang="zh-CN" altLang="en-US" sz="1200" b="1">
              <a:solidFill>
                <a:srgbClr val="1D4ED8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08000"/>
              </a:lnSpc>
              <a:buSzTx/>
              <a:buNone/>
              <a:defRPr/>
            </a:pPr>
            <a:endParaRPr lang="zh-CN" altLang="en-US" sz="1200" b="1">
              <a:solidFill>
                <a:srgbClr val="1D4ED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1" name="等腰三角形 60"/>
          <p:cNvSpPr/>
          <p:nvPr/>
        </p:nvSpPr>
        <p:spPr>
          <a:xfrm>
            <a:off x="5779135" y="5145405"/>
            <a:ext cx="256540" cy="25654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等腰三角形 61"/>
          <p:cNvSpPr/>
          <p:nvPr/>
        </p:nvSpPr>
        <p:spPr>
          <a:xfrm>
            <a:off x="7953375" y="5142865"/>
            <a:ext cx="256540" cy="25654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AutoShape 38"/>
          <p:cNvSpPr txBox="1"/>
          <p:nvPr/>
        </p:nvSpPr>
        <p:spPr>
          <a:xfrm>
            <a:off x="5553710" y="4914265"/>
            <a:ext cx="72009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zh-CN" alt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月初</a:t>
            </a:r>
            <a:endParaRPr lang="zh-CN" altLang="en-US" sz="1050" b="1" i="0" u="none" strike="noStrik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4" name="AutoShape 38"/>
          <p:cNvSpPr txBox="1"/>
          <p:nvPr/>
        </p:nvSpPr>
        <p:spPr>
          <a:xfrm>
            <a:off x="7700645" y="4914265"/>
            <a:ext cx="72009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zh-CN" alt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r>
              <a:rPr lang="zh-CN" altLang="en-US" sz="10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底</a:t>
            </a:r>
            <a:endParaRPr lang="zh-CN" altLang="en-US" sz="1050" b="1" i="0" u="none" strike="noStrik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左大括号 64"/>
          <p:cNvSpPr/>
          <p:nvPr/>
        </p:nvSpPr>
        <p:spPr>
          <a:xfrm rot="16200000">
            <a:off x="7272655" y="5089525"/>
            <a:ext cx="228600" cy="18605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6119495" y="6216650"/>
            <a:ext cx="2713355" cy="490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lnSpc>
                <a:spcPct val="108000"/>
              </a:lnSpc>
              <a:buSzTx/>
              <a:buFont typeface="Wingdings" panose="05000000000000000000" charset="0"/>
              <a:buChar char=""/>
              <a:defRPr/>
            </a:pPr>
            <a:r>
              <a:rPr lang="zh-CN" altLang="en-US" sz="1200" b="1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+mn-ea"/>
              </a:rPr>
              <a:t>智能体培训</a:t>
            </a:r>
            <a:endParaRPr lang="zh-CN" altLang="en-US" sz="1200" b="1">
              <a:solidFill>
                <a:srgbClr val="1D4ED8"/>
              </a:solidFill>
              <a:latin typeface="Noto Sans SC"/>
              <a:ea typeface="Noto Sans SC"/>
              <a:cs typeface="Noto Sans SC"/>
            </a:endParaRPr>
          </a:p>
          <a:p>
            <a:pPr marL="171450" indent="-171450" algn="l">
              <a:lnSpc>
                <a:spcPct val="108000"/>
              </a:lnSpc>
              <a:buSzTx/>
              <a:buFont typeface="Wingdings" panose="05000000000000000000" charset="0"/>
              <a:buChar char=""/>
              <a:defRPr/>
            </a:pPr>
            <a:r>
              <a:rPr lang="zh-CN" altLang="en-US" sz="1200" b="1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+mn-ea"/>
              </a:rPr>
              <a:t>产品持续跟踪试用</a:t>
            </a:r>
            <a:r>
              <a:rPr lang="zh-CN" altLang="en-US" sz="1200" b="1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+mn-ea"/>
              </a:rPr>
              <a:t>情况，持续优化</a:t>
            </a:r>
            <a:endParaRPr lang="zh-CN" altLang="en-US" sz="1200" b="1">
              <a:solidFill>
                <a:srgbClr val="1D4ED8"/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从调研到可运行系统，每个环节都有真实记录和材料支撑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63700"/>
            <a:ext cx="1752600" cy="3556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000" y="1739900"/>
            <a:ext cx="203200" cy="203200"/>
          </a:xfrm>
          <a:prstGeom prst="rect">
            <a:avLst/>
          </a:prstGeom>
        </p:spPr>
      </p:pic>
      <p:sp>
        <p:nvSpPr>
          <p:cNvPr id="7" name="AutoShape 7"/>
          <p:cNvSpPr txBox="1"/>
          <p:nvPr/>
        </p:nvSpPr>
        <p:spPr>
          <a:xfrm>
            <a:off x="889000" y="174244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现场调研</a:t>
            </a:r>
            <a:endParaRPr lang="en-US" sz="12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387600" y="1663700"/>
            <a:ext cx="1752600" cy="3556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4600" y="17399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 txBox="1"/>
          <p:nvPr/>
        </p:nvSpPr>
        <p:spPr>
          <a:xfrm>
            <a:off x="2768600" y="174244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需求确认</a:t>
            </a:r>
            <a:endParaRPr lang="en-US" sz="12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267200" y="1663700"/>
            <a:ext cx="1752600" cy="3556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4200" y="17399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 txBox="1"/>
          <p:nvPr/>
        </p:nvSpPr>
        <p:spPr>
          <a:xfrm>
            <a:off x="4648200" y="174244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产品设计</a:t>
            </a:r>
            <a:endParaRPr lang="en-US" sz="12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46800" y="1663700"/>
            <a:ext cx="1752600" cy="3556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3800" y="17399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 txBox="1"/>
          <p:nvPr/>
        </p:nvSpPr>
        <p:spPr>
          <a:xfrm>
            <a:off x="6527800" y="174244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数据收集</a:t>
            </a:r>
            <a:endParaRPr lang="en-US" sz="12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26400" y="1663700"/>
            <a:ext cx="1752600" cy="355600"/>
          </a:xfrm>
          <a:prstGeom prst="roundRect">
            <a:avLst>
              <a:gd name="adj" fmla="val 5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53400" y="1739900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 txBox="1"/>
          <p:nvPr/>
        </p:nvSpPr>
        <p:spPr>
          <a:xfrm>
            <a:off x="8407400" y="174244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知识入库</a:t>
            </a:r>
            <a:endParaRPr lang="en-US" sz="12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906000" y="1663700"/>
            <a:ext cx="1752600" cy="355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33000" y="1739900"/>
            <a:ext cx="203200" cy="203200"/>
          </a:xfrm>
          <a:prstGeom prst="rect">
            <a:avLst/>
          </a:prstGeom>
        </p:spPr>
      </p:pic>
      <p:sp>
        <p:nvSpPr>
          <p:cNvPr id="22" name="AutoShape 22"/>
          <p:cNvSpPr txBox="1"/>
          <p:nvPr/>
        </p:nvSpPr>
        <p:spPr>
          <a:xfrm>
            <a:off x="10287000" y="174244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可运行系统</a:t>
            </a:r>
            <a:endParaRPr lang="en-US" sz="12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rcRect l="195" r="195"/>
          <a:stretch>
            <a:fillRect/>
          </a:stretch>
        </p:blipFill>
        <p:spPr>
          <a:xfrm>
            <a:off x="508000" y="2146300"/>
            <a:ext cx="2159000" cy="16256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rcRect l="195" r="195"/>
          <a:stretch>
            <a:fillRect/>
          </a:stretch>
        </p:blipFill>
        <p:spPr>
          <a:xfrm>
            <a:off x="3086100" y="2146300"/>
            <a:ext cx="2159000" cy="16256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rcRect t="60" b="60"/>
          <a:stretch>
            <a:fillRect/>
          </a:stretch>
        </p:blipFill>
        <p:spPr>
          <a:xfrm>
            <a:off x="5664200" y="2146300"/>
            <a:ext cx="1220470" cy="16256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6"/>
          <a:srcRect t="98" b="98"/>
          <a:stretch>
            <a:fillRect/>
          </a:stretch>
        </p:blipFill>
        <p:spPr>
          <a:xfrm>
            <a:off x="8801100" y="2146300"/>
            <a:ext cx="2882900" cy="16256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 txBox="1"/>
          <p:nvPr/>
        </p:nvSpPr>
        <p:spPr>
          <a:xfrm>
            <a:off x="508000" y="386715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现场调研照片</a:t>
            </a:r>
            <a:endParaRPr lang="en-US" b="0" i="0" u="none" strike="noStrike">
              <a:solidFill>
                <a:srgbClr val="6E7D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 txBox="1"/>
          <p:nvPr/>
        </p:nvSpPr>
        <p:spPr>
          <a:xfrm>
            <a:off x="3086100" y="386715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多部门联合调研</a:t>
            </a:r>
            <a:endParaRPr lang="en-US" b="0" i="0" u="none" strike="noStrike">
              <a:solidFill>
                <a:srgbClr val="6E7D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 txBox="1"/>
          <p:nvPr/>
        </p:nvSpPr>
        <p:spPr>
          <a:xfrm>
            <a:off x="5664200" y="3867150"/>
            <a:ext cx="2730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数据收集与整理表</a:t>
            </a:r>
            <a:endParaRPr lang="en-US" b="0" i="0" u="none" strike="noStrike">
              <a:solidFill>
                <a:srgbClr val="6E7D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 txBox="1"/>
          <p:nvPr/>
        </p:nvSpPr>
        <p:spPr>
          <a:xfrm>
            <a:off x="8801100" y="3867150"/>
            <a:ext cx="28829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知识入库后台</a:t>
            </a:r>
            <a:endParaRPr lang="en-US" b="0" i="0" u="none" strike="noStrike">
              <a:solidFill>
                <a:srgbClr val="6E7D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08000" y="4178300"/>
            <a:ext cx="3556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05200" y="43307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 txBox="1"/>
          <p:nvPr/>
        </p:nvSpPr>
        <p:spPr>
          <a:xfrm>
            <a:off x="762000" y="43307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0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762000" y="47371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业务一线共同定义需求</a:t>
            </a:r>
            <a:endParaRPr lang="en-US" sz="1600" b="1" i="0" u="none" strike="noStrike">
              <a:solidFill>
                <a:srgbClr val="0F23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 txBox="1"/>
          <p:nvPr/>
        </p:nvSpPr>
        <p:spPr>
          <a:xfrm>
            <a:off x="762000" y="5041900"/>
            <a:ext cx="304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业务骨干全程参与、提供真实材料，需求来自一线、可落地。</a:t>
            </a:r>
            <a:endParaRPr lang="en-US" b="0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4318000" y="4178300"/>
            <a:ext cx="3556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289800" y="4325274"/>
            <a:ext cx="279400" cy="279400"/>
          </a:xfrm>
          <a:prstGeom prst="rect">
            <a:avLst/>
          </a:prstGeom>
        </p:spPr>
      </p:pic>
      <p:sp>
        <p:nvSpPr>
          <p:cNvPr id="38" name="AutoShape 38"/>
          <p:cNvSpPr txBox="1"/>
          <p:nvPr/>
        </p:nvSpPr>
        <p:spPr>
          <a:xfrm>
            <a:off x="4597400" y="43307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000" b="0" i="0" u="none" strike="noStrike" dirty="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39" name="AutoShape 39"/>
          <p:cNvSpPr txBox="1"/>
          <p:nvPr/>
        </p:nvSpPr>
        <p:spPr>
          <a:xfrm>
            <a:off x="4572000" y="47371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统一模板归集资料</a:t>
            </a:r>
            <a:endParaRPr lang="en-US" sz="1600" b="1" i="0" u="none" strike="noStrike">
              <a:solidFill>
                <a:srgbClr val="0F23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40"/>
          <p:cNvSpPr txBox="1"/>
          <p:nvPr/>
        </p:nvSpPr>
        <p:spPr>
          <a:xfrm>
            <a:off x="4572000" y="5041900"/>
            <a:ext cx="304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三库收集清单与外部信源清单，分类整理、来源可溯。</a:t>
            </a:r>
            <a:endParaRPr lang="en-US" b="0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8128000" y="4178300"/>
            <a:ext cx="3556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953173" y="4325274"/>
            <a:ext cx="279400" cy="279400"/>
          </a:xfrm>
          <a:prstGeom prst="rect">
            <a:avLst/>
          </a:prstGeom>
        </p:spPr>
      </p:pic>
      <p:sp>
        <p:nvSpPr>
          <p:cNvPr id="43" name="AutoShape 43"/>
          <p:cNvSpPr txBox="1"/>
          <p:nvPr/>
        </p:nvSpPr>
        <p:spPr>
          <a:xfrm>
            <a:off x="8397587" y="43307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000" b="0" i="0" u="none" strike="noStrike" dirty="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44" name="AutoShape 44"/>
          <p:cNvSpPr txBox="1"/>
          <p:nvPr/>
        </p:nvSpPr>
        <p:spPr>
          <a:xfrm>
            <a:off x="8382000" y="47371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关键节点逐项确认</a:t>
            </a:r>
            <a:endParaRPr lang="en-US" sz="1600" b="1" i="0" u="none" strike="noStrike">
              <a:solidFill>
                <a:srgbClr val="0F23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" name="AutoShape 45"/>
          <p:cNvSpPr txBox="1"/>
          <p:nvPr/>
        </p:nvSpPr>
        <p:spPr>
          <a:xfrm>
            <a:off x="8382000" y="5041900"/>
            <a:ext cx="304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需求、原型、数据逐项确认留痕，过程可复盘、少返工。</a:t>
            </a:r>
            <a:endParaRPr lang="en-US" b="0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6" name="Connector 46"/>
          <p:cNvCxnSpPr/>
          <p:nvPr/>
        </p:nvCxnSpPr>
        <p:spPr>
          <a:xfrm rot="-3906">
            <a:off x="525120" y="14795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 txBox="1"/>
          <p:nvPr/>
        </p:nvSpPr>
        <p:spPr>
          <a:xfrm>
            <a:off x="685800" y="10160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8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深入业务真实场景，是智能体最扎实的起点</a:t>
            </a:r>
            <a:endParaRPr 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7874000" y="709295"/>
            <a:ext cx="272986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补充党政办需求确认截图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光谷智能体操作系统平台：让每个业务场景不必从零搭建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535" b="1535"/>
          <a:stretch>
            <a:fillRect/>
          </a:stretch>
        </p:blipFill>
        <p:spPr>
          <a:xfrm>
            <a:off x="508000" y="1739900"/>
            <a:ext cx="4572000" cy="2133600"/>
          </a:xfrm>
          <a:prstGeom prst="roundRect">
            <a:avLst>
              <a:gd name="adj" fmla="val 476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3898900"/>
            <a:ext cx="457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平台运行监测看板（联调期间界面）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4127500"/>
            <a:ext cx="4572000" cy="18288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30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43307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1092200" y="43053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平台定位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62000" y="46609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50" b="1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光谷智能体操作系统平台</a:t>
            </a:r>
            <a:r>
              <a:rPr lang="zh-CN" altLang="en-US" sz="1150" b="1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150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部署于楚天云，统一支撑智能体的开发、运行与运营，让每个业务场景不必从零搭建，能力可复用、可迭代</a:t>
            </a:r>
            <a:r>
              <a:rPr lang="en-US" sz="1150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5334000" y="1739900"/>
            <a:ext cx="6350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334000" y="1879600"/>
            <a:ext cx="50800" cy="584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7200" y="20193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 txBox="1"/>
          <p:nvPr/>
        </p:nvSpPr>
        <p:spPr>
          <a:xfrm>
            <a:off x="5969000" y="18669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应用入口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5969000" y="2171700"/>
            <a:ext cx="558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统一门户、统一身份认证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5334000" y="2679700"/>
            <a:ext cx="6350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334000" y="2819400"/>
            <a:ext cx="50800" cy="584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7200" y="2959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 txBox="1"/>
          <p:nvPr/>
        </p:nvSpPr>
        <p:spPr>
          <a:xfrm>
            <a:off x="5969000" y="28067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智能体开发与运行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969000" y="3111500"/>
            <a:ext cx="558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可视化编排、插件管理、一键发布、运行调度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34000" y="3619500"/>
            <a:ext cx="6350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334000" y="3759200"/>
            <a:ext cx="50800" cy="584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7200" y="38989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 txBox="1"/>
          <p:nvPr/>
        </p:nvSpPr>
        <p:spPr>
          <a:xfrm>
            <a:off x="5969000" y="37465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共性能力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969000" y="4051300"/>
            <a:ext cx="558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知识工程、检索增强、工具连接、系统集成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334000" y="4559300"/>
            <a:ext cx="6350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334000" y="4699000"/>
            <a:ext cx="50800" cy="584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37200" y="48387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 txBox="1"/>
          <p:nvPr/>
        </p:nvSpPr>
        <p:spPr>
          <a:xfrm>
            <a:off x="5969000" y="46863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基础环境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5969000" y="4991100"/>
            <a:ext cx="558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楚天云部署、安全合规、等保三级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5334000" y="5524500"/>
            <a:ext cx="6350000" cy="43180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 txBox="1"/>
          <p:nvPr/>
        </p:nvSpPr>
        <p:spPr>
          <a:xfrm>
            <a:off x="5588000" y="5524500"/>
            <a:ext cx="584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50" b="0" i="0" u="none" strike="noStrike" dirty="0" err="1">
                <a:solidFill>
                  <a:srgbClr val="E2EEFF"/>
                </a:solidFill>
                <a:latin typeface="Noto Sans SC"/>
                <a:ea typeface="Noto Sans SC"/>
                <a:cs typeface="Noto Sans SC"/>
                <a:sym typeface="Noto Sans SC"/>
              </a:rPr>
              <a:t>一套平台支撑多个智能体，能力复用、避免重复建设，且满足政务安全要求</a:t>
            </a:r>
            <a:endParaRPr lang="en-US" sz="1100" dirty="0"/>
          </a:p>
        </p:txBody>
      </p:sp>
      <p:cxnSp>
        <p:nvCxnSpPr>
          <p:cNvPr id="33" name="Connector 33"/>
          <p:cNvCxnSpPr/>
          <p:nvPr/>
        </p:nvCxnSpPr>
        <p:spPr>
          <a:xfrm rot="-3906">
            <a:off x="507996" y="1600201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 txBox="1"/>
          <p:nvPr/>
        </p:nvSpPr>
        <p:spPr>
          <a:xfrm>
            <a:off x="254000" y="1162051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一次建设，多场景可支持</a:t>
            </a:r>
            <a:endParaRPr lang="en-US" sz="1100" dirty="0"/>
          </a:p>
        </p:txBody>
      </p:sp>
      <p:sp>
        <p:nvSpPr>
          <p:cNvPr id="2" name="文本框 1"/>
          <p:cNvSpPr txBox="1"/>
          <p:nvPr/>
        </p:nvSpPr>
        <p:spPr>
          <a:xfrm>
            <a:off x="5384800" y="811530"/>
            <a:ext cx="53574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@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郭菲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补充谁来用，用于什么场景，用这个有什么好处和价值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公文写作智能体：覆盖15种法定公文与4种事务文书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3426" b="3426"/>
          <a:stretch>
            <a:fillRect/>
          </a:stretch>
        </p:blipFill>
        <p:spPr>
          <a:xfrm>
            <a:off x="507992" y="1543626"/>
            <a:ext cx="4826000" cy="254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7992" y="4109026"/>
            <a:ext cx="4826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 dirty="0" err="1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机关办文工作中心（联调期间界面</a:t>
            </a:r>
            <a:r>
              <a:rPr lang="en-US" sz="1000" b="0" i="0" u="none" strike="noStrike" dirty="0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07992" y="4337626"/>
            <a:ext cx="4826000" cy="14478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30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92" y="4490026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1092192" y="4490026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知识准备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61992" y="4794826"/>
            <a:ext cx="4318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57 篇文档拆分、300 余条知识入库；整理 19 类体裁、64 篇范文、42 项术语、38 个信源。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587992" y="1543626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791192" y="1696026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5791192" y="16960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当前能力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5192" y="1696026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 txBox="1"/>
          <p:nvPr/>
        </p:nvSpPr>
        <p:spPr>
          <a:xfrm>
            <a:off x="5791192" y="20516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已</a:t>
            </a:r>
            <a:r>
              <a:rPr lang="en-US" altLang="zh-CN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100% </a:t>
            </a:r>
            <a:r>
              <a:rPr lang="zh-CN" alt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开发完成系统，</a:t>
            </a: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覆盖15种法定公文+4种事务文书；支持资料检索、初稿生成、润色修改与人工审核。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5587992" y="2635826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791192" y="2788226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5791192" y="27882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5192" y="2788226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 txBox="1"/>
          <p:nvPr/>
        </p:nvSpPr>
        <p:spPr>
          <a:xfrm>
            <a:off x="5791192" y="31438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打造符合本单位语言规范与知识口径的办文助手，从“通用写作”到“本单位写作”，减少查找与初稿时间、降低规范错误。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587992" y="3728026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791192" y="3880426"/>
            <a:ext cx="914400" cy="279400"/>
          </a:xfrm>
          <a:prstGeom prst="roundRect">
            <a:avLst>
              <a:gd name="adj" fmla="val 3636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5791192" y="38804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仍需完成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25192" y="3880426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 txBox="1"/>
          <p:nvPr/>
        </p:nvSpPr>
        <p:spPr>
          <a:xfrm>
            <a:off x="5791192" y="42360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补充范文、术语与信源；明确知识审核责任人；完成OA及统一登录联调；真实文稿前后对比。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587992" y="4820226"/>
            <a:ext cx="6096000" cy="965200"/>
          </a:xfrm>
          <a:prstGeom prst="roundRect">
            <a:avLst>
              <a:gd name="adj" fmla="val 13157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791192" y="4972626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/>
        </p:nvSpPr>
        <p:spPr>
          <a:xfrm>
            <a:off x="5791192" y="49726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完成后效果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25192" y="4972626"/>
            <a:ext cx="279400" cy="279400"/>
          </a:xfrm>
          <a:prstGeom prst="rect">
            <a:avLst/>
          </a:prstGeom>
        </p:spPr>
      </p:pic>
      <p:sp>
        <p:nvSpPr>
          <p:cNvPr id="30" name="AutoShape 30"/>
          <p:cNvSpPr txBox="1"/>
          <p:nvPr/>
        </p:nvSpPr>
        <p:spPr>
          <a:xfrm>
            <a:off x="5791192" y="5302826"/>
            <a:ext cx="568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办文规范高效，机构知识可复用、可传承。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3906">
            <a:off x="507996" y="1422977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 txBox="1"/>
          <p:nvPr/>
        </p:nvSpPr>
        <p:spPr>
          <a:xfrm>
            <a:off x="304792" y="1086427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让每一份文稿</a:t>
            </a:r>
            <a:r>
              <a:rPr lang="en-US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都兼具专业规范与高质量输出。</a:t>
            </a:r>
            <a:endParaRPr lang="en-US" sz="1100" dirty="0"/>
          </a:p>
        </p:txBody>
      </p:sp>
      <p:sp>
        <p:nvSpPr>
          <p:cNvPr id="2" name="文本框 1"/>
          <p:cNvSpPr txBox="1"/>
          <p:nvPr/>
        </p:nvSpPr>
        <p:spPr>
          <a:xfrm>
            <a:off x="3918585" y="640715"/>
            <a:ext cx="7206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@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郭菲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补充基本描述，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使用场景（用户是谁，怎么用，解决什么问题），使用价值（跟通用智能体的对比），进行高价值的演示；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+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待使用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单位推进及确认的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事项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智能咨询助手：覆盖商事、不动产，窗口服务随身可问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88" r="88"/>
          <a:stretch>
            <a:fillRect/>
          </a:stretch>
        </p:blipFill>
        <p:spPr>
          <a:xfrm>
            <a:off x="698500" y="1818526"/>
            <a:ext cx="1778000" cy="38608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5730126"/>
            <a:ext cx="2159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手机端咨询界面（联调期间）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667000" y="1818526"/>
            <a:ext cx="2540000" cy="42418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30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5600" y="2021726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3225800" y="2021726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知识准备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0961">
            <a:off x="2895619" y="2370976"/>
            <a:ext cx="208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2895600" y="2504326"/>
            <a:ext cx="21336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 539 篇、问答 834 条、术语 168 条，覆盖商事、不动产高频事项。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895600" y="4790326"/>
            <a:ext cx="21336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支持多端接入，办事群众与窗口人员均可使用。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1818526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791200" y="1970926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5791200" y="19709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当前能力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5200" y="1970926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 txBox="1"/>
          <p:nvPr/>
        </p:nvSpPr>
        <p:spPr>
          <a:xfrm>
            <a:off x="5791200" y="23011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已</a:t>
            </a:r>
            <a:r>
              <a:rPr lang="en-US" altLang="zh-CN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开发完成系统</a:t>
            </a:r>
            <a:r>
              <a:rPr lang="zh-CN" alt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1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覆盖商事、不动产；多轮问答、政策检索、答案附依据、文件预览下载</a:t>
            </a: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5588000" y="2885326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791200" y="3037726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5791200" y="30377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5200" y="3037726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 txBox="1"/>
          <p:nvPr/>
        </p:nvSpPr>
        <p:spPr>
          <a:xfrm>
            <a:off x="5791200" y="33679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将窗口骨干经验与政策口径转化为稳定、权威、可追溯的服务，减少重复咨询、统一答复口径。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588000" y="3952126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791200" y="4104526"/>
            <a:ext cx="914400" cy="279400"/>
          </a:xfrm>
          <a:prstGeom prst="roundRect">
            <a:avLst>
              <a:gd name="adj" fmla="val 3636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5791200" y="41045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仍需完成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25200" y="4104526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 txBox="1"/>
          <p:nvPr/>
        </p:nvSpPr>
        <p:spPr>
          <a:xfrm>
            <a:off x="5791200" y="44347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资料去重与口径审核；真实问题集测试、召回引用准确率；疑难转人工、小程序接入。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588000" y="5018926"/>
            <a:ext cx="6096000" cy="104140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791200" y="5171326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 txBox="1"/>
          <p:nvPr/>
        </p:nvSpPr>
        <p:spPr>
          <a:xfrm>
            <a:off x="5791200" y="5171326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完成后效果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25200" y="5171326"/>
            <a:ext cx="279400" cy="279400"/>
          </a:xfrm>
          <a:prstGeom prst="rect">
            <a:avLst/>
          </a:prstGeom>
        </p:spPr>
      </p:pic>
      <p:sp>
        <p:nvSpPr>
          <p:cNvPr id="32" name="AutoShape 32"/>
          <p:cNvSpPr txBox="1"/>
          <p:nvPr/>
        </p:nvSpPr>
        <p:spPr>
          <a:xfrm>
            <a:off x="5791200" y="5501526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窗口服务标准化，答复口径统一、全程可追溯。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289103" y="1178674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让每一次答复，都权威准确</a:t>
            </a:r>
            <a:r>
              <a:rPr lang="zh-CN" altLang="en-US" sz="1400" b="1" i="0" u="none" strike="noStrike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、合规贴心</a:t>
            </a:r>
            <a:endParaRPr lang="en-US" sz="1100" dirty="0"/>
          </a:p>
        </p:txBody>
      </p:sp>
      <p:cxnSp>
        <p:nvCxnSpPr>
          <p:cNvPr id="35" name="Connector 31"/>
          <p:cNvCxnSpPr/>
          <p:nvPr/>
        </p:nvCxnSpPr>
        <p:spPr>
          <a:xfrm rot="21596094">
            <a:off x="508005" y="1621675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4274185" y="640715"/>
            <a:ext cx="7206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@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郭菲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补充基本描述，使用场景（用户是谁，怎么用，解决什么问题），使用价值（跟通用智能体的对比），进行高价值的演示；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+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待使用单位推进及确认的事项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产业洞察智能体：覆盖项目全生命周期，招商调度一库统管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5242" b="5242"/>
          <a:stretch>
            <a:fillRect/>
          </a:stretch>
        </p:blipFill>
        <p:spPr>
          <a:xfrm>
            <a:off x="508000" y="1787703"/>
            <a:ext cx="4572000" cy="1981200"/>
          </a:xfrm>
          <a:prstGeom prst="roundRect">
            <a:avLst>
              <a:gd name="adj" fmla="val 51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3794303"/>
            <a:ext cx="457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产业统计看板（联调期间界面）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9595" b="9595"/>
          <a:stretch>
            <a:fillRect/>
          </a:stretch>
        </p:blipFill>
        <p:spPr>
          <a:xfrm>
            <a:off x="508000" y="4022903"/>
            <a:ext cx="4572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08000" y="5953303"/>
            <a:ext cx="457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 dirty="0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AI判重（置信度98%为示例结果）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588000" y="17877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91200" y="1940103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791200" y="1940103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当前能力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00" y="1940103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 txBox="1"/>
          <p:nvPr/>
        </p:nvSpPr>
        <p:spPr>
          <a:xfrm>
            <a:off x="5791200" y="22703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系统开发进度</a:t>
            </a:r>
            <a:r>
              <a:rPr lang="zh-CN" alt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  <a:r>
              <a:rPr lang="zh-CN" alt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后续将 </a:t>
            </a:r>
            <a:r>
              <a:rPr lang="en-US" altLang="zh-CN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2026 </a:t>
            </a:r>
            <a:r>
              <a:rPr lang="zh-CN" alt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已签约88项、13个行业入库；目前统计看板、项目台账、AI判重已开发。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5588000" y="28545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91200" y="3006903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5791200" y="3006903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3006903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5791200" y="33371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覆盖谋划、在谈、签约、落地全生命周期；一库统管、减少重复核对、及时发现超期，为招商调度提供可信依据。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9213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91200" y="4073703"/>
            <a:ext cx="914400" cy="279400"/>
          </a:xfrm>
          <a:prstGeom prst="roundRect">
            <a:avLst>
              <a:gd name="adj" fmla="val 3636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5791200" y="4073703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仍需完成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5200" y="4073703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 txBox="1"/>
          <p:nvPr/>
        </p:nvSpPr>
        <p:spPr>
          <a:xfrm>
            <a:off x="5791200" y="44039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en-US" altLang="zh-CN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10 </a:t>
            </a:r>
            <a:r>
              <a:rPr lang="zh-CN" alt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月底</a:t>
            </a:r>
            <a:r>
              <a:rPr lang="en-US" altLang="zh-CN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2026 </a:t>
            </a:r>
            <a:r>
              <a:rPr lang="zh-CN" alt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年</a:t>
            </a:r>
            <a:r>
              <a:rPr lang="en-US" sz="11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历史数据迁移</a:t>
            </a:r>
            <a:r>
              <a:rPr lang="zh-CN" alt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，基础功能上线；</a:t>
            </a:r>
            <a:r>
              <a:rPr lang="en-US" altLang="zh-CN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11 </a:t>
            </a:r>
            <a:r>
              <a:rPr lang="zh-CN" alt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月中旬</a:t>
            </a:r>
            <a:r>
              <a:rPr lang="en-US" altLang="zh-CN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1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功能上线。</a:t>
            </a:r>
            <a:endParaRPr lang="en-US" sz="1100" b="0" i="0" u="none" strike="noStrike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投促业务确认、核心功能开发；预警规则配置、真实项目试用</a:t>
            </a: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5588000" y="4988103"/>
            <a:ext cx="6096000" cy="104140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791200" y="5140503"/>
            <a:ext cx="9144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791200" y="5140503"/>
            <a:ext cx="91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完成后效果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25200" y="5140503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 txBox="1"/>
          <p:nvPr/>
        </p:nvSpPr>
        <p:spPr>
          <a:xfrm>
            <a:off x="5791200" y="54707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项目全周期可视，招商调度有据、风险预警及时。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88900" y="1238606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让每一个项目，都全周期赋能</a:t>
            </a:r>
            <a:r>
              <a:rPr lang="zh-CN" altLang="en-US" b="1" dirty="0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与前瞻研判</a:t>
            </a:r>
            <a:endParaRPr lang="en-US" sz="1100" dirty="0"/>
          </a:p>
        </p:txBody>
      </p:sp>
      <p:cxnSp>
        <p:nvCxnSpPr>
          <p:cNvPr id="31" name="Connector 31"/>
          <p:cNvCxnSpPr/>
          <p:nvPr/>
        </p:nvCxnSpPr>
        <p:spPr>
          <a:xfrm rot="21596094">
            <a:off x="507996" y="1654213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4274185" y="782955"/>
            <a:ext cx="72066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@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郭菲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补充基本描述，使用场景（用户是谁，怎么用，解决什么问题），使用价值（跟通用智能体的对比），进行高价值的演示；</a:t>
            </a:r>
            <a:r>
              <a:rPr lang="en-US" altLang="zh-CN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+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待使用单位推进及确认的事项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政务智能体知识运营体系：构建知识全生命周期闭环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33500"/>
            <a:ext cx="11176000" cy="60960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EFF6FF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600" y="15113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 txBox="1"/>
          <p:nvPr/>
        </p:nvSpPr>
        <p:spPr>
          <a:xfrm>
            <a:off x="1066800" y="1498600"/>
            <a:ext cx="114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dirty="0" err="1">
                <a:solidFill>
                  <a:srgbClr val="1D4ED8"/>
                </a:solidFill>
                <a:latin typeface="Noto Sans SC"/>
                <a:sym typeface="Noto Sans SC"/>
              </a:rPr>
              <a:t>知识运营</a:t>
            </a:r>
            <a:endParaRPr lang="en-US" sz="1100" dirty="0"/>
          </a:p>
        </p:txBody>
      </p:sp>
      <p:sp>
        <p:nvSpPr>
          <p:cNvPr id="8" name="AutoShape 8"/>
          <p:cNvSpPr txBox="1"/>
          <p:nvPr/>
        </p:nvSpPr>
        <p:spPr>
          <a:xfrm>
            <a:off x="1965325" y="1511300"/>
            <a:ext cx="914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智能体的回答质量取决于知识质量；知识不是“一收了之”，而是需要持续运营、动态更新的“活水”。</a:t>
            </a:r>
            <a:endParaRPr lang="en-US" sz="1600"/>
          </a:p>
        </p:txBody>
      </p:sp>
      <p:sp>
        <p:nvSpPr>
          <p:cNvPr id="9" name="AutoShape 9"/>
          <p:cNvSpPr/>
          <p:nvPr/>
        </p:nvSpPr>
        <p:spPr>
          <a:xfrm>
            <a:off x="508000" y="2044700"/>
            <a:ext cx="2070100" cy="2286000"/>
          </a:xfrm>
          <a:prstGeom prst="roundRect">
            <a:avLst>
              <a:gd name="adj" fmla="val 61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711200" y="21971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7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2222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 txBox="1"/>
          <p:nvPr/>
        </p:nvSpPr>
        <p:spPr>
          <a:xfrm>
            <a:off x="711200" y="25781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5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归集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11200" y="2933700"/>
            <a:ext cx="1816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多源资料统一收集</a:t>
            </a:r>
            <a:b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三库清单、统一模板</a:t>
            </a:r>
            <a:endParaRPr lang="en-US"/>
          </a:p>
        </p:txBody>
      </p:sp>
      <p:sp>
        <p:nvSpPr>
          <p:cNvPr id="14" name="AutoShape 14"/>
          <p:cNvSpPr txBox="1"/>
          <p:nvPr/>
        </p:nvSpPr>
        <p:spPr>
          <a:xfrm>
            <a:off x="2578100" y="2044700"/>
            <a:ext cx="203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781300" y="2044700"/>
            <a:ext cx="2070100" cy="2286000"/>
          </a:xfrm>
          <a:prstGeom prst="roundRect">
            <a:avLst>
              <a:gd name="adj" fmla="val 61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2984500" y="21971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7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7300" y="2222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2984500" y="25781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5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审核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984500" y="2933700"/>
            <a:ext cx="1816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业务审核、口径确认</a:t>
            </a:r>
            <a:b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资料去重</a:t>
            </a:r>
            <a:endParaRPr lang="en-US"/>
          </a:p>
        </p:txBody>
      </p:sp>
      <p:sp>
        <p:nvSpPr>
          <p:cNvPr id="20" name="AutoShape 20"/>
          <p:cNvSpPr txBox="1"/>
          <p:nvPr/>
        </p:nvSpPr>
        <p:spPr>
          <a:xfrm>
            <a:off x="4851400" y="2044700"/>
            <a:ext cx="203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54600" y="2044700"/>
            <a:ext cx="2070100" cy="2286000"/>
          </a:xfrm>
          <a:prstGeom prst="roundRect">
            <a:avLst>
              <a:gd name="adj" fmla="val 61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5257800" y="21971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7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0600" y="22225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 txBox="1"/>
          <p:nvPr/>
        </p:nvSpPr>
        <p:spPr>
          <a:xfrm>
            <a:off x="5257800" y="25781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5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入库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257800" y="2933700"/>
            <a:ext cx="1816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结构化拆分</a:t>
            </a:r>
            <a:b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标注来源、建立检索</a:t>
            </a:r>
            <a:endParaRPr lang="en-US"/>
          </a:p>
        </p:txBody>
      </p:sp>
      <p:sp>
        <p:nvSpPr>
          <p:cNvPr id="26" name="AutoShape 26"/>
          <p:cNvSpPr txBox="1"/>
          <p:nvPr/>
        </p:nvSpPr>
        <p:spPr>
          <a:xfrm>
            <a:off x="7124700" y="2044700"/>
            <a:ext cx="203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27900" y="2044700"/>
            <a:ext cx="2070100" cy="2286000"/>
          </a:xfrm>
          <a:prstGeom prst="roundRect">
            <a:avLst>
              <a:gd name="adj" fmla="val 613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 txBox="1"/>
          <p:nvPr/>
        </p:nvSpPr>
        <p:spPr>
          <a:xfrm>
            <a:off x="7531100" y="21971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7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43900" y="2222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 txBox="1"/>
          <p:nvPr/>
        </p:nvSpPr>
        <p:spPr>
          <a:xfrm>
            <a:off x="7531100" y="25781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5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运营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7531100" y="2933700"/>
            <a:ext cx="1816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问题一键反馈</a:t>
            </a:r>
            <a:b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错误修正、运营月报</a:t>
            </a:r>
            <a:endParaRPr lang="en-US"/>
          </a:p>
        </p:txBody>
      </p:sp>
      <p:sp>
        <p:nvSpPr>
          <p:cNvPr id="32" name="AutoShape 32"/>
          <p:cNvSpPr txBox="1"/>
          <p:nvPr/>
        </p:nvSpPr>
        <p:spPr>
          <a:xfrm>
            <a:off x="9398000" y="2044700"/>
            <a:ext cx="203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601200" y="2044700"/>
            <a:ext cx="2082800" cy="2286000"/>
          </a:xfrm>
          <a:prstGeom prst="roundRect">
            <a:avLst>
              <a:gd name="adj" fmla="val 6097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30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 txBox="1"/>
          <p:nvPr/>
        </p:nvSpPr>
        <p:spPr>
          <a:xfrm>
            <a:off x="9804400" y="21971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7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17200" y="22225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 txBox="1"/>
          <p:nvPr/>
        </p:nvSpPr>
        <p:spPr>
          <a:xfrm>
            <a:off x="9804400" y="25781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更新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9804400" y="2933700"/>
            <a:ext cx="1816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过期清理、定期复核</a:t>
            </a:r>
            <a:b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循环回流至归集</a:t>
            </a:r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508000" y="4432300"/>
            <a:ext cx="3556000" cy="1168400"/>
          </a:xfrm>
          <a:prstGeom prst="roundRect">
            <a:avLst>
              <a:gd name="adj" fmla="val 130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4584700"/>
            <a:ext cx="254000" cy="254000"/>
          </a:xfrm>
          <a:prstGeom prst="rect">
            <a:avLst/>
          </a:prstGeom>
        </p:spPr>
      </p:pic>
      <p:sp>
        <p:nvSpPr>
          <p:cNvPr id="40" name="AutoShape 40"/>
          <p:cNvSpPr txBox="1"/>
          <p:nvPr/>
        </p:nvSpPr>
        <p:spPr>
          <a:xfrm>
            <a:off x="1092200" y="45593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业务主导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762000" y="4889500"/>
            <a:ext cx="304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各场景明确知识审核与运营责任人，对内容准确性负责。</a:t>
            </a:r>
            <a:endParaRPr lang="en-US" b="0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4318000" y="4432300"/>
            <a:ext cx="3556000" cy="1168400"/>
          </a:xfrm>
          <a:prstGeom prst="roundRect">
            <a:avLst>
              <a:gd name="adj" fmla="val 130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2000" y="4584700"/>
            <a:ext cx="254000" cy="254000"/>
          </a:xfrm>
          <a:prstGeom prst="rect">
            <a:avLst/>
          </a:prstGeom>
        </p:spPr>
      </p:pic>
      <p:sp>
        <p:nvSpPr>
          <p:cNvPr id="44" name="AutoShape 44"/>
          <p:cNvSpPr txBox="1"/>
          <p:nvPr/>
        </p:nvSpPr>
        <p:spPr>
          <a:xfrm>
            <a:off x="4902200" y="45593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平台支撑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4572000" y="4889500"/>
            <a:ext cx="3190875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提供知识管理、运行监测与问题反馈工具。</a:t>
            </a:r>
            <a:endParaRPr lang="en-US" b="0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8128000" y="4432300"/>
            <a:ext cx="3556000" cy="1168400"/>
          </a:xfrm>
          <a:prstGeom prst="roundRect">
            <a:avLst>
              <a:gd name="adj" fmla="val 1304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2000" y="4584700"/>
            <a:ext cx="254000" cy="254000"/>
          </a:xfrm>
          <a:prstGeom prst="rect">
            <a:avLst/>
          </a:prstGeom>
        </p:spPr>
      </p:pic>
      <p:sp>
        <p:nvSpPr>
          <p:cNvPr id="48" name="AutoShape 48"/>
          <p:cNvSpPr txBox="1"/>
          <p:nvPr/>
        </p:nvSpPr>
        <p:spPr>
          <a:xfrm>
            <a:off x="8712200" y="45593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长效机制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8382000" y="4889500"/>
            <a:ext cx="304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E2EE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明确响应时限、定期复核，知识动态更新、持续循环。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统一门户作为统一入口，已集成政务智能体、企业工具与开发工具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3333" b="3333"/>
          <a:stretch>
            <a:fillRect/>
          </a:stretch>
        </p:blipFill>
        <p:spPr>
          <a:xfrm>
            <a:off x="508000" y="1689100"/>
            <a:ext cx="5080000" cy="3556000"/>
          </a:xfrm>
          <a:prstGeom prst="roundRect">
            <a:avLst>
              <a:gd name="adj" fmla="val 28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52705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统一门户首屏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5473700"/>
            <a:ext cx="5080000" cy="4572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>
                  <a:alpha val="100000"/>
                </a:srgbClr>
              </a:gs>
              <a:gs pos="100000">
                <a:srgbClr val="DBEA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55753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1016000" y="54737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一个入口、一次登录</a:t>
            </a:r>
            <a:r>
              <a:rPr lang="en-US" sz="1100" b="0" i="0" u="none" strike="noStrike">
                <a:solidFill>
                  <a:srgbClr val="465A82"/>
                </a:solidFill>
                <a:latin typeface="Noto Sans SC"/>
                <a:ea typeface="Noto Sans SC"/>
                <a:cs typeface="Noto Sans SC"/>
                <a:sym typeface="Noto Sans SC"/>
              </a:rPr>
              <a:t>，即可访问全部智能体与工具，无需多系统切换。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1689100"/>
            <a:ext cx="5842000" cy="1727200"/>
          </a:xfrm>
          <a:prstGeom prst="roundRect">
            <a:avLst>
              <a:gd name="adj" fmla="val 735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096000" y="18669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门户导航与内容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185">
            <a:off x="6096008" y="21907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2298700"/>
            <a:ext cx="228600" cy="228600"/>
          </a:xfrm>
          <a:prstGeom prst="rect">
            <a:avLst/>
          </a:prstGeom>
        </p:spPr>
      </p:pic>
      <p:sp>
        <p:nvSpPr>
          <p:cNvPr id="14" name="AutoShape 14"/>
          <p:cNvSpPr txBox="1"/>
          <p:nvPr/>
        </p:nvSpPr>
        <p:spPr>
          <a:xfrm>
            <a:off x="6400800" y="22733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283C5A"/>
                </a:solidFill>
                <a:latin typeface="Noto Sans SC"/>
                <a:ea typeface="Noto Sans SC"/>
                <a:cs typeface="Noto Sans SC"/>
                <a:sym typeface="Noto Sans SC"/>
              </a:rPr>
              <a:t>政务智能体：公文写作、智能咨询、产业洞察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2654300"/>
            <a:ext cx="228600" cy="228600"/>
          </a:xfrm>
          <a:prstGeom prst="rect">
            <a:avLst/>
          </a:prstGeom>
        </p:spPr>
      </p:pic>
      <p:sp>
        <p:nvSpPr>
          <p:cNvPr id="16" name="AutoShape 16"/>
          <p:cNvSpPr txBox="1"/>
          <p:nvPr/>
        </p:nvSpPr>
        <p:spPr>
          <a:xfrm>
            <a:off x="6400800" y="26289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283C5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企业工具：AI创作、内容编辑、智能编码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3009900"/>
            <a:ext cx="228600" cy="2286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6400800" y="2984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283C5A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开发工具：HiAgent、政务OS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0000" b="10000"/>
          <a:stretch>
            <a:fillRect/>
          </a:stretch>
        </p:blipFill>
        <p:spPr>
          <a:xfrm>
            <a:off x="6858000" y="3517900"/>
            <a:ext cx="3810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 txBox="1"/>
          <p:nvPr/>
        </p:nvSpPr>
        <p:spPr>
          <a:xfrm>
            <a:off x="5842000" y="5829300"/>
            <a:ext cx="584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数据运营看板（联调期间，口径待确认）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3906">
            <a:off x="454344" y="1498601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0" y="112395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一个入口，触达全部智能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面向企业的三个工具型智能体，支撑内容创作与软件研发降本增效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87525"/>
            <a:ext cx="3556000" cy="420116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762000" y="1940103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智能编辑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76605" y="2355393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剪映专业版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762013" y="2828468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762000" y="291927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b="1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762000" y="3184703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350 个账号、使用 1 年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62000" y="388320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endParaRPr lang="en-US" b="1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762000" y="4114165"/>
            <a:ext cx="3048000" cy="994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视频剪辑、智能字幕、特效模板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企业宣传、产品展示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短视频营销，降低制作门槛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18000" y="1787525"/>
            <a:ext cx="3556000" cy="4208145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4572000" y="1940103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智能创作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4572000" y="2219503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剧创平台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4572000" y="260050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Seedance AI 视频生成</a:t>
            </a:r>
            <a:endParaRPr lang="en-US" b="0" i="0" u="none" strike="noStrike">
              <a:solidFill>
                <a:srgbClr val="6E7D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4572013" y="282275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4572000" y="293070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b="1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4572000" y="3159125"/>
            <a:ext cx="307657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1 套、使用 1 年</a:t>
            </a:r>
            <a:endParaRPr lang="en-US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720p 视频不少于 50000 分钟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4572000" y="392003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endParaRPr lang="en-US" b="1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4572000" y="3946703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脚本到成片，AI 生成视频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招商推介、内容批量生产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创意视频，提升创作效率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128000" y="1787525"/>
            <a:ext cx="3556000" cy="420116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8382000" y="1940103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智能编码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8382000" y="2219503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TRAE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8382000" y="260050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智能编程助手</a:t>
            </a:r>
            <a:endParaRPr lang="en-US" b="0" i="0" u="none" strike="noStrike">
              <a:solidFill>
                <a:srgbClr val="6E7D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9" name="Connector 29"/>
          <p:cNvCxnSpPr/>
          <p:nvPr/>
        </p:nvCxnSpPr>
        <p:spPr>
          <a:xfrm rot="-14323">
            <a:off x="8382013" y="282275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 txBox="1"/>
          <p:nvPr/>
        </p:nvSpPr>
        <p:spPr>
          <a:xfrm>
            <a:off x="8382000" y="293070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b="1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 txBox="1"/>
          <p:nvPr/>
        </p:nvSpPr>
        <p:spPr>
          <a:xfrm>
            <a:off x="8382000" y="3159303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250 个旗舰版、使用 1 年</a:t>
            </a:r>
            <a:endParaRPr lang="en-US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1 万个基础版、使用 1 个月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32"/>
          <p:cNvSpPr txBox="1"/>
          <p:nvPr/>
        </p:nvSpPr>
        <p:spPr>
          <a:xfrm>
            <a:off x="8382000" y="3920033"/>
            <a:ext cx="304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endParaRPr lang="en-US" b="1" i="0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 txBox="1"/>
          <p:nvPr/>
        </p:nvSpPr>
        <p:spPr>
          <a:xfrm>
            <a:off x="8382000" y="3946703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代码生成、调试、测试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文档生成，AI 辅助研发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缩短研发周期、降低成本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508000" y="6181903"/>
            <a:ext cx="11176000" cy="330200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 txBox="1"/>
          <p:nvPr/>
        </p:nvSpPr>
        <p:spPr>
          <a:xfrm>
            <a:off x="776605" y="6212383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50" b="0" i="0" u="none" strike="noStrike">
                <a:solidFill>
                  <a:srgbClr val="E2EE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企业工具按需申请，以实际使用和业务反馈评估成效，不以开通数量作为成果。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3906">
            <a:off x="508003" y="1585487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 txBox="1"/>
          <p:nvPr/>
        </p:nvSpPr>
        <p:spPr>
          <a:xfrm>
            <a:off x="176936" y="1179087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indent="0" algn="ctr">
              <a:lnSpc>
                <a:spcPct val="83000"/>
              </a:lnSpc>
              <a:defRPr b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zh-CN" altLang="en-US" dirty="0"/>
              <a:t>让企业办公省心、内容创作提速、智能编码提效</a:t>
            </a:r>
            <a:endParaRPr lang="en-US" dirty="0"/>
          </a:p>
        </p:txBody>
      </p:sp>
      <p:pic>
        <p:nvPicPr>
          <p:cNvPr id="38" name="Picture 9" descr="剪映-官网图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016" y="2010937"/>
            <a:ext cx="417132" cy="417132"/>
          </a:xfrm>
          <a:prstGeom prst="rect">
            <a:avLst/>
          </a:prstGeom>
        </p:spPr>
      </p:pic>
      <p:pic>
        <p:nvPicPr>
          <p:cNvPr id="39" name="Picture 26" descr="TRAE-官网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072" y="1980859"/>
            <a:ext cx="417130" cy="417130"/>
          </a:xfrm>
          <a:prstGeom prst="rect">
            <a:avLst/>
          </a:prstGeom>
        </p:spPr>
      </p:pic>
      <p:pic>
        <p:nvPicPr>
          <p:cNvPr id="40" name="Picture 12" descr="剧创-官方图标-重绘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01" y="2068087"/>
            <a:ext cx="417132" cy="41713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874000" y="782320"/>
            <a:ext cx="235267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补充目标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企业类型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22775" y="5420360"/>
            <a:ext cx="3358515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 i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漫剧、影视创作类企业，</a:t>
            </a:r>
            <a:r>
              <a:rPr lang="en-US" altLang="zh-CN" sz="1600" b="1" i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OPC</a:t>
            </a:r>
            <a:r>
              <a:rPr lang="zh-CN" altLang="en-US" sz="1600" b="1" i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社区</a:t>
            </a:r>
            <a:endParaRPr lang="zh-CN" altLang="en-US" sz="1600" b="1" i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18805" y="5431155"/>
            <a:ext cx="3358515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软件开发</a:t>
            </a:r>
            <a:r>
              <a:rPr lang="zh-CN" altLang="en-US" sz="16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企业</a:t>
            </a:r>
            <a:endParaRPr lang="zh-CN" altLang="en-US" sz="1600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0065" y="5352415"/>
            <a:ext cx="3556000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通用短视频 / 营销视频协同剪辑工具泛内容、泛营销、政企宣传</a:t>
            </a:r>
            <a:endParaRPr lang="zh-CN" altLang="en-US" sz="1600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423545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下一阶段聚焦试用与迭代调优，依托真实业务任务完成效果验证，待验证通过后再有序扩大推广范围。</a:t>
            </a:r>
            <a:endParaRPr lang="zh-CN" altLang="en-US" sz="1900" b="1" i="0" u="none" strike="noStrike">
              <a:solidFill>
                <a:srgbClr val="0F23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4613905" y="1943764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7105" y="2096164"/>
            <a:ext cx="228600" cy="228600"/>
          </a:xfrm>
          <a:prstGeom prst="rect">
            <a:avLst/>
          </a:prstGeom>
        </p:spPr>
      </p:pic>
      <p:sp>
        <p:nvSpPr>
          <p:cNvPr id="38" name="AutoShape 38"/>
          <p:cNvSpPr txBox="1"/>
          <p:nvPr/>
        </p:nvSpPr>
        <p:spPr>
          <a:xfrm>
            <a:off x="5121905" y="2070764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试用推广</a:t>
            </a:r>
            <a:endParaRPr lang="zh-CN" altLang="en-US" sz="1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39"/>
          <p:cNvSpPr txBox="1"/>
          <p:nvPr/>
        </p:nvSpPr>
        <p:spPr>
          <a:xfrm>
            <a:off x="4817105" y="2400964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en-US" b="0" i="0" u="none" strike="noStrike" dirty="0" err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政</a:t>
            </a:r>
            <a:r>
              <a:rPr lang="zh-CN" altLang="en-US" b="0" i="0" u="none" strike="noStrike" dirty="0" err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开发完成后，提供给委办局在真实场景中</a:t>
            </a:r>
            <a:r>
              <a:rPr lang="zh-CN" altLang="en-US" b="0" i="0" u="none" strike="noStrike" dirty="0" err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试用</a:t>
            </a:r>
            <a:endParaRPr lang="zh-CN" altLang="en-US" b="0" i="0" u="none" strike="noStrike" dirty="0" err="1">
              <a:solidFill>
                <a:srgbClr val="C8D7E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103500" y="1943764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700" y="2096164"/>
            <a:ext cx="228600" cy="228600"/>
          </a:xfrm>
          <a:prstGeom prst="rect">
            <a:avLst/>
          </a:prstGeom>
        </p:spPr>
      </p:pic>
      <p:sp>
        <p:nvSpPr>
          <p:cNvPr id="42" name="AutoShape 42"/>
          <p:cNvSpPr txBox="1"/>
          <p:nvPr/>
        </p:nvSpPr>
        <p:spPr>
          <a:xfrm>
            <a:off x="611500" y="2070764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培训赋能</a:t>
            </a:r>
            <a:endParaRPr lang="zh-CN" altLang="en-US" sz="1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" name="AutoShape 43"/>
          <p:cNvSpPr txBox="1"/>
          <p:nvPr/>
        </p:nvSpPr>
        <p:spPr>
          <a:xfrm>
            <a:off x="306700" y="2400964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+mn-ea"/>
              </a:rPr>
              <a:t>面向各委办局业务人员开展专项培训，手把手教会大家怎么用</a:t>
            </a:r>
            <a:r>
              <a:rPr lang="zh-CN" altLang="en-US" b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+mn-ea"/>
              </a:rPr>
              <a:t>（怎么写好提示词）</a:t>
            </a:r>
            <a:endParaRPr lang="zh-CN" altLang="en-US" b="1">
              <a:solidFill>
                <a:srgbClr val="C8D7EE"/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121280" y="4150389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480" y="4302789"/>
            <a:ext cx="228600" cy="228600"/>
          </a:xfrm>
          <a:prstGeom prst="rect">
            <a:avLst/>
          </a:prstGeom>
        </p:spPr>
      </p:pic>
      <p:sp>
        <p:nvSpPr>
          <p:cNvPr id="46" name="AutoShape 46"/>
          <p:cNvSpPr txBox="1"/>
          <p:nvPr/>
        </p:nvSpPr>
        <p:spPr>
          <a:xfrm>
            <a:off x="629280" y="4277389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</a:t>
            </a:r>
            <a:endParaRPr lang="zh-CN" altLang="en-US" sz="1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7" name="AutoShape 47"/>
          <p:cNvSpPr txBox="1"/>
          <p:nvPr/>
        </p:nvSpPr>
        <p:spPr>
          <a:xfrm>
            <a:off x="324480" y="4607589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+mn-ea"/>
              </a:rPr>
              <a:t>持续优化，根据反馈快速迭代版本，针对性改进后再回到试用环节</a:t>
            </a:r>
            <a:endParaRPr lang="zh-CN" altLang="en-US" b="0" i="0" u="none" strike="noStrike">
              <a:solidFill>
                <a:srgbClr val="C8D7E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" name="AutoShape 44"/>
          <p:cNvSpPr/>
          <p:nvPr/>
        </p:nvSpPr>
        <p:spPr>
          <a:xfrm>
            <a:off x="4613905" y="4150389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7105" y="4302789"/>
            <a:ext cx="228600" cy="228600"/>
          </a:xfrm>
          <a:prstGeom prst="rect">
            <a:avLst/>
          </a:prstGeom>
        </p:spPr>
      </p:pic>
      <p:sp>
        <p:nvSpPr>
          <p:cNvPr id="50" name="AutoShape 46"/>
          <p:cNvSpPr txBox="1"/>
          <p:nvPr/>
        </p:nvSpPr>
        <p:spPr>
          <a:xfrm>
            <a:off x="5121905" y="4277389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收集</a:t>
            </a:r>
            <a:r>
              <a:rPr lang="zh-CN" altLang="en-US" sz="1600" b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反馈</a:t>
            </a:r>
            <a:endParaRPr lang="zh-CN" altLang="en-US" sz="1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1" name="AutoShape 47"/>
          <p:cNvSpPr txBox="1"/>
          <p:nvPr/>
        </p:nvSpPr>
        <p:spPr>
          <a:xfrm>
            <a:off x="4817105" y="4607589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b="0" i="0" u="none" strike="noStrike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专人跟进试用情况，收集实际使用过程中遇到的问题和优化</a:t>
            </a:r>
            <a:r>
              <a:rPr lang="zh-CN" altLang="en-US" b="0" i="0" u="none" strike="noStrike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建议</a:t>
            </a:r>
            <a:endParaRPr lang="zh-CN" altLang="en-US" b="0" i="0" u="none" strike="noStrike">
              <a:solidFill>
                <a:srgbClr val="C8D7E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" name="右箭头 51"/>
          <p:cNvSpPr/>
          <p:nvPr/>
        </p:nvSpPr>
        <p:spPr>
          <a:xfrm>
            <a:off x="3573145" y="2369185"/>
            <a:ext cx="873125" cy="4286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 rot="10800000">
            <a:off x="3534410" y="4527550"/>
            <a:ext cx="873125" cy="4286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右箭头 53"/>
          <p:cNvSpPr/>
          <p:nvPr/>
        </p:nvSpPr>
        <p:spPr>
          <a:xfrm rot="5400000">
            <a:off x="5828030" y="3458210"/>
            <a:ext cx="873125" cy="4286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右箭头 54"/>
          <p:cNvSpPr/>
          <p:nvPr/>
        </p:nvSpPr>
        <p:spPr>
          <a:xfrm rot="16200000">
            <a:off x="1335405" y="3458210"/>
            <a:ext cx="873125" cy="4286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右箭头 55"/>
          <p:cNvSpPr/>
          <p:nvPr/>
        </p:nvSpPr>
        <p:spPr>
          <a:xfrm>
            <a:off x="7915910" y="3429000"/>
            <a:ext cx="1016000" cy="57404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8888095" y="2943860"/>
            <a:ext cx="1016000" cy="51308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48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</a:rPr>
              <a:t>能用</a:t>
            </a:r>
            <a:endParaRPr lang="zh-CN" altLang="en-US" sz="48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Arial" panose="020B060402020209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856595" y="2945130"/>
            <a:ext cx="123825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" panose="020B0604020202090204" pitchFamily="34" charset="0"/>
              </a:rPr>
              <a:t>好用</a:t>
            </a:r>
            <a:endParaRPr lang="zh-CN" altLang="en-US" sz="4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Arial" panose="020B0604020202090204" pitchFamily="34" charset="0"/>
            </a:endParaRPr>
          </a:p>
        </p:txBody>
      </p:sp>
      <p:sp>
        <p:nvSpPr>
          <p:cNvPr id="59" name="右箭头 58"/>
          <p:cNvSpPr/>
          <p:nvPr/>
        </p:nvSpPr>
        <p:spPr>
          <a:xfrm>
            <a:off x="9811385" y="3429000"/>
            <a:ext cx="1016000" cy="57404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下一阶段聚焦联调、试用、整改，用真实业务任务验证后再逐步扩大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982">
            <a:off x="1714500" y="1952019"/>
            <a:ext cx="876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600195" y="1844069"/>
            <a:ext cx="228600" cy="228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8995" y="2186969"/>
            <a:ext cx="1651000" cy="203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5995" y="2313969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1269995" y="2288569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系统联调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5995" y="2618769"/>
            <a:ext cx="142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统一登录对接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各系统接口联调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门户集成贯通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52795" y="1844069"/>
            <a:ext cx="228600" cy="228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641595" y="2186969"/>
            <a:ext cx="1651000" cy="203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8595" y="2313969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 txBox="1"/>
          <p:nvPr/>
        </p:nvSpPr>
        <p:spPr>
          <a:xfrm>
            <a:off x="3022595" y="2288569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知识完善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768595" y="2618769"/>
            <a:ext cx="142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补范文、术语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口径审核去重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审核人到位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105395" y="1844069"/>
            <a:ext cx="228600" cy="228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94195" y="2186969"/>
            <a:ext cx="1651000" cy="203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195" y="2313969"/>
            <a:ext cx="203200" cy="203200"/>
          </a:xfrm>
          <a:prstGeom prst="rect">
            <a:avLst/>
          </a:prstGeom>
        </p:spPr>
      </p:pic>
      <p:sp>
        <p:nvSpPr>
          <p:cNvPr id="19" name="AutoShape 19"/>
          <p:cNvSpPr txBox="1"/>
          <p:nvPr/>
        </p:nvSpPr>
        <p:spPr>
          <a:xfrm>
            <a:off x="4775195" y="2288569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测试验证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521195" y="2618769"/>
            <a:ext cx="142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功能与稳定性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真实问题集测试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答案准确率核验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857995" y="1844069"/>
            <a:ext cx="228600" cy="228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146795" y="2186969"/>
            <a:ext cx="1651000" cy="203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3795" y="2313969"/>
            <a:ext cx="203200" cy="203200"/>
          </a:xfrm>
          <a:prstGeom prst="rect">
            <a:avLst/>
          </a:prstGeom>
        </p:spPr>
      </p:pic>
      <p:sp>
        <p:nvSpPr>
          <p:cNvPr id="24" name="AutoShape 24"/>
          <p:cNvSpPr txBox="1"/>
          <p:nvPr/>
        </p:nvSpPr>
        <p:spPr>
          <a:xfrm>
            <a:off x="6527795" y="2288569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业务试用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273795" y="2618769"/>
            <a:ext cx="142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委办局真实任务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记录使用反馈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前后效果对比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610595" y="1844069"/>
            <a:ext cx="228600" cy="228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899395" y="2186969"/>
            <a:ext cx="1651000" cy="203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26395" y="2313969"/>
            <a:ext cx="203200" cy="203200"/>
          </a:xfrm>
          <a:prstGeom prst="rect">
            <a:avLst/>
          </a:prstGeom>
        </p:spPr>
      </p:pic>
      <p:sp>
        <p:nvSpPr>
          <p:cNvPr id="29" name="AutoShape 29"/>
          <p:cNvSpPr txBox="1"/>
          <p:nvPr/>
        </p:nvSpPr>
        <p:spPr>
          <a:xfrm>
            <a:off x="8280395" y="2288569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问题整改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8026395" y="2618769"/>
            <a:ext cx="142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修正错误答案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优化知识与功能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复核确认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0363195" y="1844069"/>
            <a:ext cx="228600" cy="228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651995" y="2186969"/>
            <a:ext cx="1651000" cy="203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78995" y="2313969"/>
            <a:ext cx="203200" cy="203200"/>
          </a:xfrm>
          <a:prstGeom prst="rect">
            <a:avLst/>
          </a:prstGeom>
        </p:spPr>
      </p:pic>
      <p:sp>
        <p:nvSpPr>
          <p:cNvPr id="34" name="AutoShape 34"/>
          <p:cNvSpPr txBox="1"/>
          <p:nvPr/>
        </p:nvSpPr>
        <p:spPr>
          <a:xfrm>
            <a:off x="10032995" y="2288569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扩大应用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9778995" y="2618769"/>
            <a:ext cx="142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扩大部门场景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常态化运营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2415A"/>
                </a:solidFill>
                <a:latin typeface="Noto Sans SC"/>
                <a:ea typeface="Noto Sans SC"/>
                <a:cs typeface="Noto Sans SC"/>
                <a:sym typeface="Noto Sans SC"/>
              </a:rPr>
              <a:t>·　运营月报</a:t>
            </a:r>
            <a:endParaRPr lang="en-US" sz="1050" b="0" i="0" u="none" strike="noStrike">
              <a:solidFill>
                <a:srgbClr val="32415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88995" y="4345969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2195" y="4498369"/>
            <a:ext cx="228600" cy="228600"/>
          </a:xfrm>
          <a:prstGeom prst="rect">
            <a:avLst/>
          </a:prstGeom>
        </p:spPr>
      </p:pic>
      <p:sp>
        <p:nvSpPr>
          <p:cNvPr id="38" name="AutoShape 38"/>
          <p:cNvSpPr txBox="1"/>
          <p:nvPr/>
        </p:nvSpPr>
        <p:spPr>
          <a:xfrm>
            <a:off x="1396995" y="4472969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组织机制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092195" y="4803169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en-US" sz="1050" b="0" i="0" u="none" strike="noStrike" dirty="0" err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政数局统筹</a:t>
            </a:r>
            <a:r>
              <a:rPr lang="en-US" sz="1050" b="0" i="0" u="none" strike="noStrike" dirty="0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050" dirty="0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050" dirty="0" err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委办局参与</a:t>
            </a:r>
            <a:r>
              <a:rPr lang="en-US" altLang="zh-CN" sz="1050" dirty="0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050" dirty="0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050" b="0" i="0" u="none" strike="noStrike" dirty="0" err="1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数产组织、火山实施</a:t>
            </a:r>
            <a:endParaRPr lang="en-US" sz="1100" dirty="0"/>
          </a:p>
        </p:txBody>
      </p:sp>
      <p:sp>
        <p:nvSpPr>
          <p:cNvPr id="40" name="AutoShape 40"/>
          <p:cNvSpPr/>
          <p:nvPr/>
        </p:nvSpPr>
        <p:spPr>
          <a:xfrm>
            <a:off x="4444995" y="4345969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48195" y="4498369"/>
            <a:ext cx="228600" cy="228600"/>
          </a:xfrm>
          <a:prstGeom prst="rect">
            <a:avLst/>
          </a:prstGeom>
        </p:spPr>
      </p:pic>
      <p:sp>
        <p:nvSpPr>
          <p:cNvPr id="42" name="AutoShape 42"/>
          <p:cNvSpPr txBox="1"/>
          <p:nvPr/>
        </p:nvSpPr>
        <p:spPr>
          <a:xfrm>
            <a:off x="4952995" y="4472969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评价机制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4648195" y="4803169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以业务指标评价，不看条数、不看功能数量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000995" y="4345969"/>
            <a:ext cx="3302000" cy="12192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04195" y="4498369"/>
            <a:ext cx="228600" cy="228600"/>
          </a:xfrm>
          <a:prstGeom prst="rect">
            <a:avLst/>
          </a:prstGeom>
        </p:spPr>
      </p:pic>
      <p:sp>
        <p:nvSpPr>
          <p:cNvPr id="46" name="AutoShape 46"/>
          <p:cNvSpPr txBox="1"/>
          <p:nvPr/>
        </p:nvSpPr>
        <p:spPr>
          <a:xfrm>
            <a:off x="8508995" y="4472969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整改机制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8204195" y="4803169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50" b="0" i="0" u="none" strike="noStrike">
                <a:solidFill>
                  <a:srgbClr val="C8D7EE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问题分级、限期整改、复核确认后闭环</a:t>
            </a:r>
            <a:endParaRPr lang="en-US" sz="1100"/>
          </a:p>
        </p:txBody>
      </p:sp>
      <p:cxnSp>
        <p:nvCxnSpPr>
          <p:cNvPr id="48" name="Connector 48"/>
          <p:cNvCxnSpPr/>
          <p:nvPr/>
        </p:nvCxnSpPr>
        <p:spPr>
          <a:xfrm rot="-3906">
            <a:off x="888994" y="1634519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 txBox="1"/>
          <p:nvPr/>
        </p:nvSpPr>
        <p:spPr>
          <a:xfrm>
            <a:off x="787395" y="1170969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 dirty="0" err="1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先验证，再扩大，让每一步都扎实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zh-CN" alt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重点推进事项</a:t>
            </a: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：围绕联调试用条件推动解决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243173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762000" y="1446373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78200" y="1446373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 txBox="1"/>
          <p:nvPr/>
        </p:nvSpPr>
        <p:spPr>
          <a:xfrm>
            <a:off x="762000" y="1852773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业务确认与人员投入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762013" y="225282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762000" y="2436973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确认各场景需求边界</a:t>
            </a:r>
            <a:endParaRPr lang="en-US" sz="1200" dirty="0"/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明确知识审核责任人</a:t>
            </a:r>
            <a:endParaRPr lang="en-US" b="0" i="0" u="none" strike="noStrike" dirty="0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落实试用人员名单</a:t>
            </a:r>
            <a:endParaRPr lang="en-US" b="0" i="0" u="none" strike="noStrike" dirty="0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明确反馈时间安排</a:t>
            </a:r>
            <a:endParaRPr lang="en-US" b="0" i="0" u="none" strike="noStrike" dirty="0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1243173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4572000" y="1446373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8200" y="1446373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 txBox="1"/>
          <p:nvPr/>
        </p:nvSpPr>
        <p:spPr>
          <a:xfrm>
            <a:off x="4572000" y="1852773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系统对接与资源保障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225282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4572000" y="2436973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OA、统一登录对接</a:t>
            </a:r>
            <a:endParaRPr lang="en-US" sz="1200" dirty="0"/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政务小程序接入</a:t>
            </a:r>
            <a:endParaRPr lang="en-US" b="0" i="0" u="none" strike="noStrike" dirty="0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 dirty="0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b="0" i="0" u="none" strike="noStrike" dirty="0" err="1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完成等保备案</a:t>
            </a:r>
            <a:endParaRPr lang="en-US" b="0" i="0" u="none" strike="noStrike" dirty="0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1243173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8382000" y="1446373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98200" y="1446373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 txBox="1"/>
          <p:nvPr/>
        </p:nvSpPr>
        <p:spPr>
          <a:xfrm>
            <a:off x="8382000" y="1852773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应用与评价机制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323">
            <a:off x="8382013" y="225282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8382000" y="2436973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明确各方参与方式</a:t>
            </a:r>
            <a:endParaRPr lang="en-US" sz="1200"/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明确运营牵头方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以业务效果评价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2000"/>
              </a:lnSpc>
            </a:pPr>
            <a:r>
              <a:rPr lang="en-US" b="0" i="0" u="none" strike="noStrike">
                <a:solidFill>
                  <a:srgbClr val="33415F"/>
                </a:solidFill>
                <a:latin typeface="Noto Sans SC"/>
                <a:ea typeface="Noto Sans SC"/>
                <a:cs typeface="Noto Sans SC"/>
                <a:sym typeface="Noto Sans SC"/>
              </a:rPr>
              <a:t>· 建立反馈整改安排</a:t>
            </a:r>
            <a:endParaRPr lang="en-US" b="0" i="0" u="none" strike="noStrike">
              <a:solidFill>
                <a:srgbClr val="33415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5281773"/>
            <a:ext cx="11176000" cy="2794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0F2346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762000" y="5281773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50" b="0" i="0" u="none" strike="noStrike">
                <a:solidFill>
                  <a:srgbClr val="E2EEFF"/>
                </a:solidFill>
                <a:latin typeface="Noto Sans SC"/>
                <a:ea typeface="Noto Sans SC"/>
                <a:cs typeface="Noto Sans SC"/>
                <a:sym typeface="Noto Sans SC"/>
              </a:rPr>
              <a:t>以上事项明确后，即可进入联调试用阶段，以真实业务检验平台成效。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3906">
            <a:off x="508004" y="5580223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762000" y="829945"/>
            <a:ext cx="235267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需求确认，试用组织及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反馈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18000" y="845820"/>
            <a:ext cx="235267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系统对接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001000" y="829945"/>
            <a:ext cx="235267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企业智能体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推广</a:t>
            </a:r>
            <a:endParaRPr lang="zh-CN" altLang="en-US" b="1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524000"/>
            <a:ext cx="12192000" cy="406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50C1E">
                  <a:alpha val="0"/>
                </a:srgbClr>
              </a:gs>
              <a:gs pos="35000">
                <a:srgbClr val="050C1E">
                  <a:alpha val="55000"/>
                </a:srgbClr>
              </a:gs>
              <a:gs pos="70000">
                <a:srgbClr val="050C1E">
                  <a:alpha val="55000"/>
                </a:srgbClr>
              </a:gs>
              <a:gs pos="100000">
                <a:srgbClr val="050C1E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207000" y="2336800"/>
            <a:ext cx="1778000" cy="38100"/>
          </a:xfrm>
          <a:prstGeom prst="roundRect">
            <a:avLst>
              <a:gd name="adj" fmla="val 533333"/>
            </a:avLst>
          </a:prstGeom>
          <a:gradFill rotWithShape="1">
            <a:gsLst>
              <a:gs pos="0">
                <a:srgbClr val="60A5FA">
                  <a:alpha val="0"/>
                </a:srgbClr>
              </a:gs>
              <a:gs pos="50000">
                <a:srgbClr val="60A5FA">
                  <a:alpha val="100000"/>
                </a:srgbClr>
              </a:gs>
              <a:gs pos="100000">
                <a:srgbClr val="60A5F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2286000" y="25908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敬请指导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286000" y="3505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600" b="0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让政务更高效 · 让产业更智能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4348</Words>
  <Application>WPS 文字</Application>
  <PresentationFormat>宽屏</PresentationFormat>
  <Paragraphs>693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Arial</vt:lpstr>
      <vt:lpstr>Noto Sans SC</vt:lpstr>
      <vt:lpstr>苹方-简</vt:lpstr>
      <vt:lpstr>Songti SC</vt:lpstr>
      <vt:lpstr>Lantinghei SC</vt:lpstr>
      <vt:lpstr>微软雅黑</vt:lpstr>
      <vt:lpstr>方正雅意黑 GB18030L2</vt:lpstr>
      <vt:lpstr>宋体</vt:lpstr>
      <vt:lpstr>Arial Unicode MS</vt:lpstr>
      <vt:lpstr>汉仪书宋二KW</vt:lpstr>
      <vt:lpstr>Noto Sans SC</vt:lpstr>
      <vt:lpstr>微软雅黑</vt:lpstr>
      <vt:lpstr>Apple Color Emoji</vt:lpstr>
      <vt:lpstr>Wingdings</vt:lpstr>
      <vt:lpstr>Office 主题​​</vt:lpstr>
      <vt:lpstr>默认主题</vt:lpstr>
      <vt:lpstr>Office 主题​​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﻿﻿﻿﻿﻿﻿﻿﻿﻿﻿﻿﻿﻿﻿﻿﻿﻿﻿﻿﻿﻿﻿⁢⁢⁣‌⁣⁡</dc:description>
  <cp:lastModifiedBy>韩海龙</cp:lastModifiedBy>
  <cp:revision>7</cp:revision>
  <dcterms:created xsi:type="dcterms:W3CDTF">2026-10-26T15:58:04Z</dcterms:created>
  <dcterms:modified xsi:type="dcterms:W3CDTF">2026-10-26T15:58:04Z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9688E2E3C9C8503DE36CDF6A2EF5A81D_42</vt:lpwstr>
  </property>
</Properties>
</file>