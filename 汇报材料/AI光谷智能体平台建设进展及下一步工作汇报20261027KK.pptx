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74" r:id="rId5"/>
    <p:sldMasterId id="2147483686" r:id="rId6"/>
  </p:sldMasterIdLst>
  <p:notesMasterIdLst>
    <p:notesMasterId r:id="rId8"/>
  </p:notesMasterIdLst>
  <p:sldIdLst>
    <p:sldId id="264" r:id="rId7"/>
    <p:sldId id="271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28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8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 panose="02010800040101010101" charset="-122"/>
              </a:defRPr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产业洞察智能体是区级招商项目全生命周期管理平台，与市级系统形成"报送+管理"互补：一库统管谋划、在谈、签约、落地、退库全流程。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演示场景：以"上海牛瓦时克生产基地项目"贯穿，AI自动判重拦截重复录入、月度进展摘要一键成文、统计报告自动生成、考核全程线上。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讲给领导的一句话：数据只录一次、入口自动拦住重复、AI承担重复劳动，把"人处理全量"变成"人只处理异常"。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8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 panose="02010800040101010101" charset="-122"/>
              </a:defRPr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产业洞察智能体是区级招商项目全生命周期管理平台，与市级系统形成"报送+管理"互补：一库统管谋划、在谈、签约、落地、退库全流程。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演示场景：以"上海牛瓦时克生产基地项目"贯穿，AI自动判重拦截重复录入、月度进展摘要一键成文、统计报告自动生成、考核全程线上。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讲给领导的一句话：数据只录一次、入口自动拦住重复、AI承担重复劳动，把"人处理全量"变成"人只处理异常"。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E82DAA1-4A64-4AFC-88BD-7D2BD2D62294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CE1C823-7FA6-425B-B6B8-883D1975DC27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5C83660-E55F-4D9C-9F22-500A4F5B9461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6C1CCDC-444F-4E36-9E87-5ED493AED412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F813664-7A05-4FC3-8CCE-89AD7FD07A5E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90E187B-45F5-475A-8B5F-16EFAF0B5D70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6E99318-0B82-44ED-9BEB-F766084DA11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66FC755-0829-4A4D-8876-DD4669614952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E88AA6F-F672-4F77-A14D-FB3BF0F7253D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376A398-0A14-4564-A207-EBFA39FCDBCB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B2AFB37-A253-4746-92DC-917E4422D15E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11E2022-6AD5-4660-B731-EF6AD56991C9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DB8346F-C32F-4521-822A-52C24ABBE932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6A47CEC-701F-4001-BA21-BE2890A685D4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F882E9C-DEBA-446C-9E8A-A648BFAC01CF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07BBBC9-D589-459A-844C-0D93EDEE7215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F15CD1F-AEB7-4AA4-B264-1C6052340324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6CA666C-643D-4B1E-9AE9-2A61F9241AEA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7C2224D-E824-4B9C-9637-AC3952F818E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4F484A3-E8DE-4276-A6C6-D9E98AA09A47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9C5F773-F8AE-491F-9A1C-9FE616FFB905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50BB909-6947-458C-96E3-632BCDE31CD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3.xml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5" Type="http://schemas.openxmlformats.org/officeDocument/2006/relationships/theme" Target="../theme/theme4.xml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E29D7F7-C3C6-4673-8675-C69D1212736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48827A6-BB6B-4AB8-9266-E3A0414B87BF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6.svg"/><Relationship Id="rId7" Type="http://schemas.openxmlformats.org/officeDocument/2006/relationships/image" Target="../media/image9.png"/><Relationship Id="rId6" Type="http://schemas.openxmlformats.org/officeDocument/2006/relationships/image" Target="../media/image15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5.xml"/><Relationship Id="rId12" Type="http://schemas.openxmlformats.org/officeDocument/2006/relationships/image" Target="../media/image18.svg"/><Relationship Id="rId11" Type="http://schemas.openxmlformats.org/officeDocument/2006/relationships/image" Target="../media/image13.png"/><Relationship Id="rId10" Type="http://schemas.openxmlformats.org/officeDocument/2006/relationships/image" Target="../media/image17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产业洞察智能体：覆盖项目全生命周期，招商调度一库统管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5242" b="5241"/>
          <a:stretch>
            <a:fillRect/>
          </a:stretch>
        </p:blipFill>
        <p:spPr>
          <a:xfrm>
            <a:off x="508000" y="1787703"/>
            <a:ext cx="4572000" cy="1981200"/>
          </a:xfrm>
          <a:prstGeom prst="roundRect">
            <a:avLst>
              <a:gd name="adj" fmla="val 51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8000" y="3794303"/>
            <a:ext cx="457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产业统计看板（联调期间界面）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9595" b="9594"/>
          <a:stretch>
            <a:fillRect/>
          </a:stretch>
        </p:blipFill>
        <p:spPr>
          <a:xfrm>
            <a:off x="508000" y="4022903"/>
            <a:ext cx="4572000" cy="1905000"/>
          </a:xfrm>
          <a:prstGeom prst="roundRect">
            <a:avLst>
              <a:gd name="adj" fmla="val 533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508000" y="5953303"/>
            <a:ext cx="457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AI判重（置信度98%为示例结果）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17877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791200" y="19401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5791200" y="19401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一库统管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5200" y="1940103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 txBox="1"/>
          <p:nvPr/>
        </p:nvSpPr>
        <p:spPr>
          <a:xfrm>
            <a:off x="5791200" y="22703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区级平台全量项目底座，与市级系统"报送+管理"互补；打通谋划、在谈、签约、落地、退库全流程线上闭环。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28545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91200" y="30069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5791200" y="30069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全程留痕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5200" y="3006903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 txBox="1"/>
          <p:nvPr/>
        </p:nvSpPr>
        <p:spPr>
          <a:xfrm>
            <a:off x="5791200" y="33371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进度一屏可见、节点超期自动预警、责任移交线上留痕；覆盖园区、国企、部门三类考核对象。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39213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791200" y="4073703"/>
            <a:ext cx="1117600" cy="279400"/>
          </a:xfrm>
          <a:prstGeom prst="roundRect">
            <a:avLst>
              <a:gd name="adj" fmla="val 363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5791200" y="40737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25200" y="4073703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 txBox="1"/>
          <p:nvPr/>
        </p:nvSpPr>
        <p:spPr>
          <a:xfrm>
            <a:off x="5791200" y="44039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四个AI智能体：自动判重、月度摘要、统计报告、考核总结；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数据只录一次、汇报自动成文、考核线上闭环。</a:t>
            </a:r>
            <a:endParaRPr lang="en-US" sz="11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588000" y="4988103"/>
            <a:ext cx="6096000" cy="1041400"/>
          </a:xfrm>
          <a:prstGeom prst="roundRect">
            <a:avLst>
              <a:gd name="adj" fmla="val 12194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791200" y="51405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5791200" y="51405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效率跃升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25200" y="5140503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 txBox="1"/>
          <p:nvPr/>
        </p:nvSpPr>
        <p:spPr>
          <a:xfrm>
            <a:off x="5791200" y="54707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临时取数隔天到当场；比对一家公司1天到AI 2分钟加人工裁决10分钟；考核月均7至8人天到分钟级。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88900" y="1238606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让每一个项目，都全周期赋能与前瞻研判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3906">
            <a:off x="507996" y="1654213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产业洞察智能体：覆盖项目全生命周期，招商调度一库统管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5242" b="5241"/>
          <a:stretch>
            <a:fillRect/>
          </a:stretch>
        </p:blipFill>
        <p:spPr>
          <a:xfrm>
            <a:off x="508000" y="1787703"/>
            <a:ext cx="4572000" cy="1981200"/>
          </a:xfrm>
          <a:prstGeom prst="roundRect">
            <a:avLst>
              <a:gd name="adj" fmla="val 51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8000" y="3794303"/>
            <a:ext cx="457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产业统计看板（联调期间界面）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9595" b="9594"/>
          <a:stretch>
            <a:fillRect/>
          </a:stretch>
        </p:blipFill>
        <p:spPr>
          <a:xfrm>
            <a:off x="508000" y="4022903"/>
            <a:ext cx="4572000" cy="1905000"/>
          </a:xfrm>
          <a:prstGeom prst="roundRect">
            <a:avLst>
              <a:gd name="adj" fmla="val 533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508000" y="5953303"/>
            <a:ext cx="457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AI判重（置信度98%为示例结果）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17877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791200" y="19401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5791200" y="19401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一库统管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5200" y="1940103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 txBox="1"/>
          <p:nvPr/>
        </p:nvSpPr>
        <p:spPr>
          <a:xfrm>
            <a:off x="5791200" y="22703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区级平台全量项目底座，与市级系统"报送+管理"互补；打通谋划、在谈、签约、落地、退库全流程线上闭环。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28545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91200" y="30069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5791200" y="30069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全程留痕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5200" y="3006903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 txBox="1"/>
          <p:nvPr/>
        </p:nvSpPr>
        <p:spPr>
          <a:xfrm>
            <a:off x="5791200" y="33371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进度一屏可见、节点超期自动预警、责任移交线上留痕；覆盖园区、国企、部门三类考核对象。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39213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791200" y="4073703"/>
            <a:ext cx="1117600" cy="279400"/>
          </a:xfrm>
          <a:prstGeom prst="roundRect">
            <a:avLst>
              <a:gd name="adj" fmla="val 363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5791200" y="40737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25200" y="4073703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 txBox="1"/>
          <p:nvPr/>
        </p:nvSpPr>
        <p:spPr>
          <a:xfrm>
            <a:off x="5791200" y="44039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四个AI智能体：自动判重、月度摘要、统计报告、考核总结；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数据只录一次、汇报自动成文、考核线上闭环。</a:t>
            </a:r>
            <a:endParaRPr lang="en-US" sz="11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588000" y="4988103"/>
            <a:ext cx="6096000" cy="1041400"/>
          </a:xfrm>
          <a:prstGeom prst="roundRect">
            <a:avLst>
              <a:gd name="adj" fmla="val 12194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791200" y="51405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5791200" y="51405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效率跃升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25200" y="5140503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 txBox="1"/>
          <p:nvPr/>
        </p:nvSpPr>
        <p:spPr>
          <a:xfrm>
            <a:off x="5791200" y="54707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临时取数隔天到当场；比对一家公司1天到AI 2分钟加人工裁决10分钟；考核月均7至8人天到分钟级。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88900" y="1238606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让每一个项目，都全周期赋能与前瞻研判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3906">
            <a:off x="507996" y="1654213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WPS 表格</Application>
  <PresentationFormat>宽屏</PresentationFormat>
  <Paragraphs>50</Paragraphs>
  <Slides>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苹方-简</vt:lpstr>
      <vt:lpstr>Songti SC</vt:lpstr>
      <vt:lpstr>微软雅黑</vt:lpstr>
      <vt:lpstr>汉仪旗黑</vt:lpstr>
      <vt:lpstr>宋体</vt:lpstr>
      <vt:lpstr>Arial Unicode MS</vt:lpstr>
      <vt:lpstr>汉仪书宋二KW</vt:lpstr>
      <vt:lpstr>Noto Sans SC</vt:lpstr>
      <vt:lpstr>Office 主题​​</vt:lpstr>
      <vt:lpstr>自定义主题</vt:lpstr>
      <vt:lpstr>Office 主题​​</vt:lpstr>
      <vt:lpstr>Office 主题​​</vt:lpstr>
      <vt:lpstr>1_自定义主题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kangsuzhen</cp:lastModifiedBy>
  <cp:revision>3</cp:revision>
  <dcterms:created xsi:type="dcterms:W3CDTF">2026-10-27T01:26:59Z</dcterms:created>
  <dcterms:modified xsi:type="dcterms:W3CDTF">2026-10-27T01:26:59Z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{"Label":"1","ContentProducer":"001191110102MACQD9K64010000","ProduceID":"7700977445516709132","ReservedCode1":"","ContentPropagator":"","PropagateID":"","ReservedCode2":""}</vt:lpwstr>
  </property>
  <property fmtid="{D5CDD505-2E9C-101B-9397-08002B2CF9AE}" pid="3" name="ICV">
    <vt:lpwstr>A38FA8B68C1182BEE3FDDF6A7A460181_43</vt:lpwstr>
  </property>
  <property fmtid="{D5CDD505-2E9C-101B-9397-08002B2CF9AE}" pid="4" name="KSOProductBuildVer">
    <vt:lpwstr>2052-12.1.26026.26026</vt:lpwstr>
  </property>
</Properties>
</file>